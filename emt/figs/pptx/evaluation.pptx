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72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9" autoAdjust="0"/>
    <p:restoredTop sz="94660"/>
  </p:normalViewPr>
  <p:slideViewPr>
    <p:cSldViewPr showGuides="1">
      <p:cViewPr>
        <p:scale>
          <a:sx n="228" d="100"/>
          <a:sy n="228" d="100"/>
        </p:scale>
        <p:origin x="-2144" y="-1080"/>
      </p:cViewPr>
      <p:guideLst>
        <p:guide orient="horz" pos="1933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18E1-07C0-CDB4-27E3-EB934698A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F6261-924A-17AC-61FA-EFB2FB0F2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425EE-0E88-0C4B-3050-B181D097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2F7D-7167-DB78-6AA9-938F6D50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771ED-436C-AF78-C4E5-7A35EB39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6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7A79-2346-C7E0-AC59-F550E3FF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8CEEA-F7E2-33E2-C4D7-26C15D79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A5D2F-F84E-9097-0F14-C215AF84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D8B7A-773D-8808-2235-C280F605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C37A2-A53F-C98A-AFB6-B03BFA12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7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0F6A-BA4B-BC4B-5C55-EA081185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84F36-E213-CCB9-F902-38C66667E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5CE6A-35E4-AD5E-D4D9-340CB3AA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16780-7EB8-1AC5-1258-1E328D22C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F541A-6C9F-21FC-7F9F-2148401F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74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55EA3-3E17-8381-BC63-4DE2564A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F03B-CD3D-1699-BB5C-BC721D55D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EFFB8-3A61-1D45-1BED-8659AED9F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2272E-D0E3-3E04-D026-5BF895B62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8BD3C-F74D-DE0E-927E-DED74A1F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E7F76-D0AF-7DDC-5488-1E17574E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4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65B5-7216-418B-3F87-128698E1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CC7B7-A2AC-EA3F-B1DB-A589E5E59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C907F-8CE8-A63C-C79B-4CAE20C8C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5C1AA-DF29-BBCE-E244-91FF2E5553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06D14C-C69D-538F-F0E9-1E0DDC645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6BB44-3A9A-83CF-0F8B-6D3EEC24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2385A-C95A-C099-B868-5EF50D53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D1C8A-A8AA-E77D-470A-4CCC2273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4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B6510-A827-D78C-FEB5-A3AA8CE9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8645B-8295-0AF5-9A83-D76437B9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9F280-7BD1-15C5-A379-618E53D6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C8087-EF9B-A1D6-3E80-3A7FC6B8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FA59E-6E0D-60CA-9E69-A022D38E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53467-1BC3-1061-EEB3-6DA24458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D933D-E19E-642C-7101-759BA1EF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8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31A6A-5FD1-BA34-4D1E-F0DB49848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9AB17-99B6-FBE1-8FE5-BBB0C37F5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B93A0-F101-0EC4-F2C3-33C43DCB0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61DD4-126B-40E3-ADA9-AB31A724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5A1A9-7E2A-AFC6-17B4-9244D0DF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EE352-002F-1566-B8BF-1B61E862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9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9EB3-7673-CFF0-3218-25010F90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0DB44C-80C3-67DC-8F9A-597C73F9E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4F1CA-6A4D-0F26-55B7-2E80FFCF0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7076A-ACBD-7E7F-581E-A2830B9D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09BC3-D80D-B453-C8A4-75C284AF4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B192F-5CD0-AE92-B9C8-1AC19535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D2BA-4384-6753-1666-24D104B6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C01CB-FD76-FF44-BC57-3C5AF7235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D922-78D7-8478-AFCC-466E2A34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01F98-CCC5-E6BF-5090-1086521D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C17D3-102B-2F0D-0FE5-E9BC6677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37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07B1F-1AFD-7761-83AA-965B83185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037A2-EF36-6182-AAD4-23DF126A4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D49AE-A6D7-2030-D499-DCB896799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4500-0A4D-4915-2475-E9FD1F6E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4CE2-F9C3-072B-736B-7E84CA2B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7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03AEB-B6FE-8D2A-358B-E2FCFE92F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A834F-A48B-FB8F-E969-EFA8B7C2A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7B75F-5C95-22ED-72D7-9B396016B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A48FF-7479-4FAB-BEA4-7534FDC4E400}" type="datetimeFigureOut">
              <a:rPr lang="en-US" smtClean="0"/>
              <a:t>12/8/24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6B55C-8982-783C-95F6-E220DDA98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D1872-B954-8038-A321-58EEB3327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2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72195-4B31-B6EB-F083-3CF75A08C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0E9026-03B0-61E6-EE40-9C686920E4B6}"/>
              </a:ext>
            </a:extLst>
          </p:cNvPr>
          <p:cNvSpPr txBox="1"/>
          <p:nvPr/>
        </p:nvSpPr>
        <p:spPr>
          <a:xfrm>
            <a:off x="1063487" y="427383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Modified: 2024-</a:t>
            </a:r>
            <a:r>
              <a:rPr lang="en-US" dirty="0"/>
              <a:t>12</a:t>
            </a:r>
            <a:r>
              <a:rPr lang="en-KR" dirty="0"/>
              <a:t>-</a:t>
            </a:r>
            <a:r>
              <a:rPr lang="en-US" dirty="0"/>
              <a:t>8</a:t>
            </a:r>
            <a:endParaRPr lang="en-KR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59729D1-00E3-414E-0656-1291EA6E2816}"/>
              </a:ext>
            </a:extLst>
          </p:cNvPr>
          <p:cNvGrpSpPr/>
          <p:nvPr/>
        </p:nvGrpSpPr>
        <p:grpSpPr>
          <a:xfrm>
            <a:off x="2999656" y="1991065"/>
            <a:ext cx="5316761" cy="1172655"/>
            <a:chOff x="2999656" y="1982692"/>
            <a:chExt cx="4148792" cy="91505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10BF739-9464-ED47-3C79-459DF97244CA}"/>
                </a:ext>
              </a:extLst>
            </p:cNvPr>
            <p:cNvGrpSpPr/>
            <p:nvPr/>
          </p:nvGrpSpPr>
          <p:grpSpPr>
            <a:xfrm>
              <a:off x="2999656" y="1982692"/>
              <a:ext cx="1716840" cy="903488"/>
              <a:chOff x="2999656" y="1982692"/>
              <a:chExt cx="1716840" cy="90348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D21D776-BDC0-93D5-E207-CC9977DC9F09}"/>
                  </a:ext>
                </a:extLst>
              </p:cNvPr>
              <p:cNvSpPr/>
              <p:nvPr/>
            </p:nvSpPr>
            <p:spPr>
              <a:xfrm>
                <a:off x="2999656" y="2374283"/>
                <a:ext cx="1716840" cy="511897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CN" sz="1000" dirty="0">
                    <a:latin typeface="Times" pitchFamily="2" charset="0"/>
                  </a:rPr>
                  <a:t>  </a:t>
                </a:r>
                <a:r>
                  <a:rPr lang="zh-CN" altLang="en-US" sz="1000" dirty="0">
                    <a:latin typeface="Times" pitchFamily="2" charset="0"/>
                  </a:rPr>
                  <a:t> </a:t>
                </a:r>
                <a:r>
                  <a:rPr lang="en-US" altLang="zh-CN" sz="1200" dirty="0">
                    <a:latin typeface="Times" pitchFamily="2" charset="0"/>
                  </a:rPr>
                  <a:t>QEMU</a:t>
                </a:r>
                <a:endParaRPr lang="en-US" sz="1200" dirty="0">
                  <a:latin typeface="Times" pitchFamily="2" charset="0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7119DE0-4AEA-228A-3FD1-E94CC50C0393}"/>
                  </a:ext>
                </a:extLst>
              </p:cNvPr>
              <p:cNvSpPr/>
              <p:nvPr/>
            </p:nvSpPr>
            <p:spPr>
              <a:xfrm>
                <a:off x="3579919" y="2423735"/>
                <a:ext cx="1018498" cy="41299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100" dirty="0">
                    <a:latin typeface="Times" pitchFamily="2" charset="0"/>
                  </a:rPr>
                  <a:t>•</a:t>
                </a:r>
                <a:r>
                  <a:rPr lang="zh-CN" altLang="en-US" sz="1100" dirty="0">
                    <a:latin typeface="Times" pitchFamily="2" charset="0"/>
                  </a:rPr>
                  <a:t> </a:t>
                </a:r>
                <a:r>
                  <a:rPr lang="en-US" altLang="zh-CN" sz="1100" dirty="0">
                    <a:latin typeface="Times" pitchFamily="2" charset="0"/>
                  </a:rPr>
                  <a:t>x86-64</a:t>
                </a:r>
                <a:r>
                  <a:rPr lang="zh-CN" altLang="en-US" sz="1100" dirty="0">
                    <a:latin typeface="Times" pitchFamily="2" charset="0"/>
                  </a:rPr>
                  <a:t> </a:t>
                </a:r>
                <a:r>
                  <a:rPr lang="en-US" altLang="zh-CN" sz="1100" dirty="0">
                    <a:latin typeface="Times" pitchFamily="2" charset="0"/>
                  </a:rPr>
                  <a:t>MMU</a:t>
                </a:r>
                <a:r>
                  <a:rPr lang="zh-CN" altLang="en-US" sz="1100" dirty="0">
                    <a:latin typeface="Times" pitchFamily="2" charset="0"/>
                  </a:rPr>
                  <a:t> </a:t>
                </a:r>
                <a:endParaRPr lang="en-US" altLang="zh-CN" sz="1100" dirty="0">
                  <a:latin typeface="Times" pitchFamily="2" charset="0"/>
                </a:endParaRPr>
              </a:p>
              <a:p>
                <a:r>
                  <a:rPr lang="zh-CN" altLang="en-US" sz="1100" dirty="0">
                    <a:latin typeface="Times" pitchFamily="2" charset="0"/>
                  </a:rPr>
                  <a:t>      </a:t>
                </a:r>
                <a:r>
                  <a:rPr lang="en-US" altLang="zh-CN" sz="1100" dirty="0">
                    <a:latin typeface="Times" pitchFamily="2" charset="0"/>
                  </a:rPr>
                  <a:t>•</a:t>
                </a:r>
                <a:r>
                  <a:rPr lang="zh-CN" altLang="en-US" sz="1100" dirty="0">
                    <a:latin typeface="Times" pitchFamily="2" charset="0"/>
                  </a:rPr>
                  <a:t> </a:t>
                </a:r>
                <a:r>
                  <a:rPr lang="en-US" altLang="zh-CN" sz="1100" dirty="0">
                    <a:latin typeface="Times" pitchFamily="2" charset="0"/>
                  </a:rPr>
                  <a:t>ECPT</a:t>
                </a:r>
                <a:r>
                  <a:rPr lang="zh-CN" altLang="en-US" sz="1100" dirty="0">
                    <a:latin typeface="Times" pitchFamily="2" charset="0"/>
                  </a:rPr>
                  <a:t> </a:t>
                </a:r>
                <a:r>
                  <a:rPr lang="en-US" altLang="zh-CN" sz="1100" dirty="0">
                    <a:latin typeface="Times" pitchFamily="2" charset="0"/>
                  </a:rPr>
                  <a:t>MMU</a:t>
                </a:r>
              </a:p>
              <a:p>
                <a:r>
                  <a:rPr lang="en-US" altLang="zh-CN" sz="1100" dirty="0">
                    <a:latin typeface="Times" pitchFamily="2" charset="0"/>
                  </a:rPr>
                  <a:t>   </a:t>
                </a:r>
                <a:r>
                  <a:rPr lang="zh-CN" altLang="en-US" sz="1100" dirty="0">
                    <a:latin typeface="Times" pitchFamily="2" charset="0"/>
                  </a:rPr>
                  <a:t>   </a:t>
                </a:r>
                <a:r>
                  <a:rPr lang="en-US" altLang="zh-CN" sz="1100" dirty="0">
                    <a:latin typeface="Times" pitchFamily="2" charset="0"/>
                  </a:rPr>
                  <a:t>•</a:t>
                </a:r>
                <a:r>
                  <a:rPr lang="zh-CN" altLang="en-US" sz="1100" dirty="0">
                    <a:latin typeface="Times" pitchFamily="2" charset="0"/>
                  </a:rPr>
                  <a:t> </a:t>
                </a:r>
                <a:r>
                  <a:rPr lang="en-US" altLang="zh-CN" sz="1100" dirty="0">
                    <a:latin typeface="Times" pitchFamily="2" charset="0"/>
                  </a:rPr>
                  <a:t>FPT</a:t>
                </a:r>
                <a:r>
                  <a:rPr lang="zh-CN" altLang="en-US" sz="1100" dirty="0">
                    <a:latin typeface="Times" pitchFamily="2" charset="0"/>
                  </a:rPr>
                  <a:t> </a:t>
                </a:r>
                <a:r>
                  <a:rPr lang="en-US" altLang="zh-CN" sz="1100" dirty="0">
                    <a:latin typeface="Times" pitchFamily="2" charset="0"/>
                  </a:rPr>
                  <a:t>MMU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485C75A-3E4F-62E5-F614-B1B1367FB09B}"/>
                  </a:ext>
                </a:extLst>
              </p:cNvPr>
              <p:cNvSpPr/>
              <p:nvPr/>
            </p:nvSpPr>
            <p:spPr>
              <a:xfrm>
                <a:off x="2999656" y="1982692"/>
                <a:ext cx="1716840" cy="388717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zh-CN" sz="1200" dirty="0">
                    <a:latin typeface="Times" pitchFamily="2" charset="0"/>
                  </a:rPr>
                  <a:t>EMT-Linux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661408E-FD10-AC09-D4F3-895F3F482200}"/>
                  </a:ext>
                </a:extLst>
              </p:cNvPr>
              <p:cNvSpPr/>
              <p:nvPr/>
            </p:nvSpPr>
            <p:spPr>
              <a:xfrm>
                <a:off x="3084881" y="2138392"/>
                <a:ext cx="1546389" cy="18648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100" dirty="0">
                    <a:latin typeface="Times" pitchFamily="2" charset="0"/>
                  </a:rPr>
                  <a:t>x86-64/ECPT/FPT MMU</a:t>
                </a:r>
                <a:r>
                  <a:rPr lang="zh-CN" altLang="en-US" sz="1100" dirty="0">
                    <a:latin typeface="Times" pitchFamily="2" charset="0"/>
                  </a:rPr>
                  <a:t> </a:t>
                </a:r>
                <a:r>
                  <a:rPr lang="en-US" altLang="zh-CN" sz="1100" dirty="0">
                    <a:latin typeface="Times" pitchFamily="2" charset="0"/>
                  </a:rPr>
                  <a:t>drivers </a:t>
                </a:r>
                <a:endParaRPr lang="en-US" sz="1100" dirty="0">
                  <a:latin typeface="Times" pitchFamily="2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0056A27-FDE5-24A0-8BDB-5E6E1565D478}"/>
                </a:ext>
              </a:extLst>
            </p:cNvPr>
            <p:cNvGrpSpPr/>
            <p:nvPr/>
          </p:nvGrpSpPr>
          <p:grpSpPr>
            <a:xfrm>
              <a:off x="4716496" y="1991711"/>
              <a:ext cx="2431952" cy="906031"/>
              <a:chOff x="4716496" y="1991711"/>
              <a:chExt cx="2431952" cy="90603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B8870D2-7C51-EE55-40E5-85A1F0F2819E}"/>
                  </a:ext>
                </a:extLst>
              </p:cNvPr>
              <p:cNvSpPr/>
              <p:nvPr/>
            </p:nvSpPr>
            <p:spPr>
              <a:xfrm>
                <a:off x="5673508" y="1991711"/>
                <a:ext cx="616342" cy="40783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200" dirty="0">
                    <a:latin typeface="Times" pitchFamily="2" charset="0"/>
                  </a:rPr>
                  <a:t>Instruction analyzer</a:t>
                </a:r>
                <a:endParaRPr lang="en-US" sz="1200" dirty="0">
                  <a:latin typeface="Times" pitchFamily="2" charset="0"/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84FFA740-61FA-4766-5DCB-84B7C0FCF4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6496" y="2438945"/>
                <a:ext cx="782341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FB219842-C07A-42EF-2C8C-E6E918042ED1}"/>
                  </a:ext>
                </a:extLst>
              </p:cNvPr>
              <p:cNvCxnSpPr>
                <a:cxnSpLocks/>
                <a:stCxn id="9" idx="3"/>
                <a:endCxn id="27" idx="1"/>
              </p:cNvCxnSpPr>
              <p:nvPr/>
            </p:nvCxnSpPr>
            <p:spPr>
              <a:xfrm>
                <a:off x="6289850" y="2195631"/>
                <a:ext cx="153142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637F2F-8843-1270-7187-2571D492F13D}"/>
                  </a:ext>
                </a:extLst>
              </p:cNvPr>
              <p:cNvSpPr txBox="1"/>
              <p:nvPr/>
            </p:nvSpPr>
            <p:spPr>
              <a:xfrm>
                <a:off x="6442993" y="2051531"/>
                <a:ext cx="610475" cy="2881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200" dirty="0">
                    <a:latin typeface="Times" pitchFamily="2" charset="0"/>
                  </a:rPr>
                  <a:t>OS kernel</a:t>
                </a:r>
              </a:p>
              <a:p>
                <a:pPr algn="ctr"/>
                <a:r>
                  <a:rPr lang="en-US" sz="1200" dirty="0">
                    <a:latin typeface="Times" pitchFamily="2" charset="0"/>
                  </a:rPr>
                  <a:t>overhead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B2C7A2A-86C8-BC01-36EA-49D29B2D2B8A}"/>
                  </a:ext>
                </a:extLst>
              </p:cNvPr>
              <p:cNvSpPr/>
              <p:nvPr/>
            </p:nvSpPr>
            <p:spPr>
              <a:xfrm>
                <a:off x="5673508" y="2478343"/>
                <a:ext cx="621347" cy="40783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latin typeface="Times" pitchFamily="2" charset="0"/>
                  </a:rPr>
                  <a:t>Memory simulator</a:t>
                </a:r>
              </a:p>
            </p:txBody>
          </p:sp>
          <p:sp>
            <p:nvSpPr>
              <p:cNvPr id="34" name="Left Brace 33">
                <a:extLst>
                  <a:ext uri="{FF2B5EF4-FFF2-40B4-BE49-F238E27FC236}">
                    <a16:creationId xmlns:a16="http://schemas.microsoft.com/office/drawing/2014/main" id="{3CEA8F6B-A65C-B057-7394-8E6455627FA4}"/>
                  </a:ext>
                </a:extLst>
              </p:cNvPr>
              <p:cNvSpPr/>
              <p:nvPr/>
            </p:nvSpPr>
            <p:spPr>
              <a:xfrm>
                <a:off x="5502767" y="1991711"/>
                <a:ext cx="142056" cy="894470"/>
              </a:xfrm>
              <a:prstGeom prst="leftBrace">
                <a:avLst>
                  <a:gd name="adj1" fmla="val 37069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13E4E7E5-5E1A-E584-DCBF-B69970CDE4A8}"/>
                  </a:ext>
                </a:extLst>
              </p:cNvPr>
              <p:cNvCxnSpPr>
                <a:cxnSpLocks/>
                <a:stCxn id="29" idx="3"/>
                <a:endCxn id="38" idx="1"/>
              </p:cNvCxnSpPr>
              <p:nvPr/>
            </p:nvCxnSpPr>
            <p:spPr>
              <a:xfrm flipV="1">
                <a:off x="6294855" y="2681594"/>
                <a:ext cx="136240" cy="66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65E23E5-83D7-2B2B-0760-0D0C5C534C6A}"/>
                  </a:ext>
                </a:extLst>
              </p:cNvPr>
              <p:cNvSpPr txBox="1"/>
              <p:nvPr/>
            </p:nvSpPr>
            <p:spPr>
              <a:xfrm>
                <a:off x="6431095" y="2465445"/>
                <a:ext cx="717353" cy="4322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200" dirty="0">
                    <a:latin typeface="Times" pitchFamily="2" charset="0"/>
                  </a:rPr>
                  <a:t>Instructions per cycle (IPC)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1F77EB1-1E0F-9BBE-D99C-D27EA84464E7}"/>
                </a:ext>
              </a:extLst>
            </p:cNvPr>
            <p:cNvGrpSpPr/>
            <p:nvPr/>
          </p:nvGrpSpPr>
          <p:grpSpPr>
            <a:xfrm>
              <a:off x="4799856" y="2148405"/>
              <a:ext cx="677582" cy="560497"/>
              <a:chOff x="4799856" y="2148405"/>
              <a:chExt cx="677582" cy="560497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E38EFB-645C-DF14-A664-0DFBB1DC3E1B}"/>
                  </a:ext>
                </a:extLst>
              </p:cNvPr>
              <p:cNvSpPr txBox="1"/>
              <p:nvPr/>
            </p:nvSpPr>
            <p:spPr>
              <a:xfrm>
                <a:off x="4799856" y="2148405"/>
                <a:ext cx="677582" cy="2305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80000"/>
                  </a:lnSpc>
                  <a:defRPr sz="1100">
                    <a:latin typeface="Times" pitchFamily="2" charset="0"/>
                  </a:defRPr>
                </a:lvl1pPr>
              </a:lstStyle>
              <a:p>
                <a:r>
                  <a:rPr lang="en-US" sz="1200" dirty="0"/>
                  <a:t>Instruction</a:t>
                </a:r>
              </a:p>
              <a:p>
                <a:r>
                  <a:rPr lang="en-US" altLang="zh-CN" sz="1200" dirty="0"/>
                  <a:t>trace</a:t>
                </a:r>
                <a:endParaRPr lang="en-US" sz="12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2EACC4-897F-8DC8-D583-D6F1347105FC}"/>
                  </a:ext>
                </a:extLst>
              </p:cNvPr>
              <p:cNvSpPr txBox="1"/>
              <p:nvPr/>
            </p:nvSpPr>
            <p:spPr>
              <a:xfrm>
                <a:off x="4858655" y="2478343"/>
                <a:ext cx="559985" cy="2305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dirty="0">
                    <a:latin typeface="Times" pitchFamily="2" charset="0"/>
                  </a:rPr>
                  <a:t>M</a:t>
                </a:r>
                <a:r>
                  <a:rPr lang="en-US" sz="1200" dirty="0">
                    <a:latin typeface="Times" pitchFamily="2" charset="0"/>
                  </a:rPr>
                  <a:t>emory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200" dirty="0">
                    <a:latin typeface="Times" pitchFamily="2" charset="0"/>
                  </a:rPr>
                  <a:t>trace</a:t>
                </a:r>
                <a:endParaRPr lang="en-US" sz="1200" dirty="0">
                  <a:latin typeface="Times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871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68BBAC-D11B-E0AA-FED8-5B35BE4A0AB6}"/>
              </a:ext>
            </a:extLst>
          </p:cNvPr>
          <p:cNvSpPr txBox="1"/>
          <p:nvPr/>
        </p:nvSpPr>
        <p:spPr>
          <a:xfrm>
            <a:off x="1063487" y="427383"/>
            <a:ext cx="223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Modified: 2024-04-19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29B1B36-7CAB-F07F-F68D-143872D9B69A}"/>
              </a:ext>
            </a:extLst>
          </p:cNvPr>
          <p:cNvGrpSpPr/>
          <p:nvPr/>
        </p:nvGrpSpPr>
        <p:grpSpPr>
          <a:xfrm>
            <a:off x="2999656" y="1952948"/>
            <a:ext cx="4228576" cy="983229"/>
            <a:chOff x="2999656" y="1952948"/>
            <a:chExt cx="4228576" cy="98322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4BE9220-D540-A68C-EF37-8FEAC31B9F53}"/>
                </a:ext>
              </a:extLst>
            </p:cNvPr>
            <p:cNvGrpSpPr/>
            <p:nvPr/>
          </p:nvGrpSpPr>
          <p:grpSpPr>
            <a:xfrm>
              <a:off x="2999656" y="1952948"/>
              <a:ext cx="1716840" cy="971996"/>
              <a:chOff x="2999656" y="1952948"/>
              <a:chExt cx="1716840" cy="971996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5681C79-0060-752C-78FF-B6EF8324ABA0}"/>
                  </a:ext>
                </a:extLst>
              </p:cNvPr>
              <p:cNvSpPr/>
              <p:nvPr/>
            </p:nvSpPr>
            <p:spPr>
              <a:xfrm>
                <a:off x="2999656" y="2339521"/>
                <a:ext cx="1716840" cy="585423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r>
                  <a:rPr lang="en-US" altLang="zh-CN" sz="1000" dirty="0">
                    <a:latin typeface="Times" pitchFamily="2" charset="0"/>
                  </a:rPr>
                  <a:t>  </a:t>
                </a:r>
                <a:r>
                  <a:rPr lang="en-US" altLang="zh-CN" sz="1200" dirty="0">
                    <a:latin typeface="Times" pitchFamily="2" charset="0"/>
                  </a:rPr>
                  <a:t>QEMU</a:t>
                </a:r>
                <a:endParaRPr lang="en-US" sz="1200" dirty="0">
                  <a:latin typeface="Times" pitchFamily="2" charset="0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24C4EB8-67DA-FA27-EE17-78C4CBCDB057}"/>
                  </a:ext>
                </a:extLst>
              </p:cNvPr>
              <p:cNvSpPr/>
              <p:nvPr/>
            </p:nvSpPr>
            <p:spPr>
              <a:xfrm>
                <a:off x="3575701" y="2393471"/>
                <a:ext cx="1023027" cy="47752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100" dirty="0">
                    <a:latin typeface="Times" pitchFamily="2" charset="0"/>
                  </a:rPr>
                  <a:t>Software</a:t>
                </a:r>
                <a:r>
                  <a:rPr lang="zh-CN" altLang="en-US" sz="1100" dirty="0">
                    <a:latin typeface="Times" pitchFamily="2" charset="0"/>
                  </a:rPr>
                  <a:t> </a:t>
                </a:r>
                <a:r>
                  <a:rPr lang="en-US" altLang="zh-CN" sz="1100" dirty="0">
                    <a:latin typeface="Times" pitchFamily="2" charset="0"/>
                  </a:rPr>
                  <a:t>MMU</a:t>
                </a:r>
              </a:p>
              <a:p>
                <a:r>
                  <a:rPr lang="zh-CN" altLang="en-US" sz="1000" dirty="0">
                    <a:latin typeface="Times" pitchFamily="2" charset="0"/>
                  </a:rPr>
                  <a:t>   </a:t>
                </a:r>
                <a:r>
                  <a:rPr lang="en-US" altLang="zh-CN" sz="1000" dirty="0">
                    <a:latin typeface="Times" pitchFamily="2" charset="0"/>
                  </a:rPr>
                  <a:t>•</a:t>
                </a:r>
                <a:r>
                  <a:rPr lang="zh-CN" altLang="en-US" sz="1000" dirty="0">
                    <a:latin typeface="Times" pitchFamily="2" charset="0"/>
                  </a:rPr>
                  <a:t> </a:t>
                </a:r>
                <a:r>
                  <a:rPr lang="en-US" altLang="zh-CN" sz="1000" dirty="0">
                    <a:latin typeface="Times" pitchFamily="2" charset="0"/>
                  </a:rPr>
                  <a:t>x86-64</a:t>
                </a:r>
                <a:r>
                  <a:rPr lang="zh-CN" altLang="en-US" sz="1000" dirty="0">
                    <a:latin typeface="Times" pitchFamily="2" charset="0"/>
                  </a:rPr>
                  <a:t> </a:t>
                </a:r>
                <a:r>
                  <a:rPr lang="en-US" altLang="zh-CN" sz="1000" dirty="0">
                    <a:latin typeface="Times" pitchFamily="2" charset="0"/>
                  </a:rPr>
                  <a:t>MMU</a:t>
                </a:r>
                <a:r>
                  <a:rPr lang="zh-CN" altLang="en-US" sz="1000" dirty="0">
                    <a:latin typeface="Times" pitchFamily="2" charset="0"/>
                  </a:rPr>
                  <a:t> </a:t>
                </a:r>
                <a:endParaRPr lang="en-US" altLang="zh-CN" sz="1000" dirty="0">
                  <a:latin typeface="Times" pitchFamily="2" charset="0"/>
                </a:endParaRPr>
              </a:p>
              <a:p>
                <a:r>
                  <a:rPr lang="zh-CN" altLang="en-US" sz="1000" dirty="0">
                    <a:latin typeface="Times" pitchFamily="2" charset="0"/>
                  </a:rPr>
                  <a:t>   </a:t>
                </a:r>
                <a:r>
                  <a:rPr lang="en-US" altLang="zh-CN" sz="1000" dirty="0">
                    <a:latin typeface="Times" pitchFamily="2" charset="0"/>
                  </a:rPr>
                  <a:t>•</a:t>
                </a:r>
                <a:r>
                  <a:rPr lang="zh-CN" altLang="en-US" sz="1000" dirty="0">
                    <a:latin typeface="Times" pitchFamily="2" charset="0"/>
                  </a:rPr>
                  <a:t> </a:t>
                </a:r>
                <a:r>
                  <a:rPr lang="en-US" altLang="zh-CN" sz="1000" dirty="0">
                    <a:latin typeface="Times" pitchFamily="2" charset="0"/>
                  </a:rPr>
                  <a:t>ECPT</a:t>
                </a:r>
                <a:r>
                  <a:rPr lang="zh-CN" altLang="en-US" sz="1000" dirty="0">
                    <a:latin typeface="Times" pitchFamily="2" charset="0"/>
                  </a:rPr>
                  <a:t> </a:t>
                </a:r>
                <a:r>
                  <a:rPr lang="en-US" altLang="zh-CN" sz="1000" dirty="0">
                    <a:latin typeface="Times" pitchFamily="2" charset="0"/>
                  </a:rPr>
                  <a:t>MMU</a:t>
                </a:r>
                <a:endParaRPr lang="en-US" sz="1000" dirty="0">
                  <a:latin typeface="Times" pitchFamily="2" charset="0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330B672-F953-95C5-1D92-39338EF8E460}"/>
                  </a:ext>
                </a:extLst>
              </p:cNvPr>
              <p:cNvSpPr/>
              <p:nvPr/>
            </p:nvSpPr>
            <p:spPr>
              <a:xfrm>
                <a:off x="2999656" y="1952948"/>
                <a:ext cx="1716840" cy="386573"/>
              </a:xfrm>
              <a:prstGeom prst="rect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t"/>
              <a:lstStyle/>
              <a:p>
                <a:pPr algn="ctr"/>
                <a:r>
                  <a:rPr lang="en-US" altLang="zh-CN" sz="1200" dirty="0">
                    <a:latin typeface="Times" pitchFamily="2" charset="0"/>
                  </a:rPr>
                  <a:t>EMT-Linux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9D1819E-4E91-A67E-D01C-6FAEB12540F4}"/>
                  </a:ext>
                </a:extLst>
              </p:cNvPr>
              <p:cNvSpPr/>
              <p:nvPr/>
            </p:nvSpPr>
            <p:spPr>
              <a:xfrm>
                <a:off x="3075622" y="2146234"/>
                <a:ext cx="1564909" cy="1573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000" dirty="0">
                    <a:latin typeface="Times" pitchFamily="2" charset="0"/>
                  </a:rPr>
                  <a:t>x86-64 / ECPT</a:t>
                </a:r>
                <a:r>
                  <a:rPr lang="zh-CN" altLang="en-US" sz="1000" dirty="0">
                    <a:latin typeface="Times" pitchFamily="2" charset="0"/>
                  </a:rPr>
                  <a:t> </a:t>
                </a:r>
                <a:r>
                  <a:rPr lang="en-US" altLang="zh-CN" sz="1000" dirty="0">
                    <a:latin typeface="Times" pitchFamily="2" charset="0"/>
                  </a:rPr>
                  <a:t>MMU</a:t>
                </a:r>
                <a:r>
                  <a:rPr lang="zh-CN" altLang="en-US" sz="1000" dirty="0">
                    <a:latin typeface="Times" pitchFamily="2" charset="0"/>
                  </a:rPr>
                  <a:t> </a:t>
                </a:r>
                <a:r>
                  <a:rPr lang="en-US" altLang="zh-CN" sz="1000" dirty="0">
                    <a:latin typeface="Times" pitchFamily="2" charset="0"/>
                  </a:rPr>
                  <a:t>drivers</a:t>
                </a:r>
                <a:endParaRPr lang="en-US" sz="1000" dirty="0">
                  <a:latin typeface="Times" pitchFamily="2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1BB7B1C-6BBD-7892-7B1A-D5D7E2B1FDC1}"/>
                </a:ext>
              </a:extLst>
            </p:cNvPr>
            <p:cNvGrpSpPr/>
            <p:nvPr/>
          </p:nvGrpSpPr>
          <p:grpSpPr>
            <a:xfrm>
              <a:off x="4678326" y="1991711"/>
              <a:ext cx="2549906" cy="944466"/>
              <a:chOff x="4678326" y="1991711"/>
              <a:chExt cx="2549906" cy="944466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612AC27-7ABF-B291-9F9C-552F2D3B5240}"/>
                  </a:ext>
                </a:extLst>
              </p:cNvPr>
              <p:cNvSpPr/>
              <p:nvPr/>
            </p:nvSpPr>
            <p:spPr>
              <a:xfrm>
                <a:off x="5673508" y="1991711"/>
                <a:ext cx="616342" cy="40783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000" dirty="0">
                    <a:latin typeface="Times" pitchFamily="2" charset="0"/>
                  </a:rPr>
                  <a:t>Instruction analyzer</a:t>
                </a:r>
                <a:endParaRPr lang="en-US" sz="1000" dirty="0">
                  <a:latin typeface="Times" pitchFamily="2" charset="0"/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72418F7-B5EF-5A6D-A0C0-20D72D89D9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8326" y="2438946"/>
                <a:ext cx="820511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60FBBD70-820C-172A-291B-49020FCEDEB6}"/>
                  </a:ext>
                </a:extLst>
              </p:cNvPr>
              <p:cNvCxnSpPr>
                <a:cxnSpLocks/>
                <a:stCxn id="9" idx="3"/>
                <a:endCxn id="27" idx="1"/>
              </p:cNvCxnSpPr>
              <p:nvPr/>
            </p:nvCxnSpPr>
            <p:spPr>
              <a:xfrm flipV="1">
                <a:off x="6289850" y="2193096"/>
                <a:ext cx="221029" cy="253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8857E3-00E8-7B2F-48BB-18B6C0C65635}"/>
                  </a:ext>
                </a:extLst>
              </p:cNvPr>
              <p:cNvSpPr txBox="1"/>
              <p:nvPr/>
            </p:nvSpPr>
            <p:spPr>
              <a:xfrm>
                <a:off x="6510879" y="2023819"/>
                <a:ext cx="610475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" pitchFamily="2" charset="0"/>
                  </a:rPr>
                  <a:t>OS kernel</a:t>
                </a:r>
              </a:p>
              <a:p>
                <a:pPr algn="ctr"/>
                <a:r>
                  <a:rPr lang="en-US" sz="1100" dirty="0">
                    <a:latin typeface="Times" pitchFamily="2" charset="0"/>
                  </a:rPr>
                  <a:t>overhead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9D30673-9A88-E42D-1018-6CA69B6CE84E}"/>
                  </a:ext>
                </a:extLst>
              </p:cNvPr>
              <p:cNvSpPr/>
              <p:nvPr/>
            </p:nvSpPr>
            <p:spPr>
              <a:xfrm>
                <a:off x="5673508" y="2478343"/>
                <a:ext cx="621347" cy="40783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>
                    <a:latin typeface="Times" pitchFamily="2" charset="0"/>
                  </a:rPr>
                  <a:t>Memory simulator</a:t>
                </a:r>
              </a:p>
            </p:txBody>
          </p:sp>
          <p:sp>
            <p:nvSpPr>
              <p:cNvPr id="34" name="Left Brace 33">
                <a:extLst>
                  <a:ext uri="{FF2B5EF4-FFF2-40B4-BE49-F238E27FC236}">
                    <a16:creationId xmlns:a16="http://schemas.microsoft.com/office/drawing/2014/main" id="{8989AF7B-8FE5-92A2-7831-1048CE131770}"/>
                  </a:ext>
                </a:extLst>
              </p:cNvPr>
              <p:cNvSpPr/>
              <p:nvPr/>
            </p:nvSpPr>
            <p:spPr>
              <a:xfrm>
                <a:off x="5502767" y="1991711"/>
                <a:ext cx="142056" cy="894470"/>
              </a:xfrm>
              <a:prstGeom prst="leftBrace">
                <a:avLst>
                  <a:gd name="adj1" fmla="val 37069"/>
                  <a:gd name="adj2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E2A721AC-B51F-3036-94CF-766FF7D94E52}"/>
                  </a:ext>
                </a:extLst>
              </p:cNvPr>
              <p:cNvCxnSpPr>
                <a:cxnSpLocks/>
                <a:stCxn id="29" idx="3"/>
                <a:endCxn id="38" idx="1"/>
              </p:cNvCxnSpPr>
              <p:nvPr/>
            </p:nvCxnSpPr>
            <p:spPr>
              <a:xfrm>
                <a:off x="6294855" y="2682262"/>
                <a:ext cx="216024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F96F77-BAEB-BB45-B963-C77849ED150B}"/>
                  </a:ext>
                </a:extLst>
              </p:cNvPr>
              <p:cNvSpPr txBox="1"/>
              <p:nvPr/>
            </p:nvSpPr>
            <p:spPr>
              <a:xfrm>
                <a:off x="6510879" y="2428346"/>
                <a:ext cx="717353" cy="5078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100" dirty="0">
                    <a:latin typeface="Times" pitchFamily="2" charset="0"/>
                  </a:rPr>
                  <a:t>Instructions per cycle (IPC)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3DA9F42-A927-FD6E-C992-6A32BE16A571}"/>
                </a:ext>
              </a:extLst>
            </p:cNvPr>
            <p:cNvGrpSpPr/>
            <p:nvPr/>
          </p:nvGrpSpPr>
          <p:grpSpPr>
            <a:xfrm>
              <a:off x="4799856" y="2148405"/>
              <a:ext cx="677582" cy="600781"/>
              <a:chOff x="4799856" y="2148405"/>
              <a:chExt cx="677582" cy="600781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5C2885-1583-CB68-E541-50EC6FE08B8A}"/>
                  </a:ext>
                </a:extLst>
              </p:cNvPr>
              <p:cNvSpPr txBox="1"/>
              <p:nvPr/>
            </p:nvSpPr>
            <p:spPr>
              <a:xfrm>
                <a:off x="4799856" y="2148405"/>
                <a:ext cx="677582" cy="270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80000"/>
                  </a:lnSpc>
                  <a:defRPr sz="1100">
                    <a:latin typeface="Times" pitchFamily="2" charset="0"/>
                  </a:defRPr>
                </a:lvl1pPr>
              </a:lstStyle>
              <a:p>
                <a:r>
                  <a:rPr lang="en-US" dirty="0"/>
                  <a:t>Instruction</a:t>
                </a:r>
              </a:p>
              <a:p>
                <a:r>
                  <a:rPr lang="en-US" altLang="zh-CN" dirty="0"/>
                  <a:t>trace</a:t>
                </a:r>
                <a:endParaRPr 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F456872-8BDD-916C-A109-3F400D8B2306}"/>
                  </a:ext>
                </a:extLst>
              </p:cNvPr>
              <p:cNvSpPr txBox="1"/>
              <p:nvPr/>
            </p:nvSpPr>
            <p:spPr>
              <a:xfrm>
                <a:off x="4858655" y="2478343"/>
                <a:ext cx="559985" cy="270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100" dirty="0">
                    <a:latin typeface="Times" pitchFamily="2" charset="0"/>
                  </a:rPr>
                  <a:t>M</a:t>
                </a:r>
                <a:r>
                  <a:rPr lang="en-US" sz="1100" dirty="0">
                    <a:latin typeface="Times" pitchFamily="2" charset="0"/>
                  </a:rPr>
                  <a:t>emory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100" dirty="0">
                    <a:latin typeface="Times" pitchFamily="2" charset="0"/>
                  </a:rPr>
                  <a:t>trace</a:t>
                </a:r>
                <a:endParaRPr lang="en-US" sz="1100" dirty="0">
                  <a:latin typeface="Times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0249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5681C79-0060-752C-78FF-B6EF8324ABA0}"/>
              </a:ext>
            </a:extLst>
          </p:cNvPr>
          <p:cNvSpPr/>
          <p:nvPr/>
        </p:nvSpPr>
        <p:spPr>
          <a:xfrm>
            <a:off x="5015880" y="1969898"/>
            <a:ext cx="1932864" cy="7787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zh-CN" sz="1000" dirty="0">
                <a:latin typeface="Times" pitchFamily="2" charset="0"/>
              </a:rPr>
              <a:t>     </a:t>
            </a:r>
            <a:r>
              <a:rPr lang="en-US" altLang="zh-CN" sz="1200" dirty="0">
                <a:latin typeface="Times" pitchFamily="2" charset="0"/>
              </a:rPr>
              <a:t>QEMU</a:t>
            </a:r>
            <a:endParaRPr lang="en-US" sz="1200" dirty="0">
              <a:latin typeface="Times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4C4EB8-67DA-FA27-EE17-78C4CBCDB057}"/>
              </a:ext>
            </a:extLst>
          </p:cNvPr>
          <p:cNvSpPr/>
          <p:nvPr/>
        </p:nvSpPr>
        <p:spPr>
          <a:xfrm>
            <a:off x="5806897" y="2060848"/>
            <a:ext cx="1023027" cy="579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 dirty="0">
                <a:latin typeface="Times" pitchFamily="2" charset="0"/>
              </a:rPr>
              <a:t>Software</a:t>
            </a:r>
            <a:r>
              <a:rPr lang="zh-CN" altLang="en-US" sz="1100" dirty="0">
                <a:latin typeface="Times" pitchFamily="2" charset="0"/>
              </a:rPr>
              <a:t> </a:t>
            </a:r>
            <a:r>
              <a:rPr lang="en-US" altLang="zh-CN" sz="1100" dirty="0">
                <a:latin typeface="Times" pitchFamily="2" charset="0"/>
              </a:rPr>
              <a:t>MMU</a:t>
            </a:r>
          </a:p>
          <a:p>
            <a:r>
              <a:rPr lang="zh-CN" altLang="en-US" sz="1000" dirty="0">
                <a:latin typeface="Times" pitchFamily="2" charset="0"/>
              </a:rPr>
              <a:t>   </a:t>
            </a:r>
            <a:r>
              <a:rPr lang="en-US" altLang="zh-CN" sz="1000" dirty="0">
                <a:latin typeface="Times" pitchFamily="2" charset="0"/>
              </a:rPr>
              <a:t>•</a:t>
            </a:r>
            <a:r>
              <a:rPr lang="zh-CN" altLang="en-US" sz="1000" dirty="0">
                <a:latin typeface="Times" pitchFamily="2" charset="0"/>
              </a:rPr>
              <a:t> </a:t>
            </a:r>
            <a:r>
              <a:rPr lang="en-US" altLang="zh-CN" sz="1000" dirty="0">
                <a:latin typeface="Times" pitchFamily="2" charset="0"/>
              </a:rPr>
              <a:t>x86-64</a:t>
            </a:r>
            <a:r>
              <a:rPr lang="zh-CN" altLang="en-US" sz="1000" dirty="0">
                <a:latin typeface="Times" pitchFamily="2" charset="0"/>
              </a:rPr>
              <a:t> </a:t>
            </a:r>
            <a:r>
              <a:rPr lang="en-US" altLang="zh-CN" sz="1000" dirty="0">
                <a:latin typeface="Times" pitchFamily="2" charset="0"/>
              </a:rPr>
              <a:t>MMU</a:t>
            </a:r>
            <a:r>
              <a:rPr lang="zh-CN" altLang="en-US" sz="1000" dirty="0">
                <a:latin typeface="Times" pitchFamily="2" charset="0"/>
              </a:rPr>
              <a:t> </a:t>
            </a:r>
            <a:endParaRPr lang="en-US" altLang="zh-CN" sz="1000" dirty="0">
              <a:latin typeface="Times" pitchFamily="2" charset="0"/>
            </a:endParaRPr>
          </a:p>
          <a:p>
            <a:r>
              <a:rPr lang="zh-CN" altLang="en-US" sz="1000" dirty="0">
                <a:latin typeface="Times" pitchFamily="2" charset="0"/>
              </a:rPr>
              <a:t>   </a:t>
            </a:r>
            <a:r>
              <a:rPr lang="en-US" altLang="zh-CN" sz="1000" dirty="0">
                <a:latin typeface="Times" pitchFamily="2" charset="0"/>
              </a:rPr>
              <a:t>•</a:t>
            </a:r>
            <a:r>
              <a:rPr lang="zh-CN" altLang="en-US" sz="1000" dirty="0">
                <a:latin typeface="Times" pitchFamily="2" charset="0"/>
              </a:rPr>
              <a:t> </a:t>
            </a:r>
            <a:r>
              <a:rPr lang="en-US" altLang="zh-CN" sz="1000" dirty="0">
                <a:latin typeface="Times" pitchFamily="2" charset="0"/>
              </a:rPr>
              <a:t>ECPT</a:t>
            </a:r>
            <a:r>
              <a:rPr lang="zh-CN" altLang="en-US" sz="1000" dirty="0">
                <a:latin typeface="Times" pitchFamily="2" charset="0"/>
              </a:rPr>
              <a:t> </a:t>
            </a:r>
            <a:r>
              <a:rPr lang="en-US" altLang="zh-CN" sz="1000" dirty="0">
                <a:latin typeface="Times" pitchFamily="2" charset="0"/>
              </a:rPr>
              <a:t>MMU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30B672-F953-95C5-1D92-39338EF8E460}"/>
              </a:ext>
            </a:extLst>
          </p:cNvPr>
          <p:cNvSpPr/>
          <p:nvPr/>
        </p:nvSpPr>
        <p:spPr>
          <a:xfrm>
            <a:off x="5015880" y="1583325"/>
            <a:ext cx="1932864" cy="3865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latin typeface="Times" pitchFamily="2" charset="0"/>
              </a:rPr>
              <a:t>EMT-Linux</a:t>
            </a:r>
            <a:r>
              <a:rPr lang="zh-CN" altLang="en-US" sz="1200" dirty="0">
                <a:latin typeface="Times" pitchFamily="2" charset="0"/>
              </a:rPr>
              <a:t> </a:t>
            </a:r>
            <a:r>
              <a:rPr lang="en-US" altLang="zh-CN" sz="1000" dirty="0">
                <a:latin typeface="Times" pitchFamily="2" charset="0"/>
              </a:rPr>
              <a:t>(with</a:t>
            </a:r>
            <a:r>
              <a:rPr lang="zh-CN" altLang="en-US" sz="1000" dirty="0">
                <a:latin typeface="Times" pitchFamily="2" charset="0"/>
              </a:rPr>
              <a:t> </a:t>
            </a:r>
            <a:r>
              <a:rPr lang="en-US" altLang="zh-CN" sz="1000" dirty="0">
                <a:latin typeface="Times" pitchFamily="2" charset="0"/>
              </a:rPr>
              <a:t>x86-64</a:t>
            </a:r>
            <a:r>
              <a:rPr lang="zh-CN" altLang="en-US" sz="1000" dirty="0">
                <a:latin typeface="Times" pitchFamily="2" charset="0"/>
              </a:rPr>
              <a:t> </a:t>
            </a:r>
            <a:br>
              <a:rPr lang="en-US" altLang="zh-CN" sz="1000" dirty="0">
                <a:latin typeface="Times" pitchFamily="2" charset="0"/>
              </a:rPr>
            </a:br>
            <a:r>
              <a:rPr lang="en-US" altLang="zh-CN" sz="1000" dirty="0">
                <a:latin typeface="Times" pitchFamily="2" charset="0"/>
              </a:rPr>
              <a:t>and</a:t>
            </a:r>
            <a:r>
              <a:rPr lang="zh-CN" altLang="en-US" sz="1000" dirty="0">
                <a:latin typeface="Times" pitchFamily="2" charset="0"/>
              </a:rPr>
              <a:t> </a:t>
            </a:r>
            <a:r>
              <a:rPr lang="en-US" altLang="zh-CN" sz="1000" dirty="0">
                <a:latin typeface="Times" pitchFamily="2" charset="0"/>
              </a:rPr>
              <a:t>ECPT</a:t>
            </a:r>
            <a:r>
              <a:rPr lang="zh-CN" altLang="en-US" sz="1000" dirty="0">
                <a:latin typeface="Times" pitchFamily="2" charset="0"/>
              </a:rPr>
              <a:t> </a:t>
            </a:r>
            <a:r>
              <a:rPr lang="en-US" altLang="zh-CN" sz="1000" dirty="0">
                <a:latin typeface="Times" pitchFamily="2" charset="0"/>
              </a:rPr>
              <a:t>MMU</a:t>
            </a:r>
            <a:r>
              <a:rPr lang="zh-CN" altLang="en-US" sz="1000" dirty="0">
                <a:latin typeface="Times" pitchFamily="2" charset="0"/>
              </a:rPr>
              <a:t> </a:t>
            </a:r>
            <a:r>
              <a:rPr lang="en-US" altLang="zh-CN" sz="1000" dirty="0">
                <a:latin typeface="Times" pitchFamily="2" charset="0"/>
              </a:rPr>
              <a:t>drivers)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12AC27-7ABF-B291-9F9C-552F2D3B5240}"/>
              </a:ext>
            </a:extLst>
          </p:cNvPr>
          <p:cNvSpPr/>
          <p:nvPr/>
        </p:nvSpPr>
        <p:spPr>
          <a:xfrm>
            <a:off x="8138949" y="1886458"/>
            <a:ext cx="801976" cy="4078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latin typeface="Times" pitchFamily="2" charset="0"/>
              </a:rPr>
              <a:t>Instruction analyzer</a:t>
            </a:r>
            <a:endParaRPr lang="en-US" sz="1000" dirty="0">
              <a:latin typeface="Times" pitchFamily="2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2418F7-B5EF-5A6D-A0C0-20D72D89D9B0}"/>
              </a:ext>
            </a:extLst>
          </p:cNvPr>
          <p:cNvCxnSpPr>
            <a:cxnSpLocks/>
          </p:cNvCxnSpPr>
          <p:nvPr/>
        </p:nvCxnSpPr>
        <p:spPr>
          <a:xfrm>
            <a:off x="6888088" y="2333693"/>
            <a:ext cx="1076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D5C2885-1583-CB68-E541-50EC6FE08B8A}"/>
              </a:ext>
            </a:extLst>
          </p:cNvPr>
          <p:cNvSpPr txBox="1"/>
          <p:nvPr/>
        </p:nvSpPr>
        <p:spPr>
          <a:xfrm>
            <a:off x="7047823" y="2125944"/>
            <a:ext cx="992047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>
                <a:latin typeface="Times" pitchFamily="2" charset="0"/>
              </a:rPr>
              <a:t>Instruction </a:t>
            </a:r>
            <a:r>
              <a:rPr lang="en-US" altLang="zh-CN" sz="1100" dirty="0">
                <a:latin typeface="Times" pitchFamily="2" charset="0"/>
              </a:rPr>
              <a:t>trace</a:t>
            </a:r>
          </a:p>
          <a:p>
            <a:r>
              <a:rPr lang="en-US" sz="500" dirty="0">
                <a:latin typeface="Times" pitchFamily="2" charset="0"/>
              </a:rPr>
              <a:t> </a:t>
            </a:r>
          </a:p>
          <a:p>
            <a:r>
              <a:rPr lang="en-US" altLang="zh-CN" sz="1100" dirty="0">
                <a:latin typeface="Times" pitchFamily="2" charset="0"/>
              </a:rPr>
              <a:t>M</a:t>
            </a:r>
            <a:r>
              <a:rPr lang="en-US" sz="1100" dirty="0">
                <a:latin typeface="Times" pitchFamily="2" charset="0"/>
              </a:rPr>
              <a:t>emory</a:t>
            </a:r>
            <a:r>
              <a:rPr lang="zh-CN" altLang="en-US" sz="1100" dirty="0">
                <a:latin typeface="Times" pitchFamily="2" charset="0"/>
              </a:rPr>
              <a:t> </a:t>
            </a:r>
            <a:r>
              <a:rPr lang="en-US" altLang="zh-CN" sz="1100" dirty="0">
                <a:latin typeface="Times" pitchFamily="2" charset="0"/>
              </a:rPr>
              <a:t>trace</a:t>
            </a:r>
            <a:endParaRPr lang="en-US" sz="1100" dirty="0">
              <a:latin typeface="Times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FBBD70-820C-172A-291B-49020FCEDEB6}"/>
              </a:ext>
            </a:extLst>
          </p:cNvPr>
          <p:cNvCxnSpPr>
            <a:cxnSpLocks/>
            <a:stCxn id="9" idx="3"/>
            <a:endCxn id="27" idx="1"/>
          </p:cNvCxnSpPr>
          <p:nvPr/>
        </p:nvCxnSpPr>
        <p:spPr>
          <a:xfrm flipV="1">
            <a:off x="8940925" y="2087843"/>
            <a:ext cx="324401" cy="2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38857E3-00E8-7B2F-48BB-18B6C0C65635}"/>
              </a:ext>
            </a:extLst>
          </p:cNvPr>
          <p:cNvSpPr txBox="1"/>
          <p:nvPr/>
        </p:nvSpPr>
        <p:spPr>
          <a:xfrm>
            <a:off x="9265326" y="1918566"/>
            <a:ext cx="73867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latin typeface="Times" pitchFamily="2" charset="0"/>
              </a:rPr>
              <a:t>OS kernel</a:t>
            </a:r>
          </a:p>
          <a:p>
            <a:pPr algn="ctr"/>
            <a:r>
              <a:rPr lang="en-US" sz="1100" dirty="0">
                <a:latin typeface="Times" pitchFamily="2" charset="0"/>
              </a:rPr>
              <a:t>overhead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D30673-9A88-E42D-1018-6CA69B6CE84E}"/>
              </a:ext>
            </a:extLst>
          </p:cNvPr>
          <p:cNvSpPr/>
          <p:nvPr/>
        </p:nvSpPr>
        <p:spPr>
          <a:xfrm>
            <a:off x="8138949" y="2373090"/>
            <a:ext cx="808488" cy="4078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Memory simulator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8989AF7B-8FE5-92A2-7831-1048CE131770}"/>
              </a:ext>
            </a:extLst>
          </p:cNvPr>
          <p:cNvSpPr/>
          <p:nvPr/>
        </p:nvSpPr>
        <p:spPr>
          <a:xfrm>
            <a:off x="7968208" y="1886458"/>
            <a:ext cx="142056" cy="894470"/>
          </a:xfrm>
          <a:prstGeom prst="leftBrace">
            <a:avLst>
              <a:gd name="adj1" fmla="val 37069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2A721AC-B51F-3036-94CF-766FF7D94E52}"/>
              </a:ext>
            </a:extLst>
          </p:cNvPr>
          <p:cNvCxnSpPr>
            <a:cxnSpLocks/>
            <a:stCxn id="29" idx="3"/>
            <a:endCxn id="38" idx="1"/>
          </p:cNvCxnSpPr>
          <p:nvPr/>
        </p:nvCxnSpPr>
        <p:spPr>
          <a:xfrm>
            <a:off x="8947437" y="2577009"/>
            <a:ext cx="337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9F96F77-BAEB-BB45-B963-C77849ED150B}"/>
              </a:ext>
            </a:extLst>
          </p:cNvPr>
          <p:cNvSpPr txBox="1"/>
          <p:nvPr/>
        </p:nvSpPr>
        <p:spPr>
          <a:xfrm>
            <a:off x="9285222" y="2407732"/>
            <a:ext cx="73867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latin typeface="Times" pitchFamily="2" charset="0"/>
              </a:rPr>
              <a:t>Page walk latency</a:t>
            </a:r>
          </a:p>
        </p:txBody>
      </p:sp>
    </p:spTree>
    <p:extLst>
      <p:ext uri="{BB962C8B-B14F-4D97-AF65-F5344CB8AC3E}">
        <p14:creationId xmlns:p14="http://schemas.microsoft.com/office/powerpoint/2010/main" val="16139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3749</TotalTime>
  <Words>119</Words>
  <Application>Microsoft Macintosh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 Zhang</dc:creator>
  <cp:lastModifiedBy>Xu, Tianyin</cp:lastModifiedBy>
  <cp:revision>22</cp:revision>
  <dcterms:created xsi:type="dcterms:W3CDTF">2023-05-13T08:26:12Z</dcterms:created>
  <dcterms:modified xsi:type="dcterms:W3CDTF">2024-12-08T23:50:38Z</dcterms:modified>
</cp:coreProperties>
</file>