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9"/>
  </p:notesMasterIdLst>
  <p:sldIdLst>
    <p:sldId id="404" r:id="rId5"/>
    <p:sldId id="409" r:id="rId6"/>
    <p:sldId id="415" r:id="rId7"/>
    <p:sldId id="416" r:id="rId8"/>
    <p:sldId id="417" r:id="rId9"/>
    <p:sldId id="411" r:id="rId10"/>
    <p:sldId id="413" r:id="rId11"/>
    <p:sldId id="414" r:id="rId12"/>
    <p:sldId id="408" r:id="rId13"/>
    <p:sldId id="405" r:id="rId14"/>
    <p:sldId id="406" r:id="rId15"/>
    <p:sldId id="403" r:id="rId16"/>
    <p:sldId id="407" r:id="rId17"/>
    <p:sldId id="410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Times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428E3C2-3B85-A943-9501-CD031C7751B7}">
          <p14:sldIdLst>
            <p14:sldId id="404"/>
            <p14:sldId id="409"/>
            <p14:sldId id="415"/>
            <p14:sldId id="416"/>
            <p14:sldId id="417"/>
            <p14:sldId id="411"/>
            <p14:sldId id="413"/>
            <p14:sldId id="414"/>
          </p14:sldIdLst>
        </p14:section>
        <p14:section name="Archive" id="{790DDC4F-39BC-3740-9575-FCAC8F535F9F}">
          <p14:sldIdLst>
            <p14:sldId id="408"/>
            <p14:sldId id="405"/>
            <p14:sldId id="406"/>
            <p14:sldId id="403"/>
            <p14:sldId id="407"/>
            <p14:sldId id="4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ianyin Xu" initials="" lastIdx="1" clrIdx="0"/>
  <p:cmAuthor id="1" name="Siyuan Chai" initials="" lastIdx="1" clrIdx="1"/>
  <p:cmAuthor id="2" name="Chai, Siyuan" initials="CS" lastIdx="5" clrIdx="2">
    <p:extLst>
      <p:ext uri="{19B8F6BF-5375-455C-9EA6-DF929625EA0E}">
        <p15:presenceInfo xmlns:p15="http://schemas.microsoft.com/office/powerpoint/2012/main" userId="S::siyuanc3@illinois.edu::546b00aa-33ca-49a4-881a-cf7a62218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BE7"/>
    <a:srgbClr val="FAE2DD"/>
    <a:srgbClr val="D2FFD7"/>
    <a:srgbClr val="B8FFC1"/>
    <a:srgbClr val="0C6E35"/>
    <a:srgbClr val="04A54F"/>
    <a:srgbClr val="73FB79"/>
    <a:srgbClr val="82D98F"/>
    <a:srgbClr val="87FF9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8AA6A-29D2-4BE5-AFFC-5844D091179D}" v="21018" dt="2023-09-08T16:52:35.178"/>
    <p1510:client id="{FD55FD16-5559-7B4C-A394-3F709BA3C715}" v="16269" vWet="16353" dt="2023-09-08T15:42:50.094"/>
  </p1510:revLst>
</p1510:revInfo>
</file>

<file path=ppt/tableStyles.xml><?xml version="1.0" encoding="utf-8"?>
<a:tblStyleLst xmlns:a="http://schemas.openxmlformats.org/drawingml/2006/main" def="{65B79BE3-D9E7-4406-A499-916AACC5ADDA}">
  <a:tblStyle styleId="{65B79BE3-D9E7-4406-A499-916AACC5AD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/>
    <p:restoredTop sz="94694"/>
  </p:normalViewPr>
  <p:slideViewPr>
    <p:cSldViewPr>
      <p:cViewPr>
        <p:scale>
          <a:sx n="129" d="100"/>
          <a:sy n="129" d="100"/>
        </p:scale>
        <p:origin x="1672" y="712"/>
      </p:cViewPr>
      <p:guideLst>
        <p:guide orient="horz" pos="221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2597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4853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6245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200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0755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3683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775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2664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eec868e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eec868e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1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0" y="939769"/>
            <a:ext cx="7932751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vunmap_pmd_range(pmd,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addr, 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pmd_offset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pud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addr)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5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try remove huge page entry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cleared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pmd_clear_huge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(pmd);</a:t>
            </a: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4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pmd_none_or_clear_bad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continue;</a:t>
            </a:r>
          </a:p>
          <a:p>
            <a:r>
              <a:rPr lang="zh-CN" alt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5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try remove underlying PTEs</a:t>
            </a:r>
          </a:p>
          <a:p>
            <a: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vunmap_pte_range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(pmd, addr, next, mask);</a:t>
            </a: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5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}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600" b="1" dirty="0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pmd++</a:t>
            </a:r>
            <a:r>
              <a:rPr lang="en-US" altLang="zh-CN" sz="1600" dirty="0">
                <a:solidFill>
                  <a:srgbClr val="24292E"/>
                </a:solidFill>
                <a:effectLst/>
                <a:uFill>
                  <a:solidFill>
                    <a:srgbClr val="FFC000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addr = next, addr != end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06FAE-F613-CAD0-E171-9458E4AA3DF0}"/>
              </a:ext>
            </a:extLst>
          </p:cNvPr>
          <p:cNvSpPr/>
          <p:nvPr/>
        </p:nvSpPr>
        <p:spPr>
          <a:xfrm>
            <a:off x="4809539" y="971042"/>
            <a:ext cx="3218461" cy="664708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Find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2MB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entry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(PMD)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from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b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</a:b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the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Times" pitchFamily="2" charset="0"/>
              </a:rPr>
              <a:t>addr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.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of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1GB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entry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(PUD)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14DD3-B6EA-1864-5B12-F3BADD9C965B}"/>
              </a:ext>
            </a:extLst>
          </p:cNvPr>
          <p:cNvSpPr/>
          <p:nvPr/>
        </p:nvSpPr>
        <p:spPr>
          <a:xfrm>
            <a:off x="5363999" y="3885505"/>
            <a:ext cx="2664001" cy="630245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The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iterator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assumes the  </a:t>
            </a:r>
            <a:b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</a:b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spatial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locality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of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entries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C5165-D85C-6560-2BB5-E04FCB59A534}"/>
              </a:ext>
            </a:extLst>
          </p:cNvPr>
          <p:cNvSpPr/>
          <p:nvPr/>
        </p:nvSpPr>
        <p:spPr>
          <a:xfrm>
            <a:off x="4716000" y="1779750"/>
            <a:ext cx="3218461" cy="1727987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Overloaded</a:t>
            </a:r>
            <a:r>
              <a:rPr lang="zh-CN" alt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semantics:</a:t>
            </a:r>
          </a:p>
          <a:p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 (1)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The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entry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does not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point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to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a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b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</a:b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       2MB huge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page</a:t>
            </a:r>
          </a:p>
          <a:p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 (2)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The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entry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is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not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a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directory</a:t>
            </a:r>
          </a:p>
          <a:p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 (3)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No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entries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of 4KB pages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in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the </a:t>
            </a:r>
          </a:p>
          <a:p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       2MB</a:t>
            </a:r>
            <a:r>
              <a:rPr lang="zh-CN" altLang="en-US" sz="17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1700" dirty="0">
                <a:solidFill>
                  <a:schemeClr val="tx1"/>
                </a:solidFill>
                <a:latin typeface="Times" pitchFamily="2" charset="0"/>
              </a:rPr>
              <a:t>address range</a:t>
            </a:r>
            <a:endParaRPr lang="en-US" sz="17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1616992D-D78D-FD88-1235-B22CC8309F13}"/>
              </a:ext>
            </a:extLst>
          </p:cNvPr>
          <p:cNvSpPr txBox="1">
            <a:spLocks/>
          </p:cNvSpPr>
          <p:nvPr/>
        </p:nvSpPr>
        <p:spPr>
          <a:xfrm>
            <a:off x="576000" y="4523706"/>
            <a:ext cx="2088000" cy="22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mm/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vmalloc.c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21E88BC-DA43-3078-8FE2-6C11BCE214AC}"/>
              </a:ext>
            </a:extLst>
          </p:cNvPr>
          <p:cNvCxnSpPr>
            <a:cxnSpLocks/>
          </p:cNvCxnSpPr>
          <p:nvPr/>
        </p:nvCxnSpPr>
        <p:spPr>
          <a:xfrm>
            <a:off x="2844000" y="1419750"/>
            <a:ext cx="1965540" cy="144000"/>
          </a:xfrm>
          <a:prstGeom prst="bentConnector3">
            <a:avLst>
              <a:gd name="adj1" fmla="val 24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75F3957-1C77-2A51-8583-72A00AAB89CF}"/>
              </a:ext>
            </a:extLst>
          </p:cNvPr>
          <p:cNvCxnSpPr>
            <a:cxnSpLocks/>
          </p:cNvCxnSpPr>
          <p:nvPr/>
        </p:nvCxnSpPr>
        <p:spPr>
          <a:xfrm>
            <a:off x="3132000" y="2859750"/>
            <a:ext cx="1584000" cy="252491"/>
          </a:xfrm>
          <a:prstGeom prst="bentConnector3">
            <a:avLst>
              <a:gd name="adj1" fmla="val -24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C6B8309-D863-2417-DF87-EE5E2E47E4EA}"/>
              </a:ext>
            </a:extLst>
          </p:cNvPr>
          <p:cNvCxnSpPr>
            <a:cxnSpLocks/>
          </p:cNvCxnSpPr>
          <p:nvPr/>
        </p:nvCxnSpPr>
        <p:spPr>
          <a:xfrm flipV="1">
            <a:off x="1620000" y="4098559"/>
            <a:ext cx="3743999" cy="201191"/>
          </a:xfrm>
          <a:prstGeom prst="bentConnector3">
            <a:avLst>
              <a:gd name="adj1" fmla="val -12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85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0" y="939769"/>
            <a:ext cx="7429903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walk_pte_range(mm, addr,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spinlock_t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ptl;</a:t>
            </a:r>
            <a:b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pte_t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pte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pte_offset_map_lock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(mm, </a:t>
            </a:r>
            <a:r>
              <a:rPr lang="en-US" altLang="zh-CN" sz="1600" b="1" dirty="0">
                <a:solidFill>
                  <a:srgbClr val="24292E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pmd</a:t>
            </a:r>
            <a:r>
              <a:rPr lang="en-US" altLang="zh-CN" sz="1600" b="1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addr, &amp;ptl)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(;;)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zh-CN" altLang="en-US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err = ops-&gt;</a:t>
            </a:r>
            <a:r>
              <a:rPr lang="en-US" altLang="zh-CN" sz="1600" b="1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pte_entry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(pte, addr, addr + PAGE_SIZE, walk);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addr += PAGE_SIZE;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pte++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}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pte_unmap_unlock(pte, ptl);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1616992D-D78D-FD88-1235-B22CC8309F13}"/>
              </a:ext>
            </a:extLst>
          </p:cNvPr>
          <p:cNvSpPr txBox="1">
            <a:spLocks/>
          </p:cNvSpPr>
          <p:nvPr/>
        </p:nvSpPr>
        <p:spPr>
          <a:xfrm>
            <a:off x="612000" y="3916493"/>
            <a:ext cx="2160000" cy="28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mm/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pagewalk.c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1B5DF-9419-1DFA-5B0D-0FA782CB85BD}"/>
              </a:ext>
            </a:extLst>
          </p:cNvPr>
          <p:cNvSpPr/>
          <p:nvPr/>
        </p:nvSpPr>
        <p:spPr>
          <a:xfrm>
            <a:off x="4499999" y="890348"/>
            <a:ext cx="3096001" cy="564624"/>
          </a:xfrm>
          <a:prstGeom prst="rect">
            <a:avLst/>
          </a:prstGeom>
          <a:solidFill>
            <a:srgbClr val="B8FFC1">
              <a:alpha val="64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Lock address range only</a:t>
            </a:r>
            <a:br>
              <a:rPr lang="en-US" sz="1800" dirty="0">
                <a:solidFill>
                  <a:schemeClr val="tx1"/>
                </a:solidFill>
                <a:latin typeface="Times" pitchFamily="2" charset="0"/>
              </a:rPr>
            </a:b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once for batched operations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C3111-4E93-465F-0ED1-3096EA27D5BD}"/>
              </a:ext>
            </a:extLst>
          </p:cNvPr>
          <p:cNvSpPr/>
          <p:nvPr/>
        </p:nvSpPr>
        <p:spPr>
          <a:xfrm>
            <a:off x="3807682" y="2504196"/>
            <a:ext cx="3927021" cy="611820"/>
          </a:xfrm>
          <a:prstGeom prst="rect">
            <a:avLst/>
          </a:prstGeom>
          <a:solidFill>
            <a:srgbClr val="B8FFC1">
              <a:alpha val="64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A custom function uses entry pointers to perform in-place attribute updates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11D10-BF26-E10F-F65F-D473B443C3AE}"/>
              </a:ext>
            </a:extLst>
          </p:cNvPr>
          <p:cNvSpPr/>
          <p:nvPr/>
        </p:nvSpPr>
        <p:spPr>
          <a:xfrm>
            <a:off x="1254028" y="3309747"/>
            <a:ext cx="6480675" cy="362526"/>
          </a:xfrm>
          <a:prstGeom prst="rect">
            <a:avLst/>
          </a:prstGeom>
          <a:solidFill>
            <a:srgbClr val="B8FFC1">
              <a:alpha val="64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Exploit page table entry adjacency to reduce page walk overhead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D4D4B5FB-B989-E628-9679-632E5F4C9983}"/>
              </a:ext>
            </a:extLst>
          </p:cNvPr>
          <p:cNvCxnSpPr>
            <a:cxnSpLocks/>
          </p:cNvCxnSpPr>
          <p:nvPr/>
        </p:nvCxnSpPr>
        <p:spPr>
          <a:xfrm flipV="1">
            <a:off x="3147624" y="1358886"/>
            <a:ext cx="1352376" cy="128736"/>
          </a:xfrm>
          <a:prstGeom prst="bentConnector3">
            <a:avLst>
              <a:gd name="adj1" fmla="val -31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CEC4CD-A364-C61B-564A-25A0FD002210}"/>
              </a:ext>
            </a:extLst>
          </p:cNvPr>
          <p:cNvCxnSpPr>
            <a:cxnSpLocks/>
          </p:cNvCxnSpPr>
          <p:nvPr/>
        </p:nvCxnSpPr>
        <p:spPr>
          <a:xfrm>
            <a:off x="2988000" y="2499750"/>
            <a:ext cx="819682" cy="144000"/>
          </a:xfrm>
          <a:prstGeom prst="bentConnector3">
            <a:avLst>
              <a:gd name="adj1" fmla="val -102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1A253C8-A566-006B-DF4B-CC77EDBF75C2}"/>
              </a:ext>
            </a:extLst>
          </p:cNvPr>
          <p:cNvCxnSpPr>
            <a:cxnSpLocks/>
          </p:cNvCxnSpPr>
          <p:nvPr/>
        </p:nvCxnSpPr>
        <p:spPr>
          <a:xfrm>
            <a:off x="1188000" y="3218944"/>
            <a:ext cx="144000" cy="86328"/>
          </a:xfrm>
          <a:prstGeom prst="bentConnector3">
            <a:avLst>
              <a:gd name="adj1" fmla="val 10168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57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1" y="939769"/>
            <a:ext cx="6283200" cy="33701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walk_</a:t>
            </a:r>
            <a:r>
              <a:rPr lang="en-US" altLang="zh-CN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_range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(mm,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alock_t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*lock </a:t>
            </a: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aspace_lock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(mm,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end);</a:t>
            </a:r>
          </a:p>
          <a:p>
            <a:r>
              <a:rPr lang="en-US" altLang="zh-CN" sz="5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titer_t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*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iter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tentry_iter_start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(mm,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end);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tentry_iter_has_next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iter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))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size_t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size;</a:t>
            </a:r>
            <a:b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tentry_t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*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tentry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tentey_iter_next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iter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&amp;size);</a:t>
            </a: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5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err = ops-&gt;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tentry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tentry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addr, addr + size, walk);</a:t>
            </a: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5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}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tentry_iter_end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aspace_unlock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(lock);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Google Shape;78;p16">
            <a:extLst>
              <a:ext uri="{FF2B5EF4-FFF2-40B4-BE49-F238E27FC236}">
                <a16:creationId xmlns:a16="http://schemas.microsoft.com/office/drawing/2014/main" id="{170CE947-043A-6DC8-1CFA-CD6787E7A77D}"/>
              </a:ext>
            </a:extLst>
          </p:cNvPr>
          <p:cNvSpPr txBox="1">
            <a:spLocks/>
          </p:cNvSpPr>
          <p:nvPr/>
        </p:nvSpPr>
        <p:spPr>
          <a:xfrm>
            <a:off x="612000" y="3940512"/>
            <a:ext cx="2376000" cy="28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mm/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pagewalk.c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64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0" y="939769"/>
            <a:ext cx="7429903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walk_addr_range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pmap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addr,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err = 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pmap_pte_entry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pmap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end, walk);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zh-CN" sz="1600" dirty="0">
              <a:solidFill>
                <a:srgbClr val="24292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walk_addr_range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pmap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(;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&lt; end;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+= PAGE_SIZE) {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pmap_enter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pmap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...);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1B5DF-9419-1DFA-5B0D-0FA782CB85BD}"/>
              </a:ext>
            </a:extLst>
          </p:cNvPr>
          <p:cNvSpPr/>
          <p:nvPr/>
        </p:nvSpPr>
        <p:spPr>
          <a:xfrm>
            <a:off x="4139999" y="2799126"/>
            <a:ext cx="3096001" cy="564624"/>
          </a:xfrm>
          <a:prstGeom prst="rect">
            <a:avLst/>
          </a:prstGeom>
          <a:solidFill>
            <a:srgbClr val="FCEB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Use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PMAP_LOCK(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pmap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to lock the entire </a:t>
            </a:r>
            <a:r>
              <a:rPr lang="en-US" sz="1800" dirty="0" err="1">
                <a:solidFill>
                  <a:schemeClr val="tx1"/>
                </a:solidFill>
                <a:latin typeface="Times" pitchFamily="2" charset="0"/>
              </a:rPr>
              <a:t>pmap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internally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C3111-4E93-465F-0ED1-3096EA27D5BD}"/>
              </a:ext>
            </a:extLst>
          </p:cNvPr>
          <p:cNvSpPr/>
          <p:nvPr/>
        </p:nvSpPr>
        <p:spPr>
          <a:xfrm>
            <a:off x="3452979" y="807930"/>
            <a:ext cx="3927021" cy="611820"/>
          </a:xfrm>
          <a:prstGeom prst="rect">
            <a:avLst/>
          </a:prstGeom>
          <a:solidFill>
            <a:srgbClr val="FCEB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No low-level exposure, need to add a new </a:t>
            </a:r>
            <a:r>
              <a:rPr lang="en-US" altLang="zh-CN" sz="1800" dirty="0" err="1">
                <a:solidFill>
                  <a:schemeClr val="tx1"/>
                </a:solidFill>
                <a:latin typeface="Times" pitchFamily="2" charset="0"/>
              </a:rPr>
              <a:t>pmap</a:t>
            </a:r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 function for the same pattern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CEC4CD-A364-C61B-564A-25A0FD002210}"/>
              </a:ext>
            </a:extLst>
          </p:cNvPr>
          <p:cNvCxnSpPr>
            <a:cxnSpLocks/>
          </p:cNvCxnSpPr>
          <p:nvPr/>
        </p:nvCxnSpPr>
        <p:spPr>
          <a:xfrm rot="5400000">
            <a:off x="2966400" y="1009350"/>
            <a:ext cx="144000" cy="820800"/>
          </a:xfrm>
          <a:prstGeom prst="bentConnector3">
            <a:avLst>
              <a:gd name="adj1" fmla="val -102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891012-B629-3476-2846-4011A1EF2DA5}"/>
              </a:ext>
            </a:extLst>
          </p:cNvPr>
          <p:cNvCxnSpPr>
            <a:cxnSpLocks/>
          </p:cNvCxnSpPr>
          <p:nvPr/>
        </p:nvCxnSpPr>
        <p:spPr>
          <a:xfrm flipH="1">
            <a:off x="1764000" y="3075750"/>
            <a:ext cx="237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39E257-7DD5-F0DF-011F-9EE356B32B27}"/>
              </a:ext>
            </a:extLst>
          </p:cNvPr>
          <p:cNvCxnSpPr>
            <a:cxnSpLocks/>
          </p:cNvCxnSpPr>
          <p:nvPr/>
        </p:nvCxnSpPr>
        <p:spPr>
          <a:xfrm flipV="1">
            <a:off x="1764000" y="1779750"/>
            <a:ext cx="0" cy="14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1CD71C2-72B1-1315-CB7C-C2AD9DBB5143}"/>
              </a:ext>
            </a:extLst>
          </p:cNvPr>
          <p:cNvSpPr/>
          <p:nvPr/>
        </p:nvSpPr>
        <p:spPr>
          <a:xfrm>
            <a:off x="2223682" y="3501241"/>
            <a:ext cx="4364318" cy="611820"/>
          </a:xfrm>
          <a:prstGeom prst="rect">
            <a:avLst/>
          </a:prstGeom>
          <a:solidFill>
            <a:srgbClr val="FAE2DD">
              <a:alpha val="7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Explicitly implement the task, may need repetitive walk in the page table data structure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25" name="Elbow Connector 33">
            <a:extLst>
              <a:ext uri="{FF2B5EF4-FFF2-40B4-BE49-F238E27FC236}">
                <a16:creationId xmlns:a16="http://schemas.microsoft.com/office/drawing/2014/main" id="{2A9BFEF6-E5DC-F0DF-B1D4-0748E062B92B}"/>
              </a:ext>
            </a:extLst>
          </p:cNvPr>
          <p:cNvCxnSpPr>
            <a:cxnSpLocks/>
          </p:cNvCxnSpPr>
          <p:nvPr/>
        </p:nvCxnSpPr>
        <p:spPr>
          <a:xfrm>
            <a:off x="1404000" y="3496795"/>
            <a:ext cx="819682" cy="144000"/>
          </a:xfrm>
          <a:prstGeom prst="bentConnector3">
            <a:avLst>
              <a:gd name="adj1" fmla="val -102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5D0DCF-A65F-54D5-0236-71383BAC001C}"/>
              </a:ext>
            </a:extLst>
          </p:cNvPr>
          <p:cNvCxnSpPr>
            <a:cxnSpLocks/>
          </p:cNvCxnSpPr>
          <p:nvPr/>
        </p:nvCxnSpPr>
        <p:spPr>
          <a:xfrm>
            <a:off x="396000" y="2355750"/>
            <a:ext cx="684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18AD6EC-C21C-149F-A80C-52DB6286D6F8}"/>
              </a:ext>
            </a:extLst>
          </p:cNvPr>
          <p:cNvSpPr/>
          <p:nvPr/>
        </p:nvSpPr>
        <p:spPr>
          <a:xfrm>
            <a:off x="2412000" y="2211750"/>
            <a:ext cx="2664000" cy="21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Alternative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91596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1" y="1995750"/>
            <a:ext cx="693120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walk_addr_range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pmap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(;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&lt; end;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+= PAGE_SIZE) {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pmap_enter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pmap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, ...);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1B5DF-9419-1DFA-5B0D-0FA782CB85BD}"/>
              </a:ext>
            </a:extLst>
          </p:cNvPr>
          <p:cNvSpPr/>
          <p:nvPr/>
        </p:nvSpPr>
        <p:spPr>
          <a:xfrm>
            <a:off x="4284000" y="2591947"/>
            <a:ext cx="3168001" cy="492858"/>
          </a:xfrm>
          <a:prstGeom prst="rect">
            <a:avLst/>
          </a:prstGeom>
          <a:solidFill>
            <a:srgbClr val="FCEB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Use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PMAP_LOCK(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pmap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to lock the entire </a:t>
            </a:r>
            <a:r>
              <a:rPr lang="en-US" sz="1800" dirty="0" err="1">
                <a:solidFill>
                  <a:schemeClr val="tx1"/>
                </a:solidFill>
                <a:latin typeface="Times" pitchFamily="2" charset="0"/>
              </a:rPr>
              <a:t>pmap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internally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891012-B629-3476-2846-4011A1EF2DA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924000" y="2838376"/>
            <a:ext cx="360000" cy="358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1CD71C2-72B1-1315-CB7C-C2AD9DBB5143}"/>
              </a:ext>
            </a:extLst>
          </p:cNvPr>
          <p:cNvSpPr/>
          <p:nvPr/>
        </p:nvSpPr>
        <p:spPr>
          <a:xfrm>
            <a:off x="1476000" y="3394058"/>
            <a:ext cx="4320000" cy="238719"/>
          </a:xfrm>
          <a:prstGeom prst="rect">
            <a:avLst/>
          </a:prstGeom>
          <a:solidFill>
            <a:srgbClr val="FAE2DD">
              <a:alpha val="7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altLang="zh-CN" sz="1800" dirty="0">
                <a:solidFill>
                  <a:schemeClr val="tx1"/>
                </a:solidFill>
                <a:latin typeface="Times" pitchFamily="2" charset="0"/>
              </a:rPr>
              <a:t>Need page table walk in every loop iteration</a:t>
            </a:r>
            <a:endParaRPr lang="en-US" sz="18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25" name="Elbow Connector 33">
            <a:extLst>
              <a:ext uri="{FF2B5EF4-FFF2-40B4-BE49-F238E27FC236}">
                <a16:creationId xmlns:a16="http://schemas.microsoft.com/office/drawing/2014/main" id="{2A9BFEF6-E5DC-F0DF-B1D4-0748E062B92B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1095561" y="3132979"/>
            <a:ext cx="554500" cy="206378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71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88A3-A0FB-45AB-D745-0BA99C9291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989621-EE03-9437-4F70-4E8AE9E5AF20}"/>
              </a:ext>
            </a:extLst>
          </p:cNvPr>
          <p:cNvSpPr txBox="1">
            <a:spLocks/>
          </p:cNvSpPr>
          <p:nvPr/>
        </p:nvSpPr>
        <p:spPr>
          <a:xfrm>
            <a:off x="468000" y="1131750"/>
            <a:ext cx="56280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(; addr &lt; cend; addr += PAGE_SIZE) {</a:t>
            </a:r>
          </a:p>
          <a:p>
            <a:pPr marL="11430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mincoreinfo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pmap_mincore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(pmap,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Get page m from </a:t>
            </a:r>
            <a:r>
              <a:rPr lang="en-US" sz="14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addr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(m !=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 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&amp;&amp; </a:t>
            </a:r>
            <a:r>
              <a:rPr lang="en-US" sz="1600" b="1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pmap_is_modified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(m))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/* sys/vm/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vm_mmap.c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*/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D595C3-2072-6B7B-D519-7DBDA290715D}"/>
              </a:ext>
            </a:extLst>
          </p:cNvPr>
          <p:cNvSpPr/>
          <p:nvPr/>
        </p:nvSpPr>
        <p:spPr>
          <a:xfrm>
            <a:off x="4788000" y="1755126"/>
            <a:ext cx="2951999" cy="816624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 err="1">
                <a:solidFill>
                  <a:schemeClr val="tx1"/>
                </a:solidFill>
                <a:latin typeface="Times" pitchFamily="2" charset="0"/>
              </a:rPr>
              <a:t>pmap_mincore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() needs to walk the page table in every loop iteration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D09A85-9D2C-8439-6B55-3F6F5C4883B3}"/>
              </a:ext>
            </a:extLst>
          </p:cNvPr>
          <p:cNvSpPr/>
          <p:nvPr/>
        </p:nvSpPr>
        <p:spPr>
          <a:xfrm>
            <a:off x="4806000" y="2727126"/>
            <a:ext cx="2951999" cy="564624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" pitchFamily="2" charset="0"/>
              </a:rPr>
              <a:t>pmap_is_modified</a:t>
            </a:r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() needs to walk the page table again.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5D27E7-CA0E-9039-E220-C944ACA52FE7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636000" y="1707750"/>
            <a:ext cx="1152000" cy="4556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DD38A2-4A53-844A-961D-2D22D4DB370B}"/>
              </a:ext>
            </a:extLst>
          </p:cNvPr>
          <p:cNvCxnSpPr/>
          <p:nvPr/>
        </p:nvCxnSpPr>
        <p:spPr>
          <a:xfrm flipH="1" flipV="1">
            <a:off x="3654000" y="2511594"/>
            <a:ext cx="1152000" cy="4556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22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88A3-A0FB-45AB-D745-0BA99C9291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D595C3-2072-6B7B-D519-7DBDA290715D}"/>
              </a:ext>
            </a:extLst>
          </p:cNvPr>
          <p:cNvSpPr/>
          <p:nvPr/>
        </p:nvSpPr>
        <p:spPr>
          <a:xfrm>
            <a:off x="4788000" y="1430184"/>
            <a:ext cx="2304000" cy="349566"/>
          </a:xfrm>
          <a:prstGeom prst="rect">
            <a:avLst/>
          </a:prstGeom>
          <a:solidFill>
            <a:srgbClr val="FAE2DD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hardwired to radix tree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D09A85-9D2C-8439-6B55-3F6F5C4883B3}"/>
              </a:ext>
            </a:extLst>
          </p:cNvPr>
          <p:cNvSpPr/>
          <p:nvPr/>
        </p:nvSpPr>
        <p:spPr>
          <a:xfrm>
            <a:off x="4068001" y="2196946"/>
            <a:ext cx="3527999" cy="561311"/>
          </a:xfrm>
          <a:prstGeom prst="rect">
            <a:avLst/>
          </a:prstGeom>
          <a:solidFill>
            <a:srgbClr val="B8FFC1">
              <a:alpha val="63922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In-place read using a pointer to page table entry; no redundant page walks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1DE89-9D6F-5BB9-B36C-5B617E291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202" y="771750"/>
            <a:ext cx="5643798" cy="2160000"/>
          </a:xfrm>
        </p:spPr>
        <p:txBody>
          <a:bodyPr lIns="0" tIns="0" rIns="0" bIns="0">
            <a:noAutofit/>
          </a:bodyPr>
          <a:lstStyle/>
          <a:p>
            <a:pPr marL="114300" indent="0">
              <a:buNone/>
            </a:pPr>
            <a:r>
              <a:rPr lang="en-US" sz="1600" b="0" dirty="0" err="1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ptep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pte_offset_map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pmd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chemeClr val="accent1">
                  <a:lumMod val="50000"/>
                </a:schemeClr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(; addr &lt; cend; addr += PAGE_SIZE, </a:t>
            </a:r>
            <a:r>
              <a:rPr lang="en-US" sz="1600" b="1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ptep++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 = *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ptep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(!</a:t>
            </a:r>
            <a:r>
              <a:rPr lang="en-US" sz="1600" b="1" dirty="0" err="1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pte_none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1600" b="1" dirty="0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pte_dirty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(pte))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85CE32F-E739-1413-A941-F3A460801225}"/>
              </a:ext>
            </a:extLst>
          </p:cNvPr>
          <p:cNvCxnSpPr>
            <a:cxnSpLocks/>
          </p:cNvCxnSpPr>
          <p:nvPr/>
        </p:nvCxnSpPr>
        <p:spPr>
          <a:xfrm>
            <a:off x="3060000" y="1779750"/>
            <a:ext cx="1008001" cy="720000"/>
          </a:xfrm>
          <a:prstGeom prst="bentConnector3">
            <a:avLst>
              <a:gd name="adj1" fmla="val 7771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5BE9754A-3106-DA18-B149-EE61D0C4783D}"/>
              </a:ext>
            </a:extLst>
          </p:cNvPr>
          <p:cNvCxnSpPr>
            <a:cxnSpLocks/>
          </p:cNvCxnSpPr>
          <p:nvPr/>
        </p:nvCxnSpPr>
        <p:spPr>
          <a:xfrm>
            <a:off x="2830101" y="2196946"/>
            <a:ext cx="1237899" cy="4468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E6D9A4B8-C1F0-9811-9E46-7458F38E5211}"/>
              </a:ext>
            </a:extLst>
          </p:cNvPr>
          <p:cNvCxnSpPr>
            <a:cxnSpLocks/>
          </p:cNvCxnSpPr>
          <p:nvPr/>
        </p:nvCxnSpPr>
        <p:spPr>
          <a:xfrm>
            <a:off x="4716000" y="905056"/>
            <a:ext cx="2160000" cy="525128"/>
          </a:xfrm>
          <a:prstGeom prst="bentConnector3">
            <a:avLst>
              <a:gd name="adj1" fmla="val 10062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455CD1A-00C8-C94C-E405-C79994538D2E}"/>
              </a:ext>
            </a:extLst>
          </p:cNvPr>
          <p:cNvCxnSpPr>
            <a:cxnSpLocks/>
          </p:cNvCxnSpPr>
          <p:nvPr/>
        </p:nvCxnSpPr>
        <p:spPr>
          <a:xfrm>
            <a:off x="5796000" y="1167620"/>
            <a:ext cx="963799" cy="262564"/>
          </a:xfrm>
          <a:prstGeom prst="bentConnector3">
            <a:avLst>
              <a:gd name="adj1" fmla="val 9303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52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640E46-0D13-A416-957F-D17380BF5DE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716657" y="2432673"/>
            <a:ext cx="768457" cy="587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88A3-A0FB-45AB-D745-0BA99C9291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D488CFF-80DD-C9D0-D9EE-AD1DFEE2A70E}"/>
              </a:ext>
            </a:extLst>
          </p:cNvPr>
          <p:cNvSpPr txBox="1">
            <a:spLocks/>
          </p:cNvSpPr>
          <p:nvPr/>
        </p:nvSpPr>
        <p:spPr>
          <a:xfrm>
            <a:off x="1188000" y="843750"/>
            <a:ext cx="6192000" cy="26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C6E3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>
                <a:solidFill>
                  <a:srgbClr val="0C6E3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_iter_start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cend);</a:t>
            </a:r>
            <a:b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C6E3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 err="1">
                <a:solidFill>
                  <a:srgbClr val="0C6E3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_iter_has_next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(i)) {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*tep = </a:t>
            </a:r>
            <a:r>
              <a:rPr lang="en-US" sz="1600" dirty="0">
                <a:solidFill>
                  <a:srgbClr val="0C6E3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>
                <a:solidFill>
                  <a:srgbClr val="0C6E3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_iter_next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&amp;size);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te = *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tep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11430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b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1600" b="1" dirty="0">
                <a:solidFill>
                  <a:srgbClr val="04A5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1" dirty="0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TE_PRESENT)) {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1600" b="1" dirty="0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1600" b="1" dirty="0">
                <a:solidFill>
                  <a:srgbClr val="04A5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1" dirty="0">
                <a:solidFill>
                  <a:srgbClr val="04A54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TE_DIRTY))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altLang="zh-CN" sz="1600" b="0" dirty="0" err="1">
                <a:solidFill>
                  <a:srgbClr val="0C6E3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1600" b="0" dirty="0" err="1">
                <a:solidFill>
                  <a:srgbClr val="0C6E3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_iter_end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DB769-FF99-0865-1FD0-398CB3E50977}"/>
              </a:ext>
            </a:extLst>
          </p:cNvPr>
          <p:cNvSpPr/>
          <p:nvPr/>
        </p:nvSpPr>
        <p:spPr>
          <a:xfrm>
            <a:off x="4485114" y="2821367"/>
            <a:ext cx="3470885" cy="398383"/>
          </a:xfrm>
          <a:prstGeom prst="rect">
            <a:avLst/>
          </a:prstGeom>
          <a:solidFill>
            <a:srgbClr val="B8FFC1">
              <a:alpha val="63922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In-place read using an entry pointer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08191-931B-5740-A417-1287A3725A28}"/>
              </a:ext>
            </a:extLst>
          </p:cNvPr>
          <p:cNvSpPr/>
          <p:nvPr/>
        </p:nvSpPr>
        <p:spPr>
          <a:xfrm>
            <a:off x="4716000" y="1718184"/>
            <a:ext cx="3384000" cy="349566"/>
          </a:xfrm>
          <a:prstGeom prst="rect">
            <a:avLst/>
          </a:prstGeom>
          <a:solidFill>
            <a:srgbClr val="B8FFC1">
              <a:alpha val="69804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36000" rtlCol="0" anchor="ctr"/>
          <a:lstStyle/>
          <a:p>
            <a:r>
              <a:rPr lang="en-US" sz="1800" dirty="0">
                <a:solidFill>
                  <a:schemeClr val="tx1"/>
                </a:solidFill>
                <a:latin typeface="Times" pitchFamily="2" charset="0"/>
              </a:rPr>
              <a:t> Use architectural-neural iterators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772073-C163-A5BD-7199-F309E76CDE5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269115" y="2715750"/>
            <a:ext cx="215999" cy="3048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562562D-C161-06C9-2160-5C9CF311644B}"/>
              </a:ext>
            </a:extLst>
          </p:cNvPr>
          <p:cNvCxnSpPr>
            <a:cxnSpLocks/>
          </p:cNvCxnSpPr>
          <p:nvPr/>
        </p:nvCxnSpPr>
        <p:spPr>
          <a:xfrm>
            <a:off x="5709115" y="987750"/>
            <a:ext cx="1944000" cy="730434"/>
          </a:xfrm>
          <a:prstGeom prst="bentConnector3">
            <a:avLst>
              <a:gd name="adj1" fmla="val 10110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A30EDC1-B3FD-537C-6A2C-94A3CE2274A9}"/>
              </a:ext>
            </a:extLst>
          </p:cNvPr>
          <p:cNvCxnSpPr>
            <a:cxnSpLocks/>
          </p:cNvCxnSpPr>
          <p:nvPr/>
        </p:nvCxnSpPr>
        <p:spPr>
          <a:xfrm>
            <a:off x="5133115" y="1275750"/>
            <a:ext cx="2418229" cy="442434"/>
          </a:xfrm>
          <a:prstGeom prst="bentConnector3">
            <a:avLst>
              <a:gd name="adj1" fmla="val 9995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7C1AB0F1-C217-ED44-59D4-DC812B146BF9}"/>
              </a:ext>
            </a:extLst>
          </p:cNvPr>
          <p:cNvCxnSpPr>
            <a:cxnSpLocks/>
          </p:cNvCxnSpPr>
          <p:nvPr/>
        </p:nvCxnSpPr>
        <p:spPr>
          <a:xfrm>
            <a:off x="6213115" y="1491750"/>
            <a:ext cx="1202886" cy="226434"/>
          </a:xfrm>
          <a:prstGeom prst="bentConnector3">
            <a:avLst>
              <a:gd name="adj1" fmla="val 10255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93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0" y="939769"/>
            <a:ext cx="7932751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vunmap_pmd_range(pmd,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addr, 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u="wavyHeavy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pmd_offset</a:t>
            </a:r>
            <a:r>
              <a:rPr lang="en-US" altLang="zh-CN" sz="1600" b="1" u="wavyHeavy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u="wavyHeavy" dirty="0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pud</a:t>
            </a:r>
            <a:r>
              <a:rPr lang="en-US" altLang="zh-CN" sz="1600" b="1" u="wavyHeavy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addr)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zh-CN" altLang="en-US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try remove huge page entry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cleared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pmd_clear_huge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(pmd);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600" b="1" u="wavyHeavy" dirty="0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pmd_none_or_clear_bad</a:t>
            </a:r>
            <a:r>
              <a:rPr lang="en-US" altLang="zh-CN" sz="1600" b="1" u="wavyHeavy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(pmd)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continue;</a:t>
            </a:r>
          </a:p>
          <a:p>
            <a:r>
              <a:rPr lang="zh-CN" alt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try remove underlying PTEs</a:t>
            </a:r>
          </a:p>
          <a:p>
            <a: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vunmap_pte_range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(pmd, addr, next, mask);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}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600" b="1" u="wavyHeavy" dirty="0">
                <a:solidFill>
                  <a:srgbClr val="C00000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pmd++</a:t>
            </a:r>
            <a:r>
              <a:rPr lang="en-US" altLang="zh-CN" sz="1600" dirty="0">
                <a:solidFill>
                  <a:srgbClr val="24292E"/>
                </a:solidFill>
                <a:effectLst/>
                <a:uFill>
                  <a:solidFill>
                    <a:srgbClr val="FFC000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addr = next, addr != end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06FAE-F613-CAD0-E171-9458E4AA3DF0}"/>
              </a:ext>
            </a:extLst>
          </p:cNvPr>
          <p:cNvSpPr/>
          <p:nvPr/>
        </p:nvSpPr>
        <p:spPr>
          <a:xfrm>
            <a:off x="4637314" y="1030739"/>
            <a:ext cx="3429000" cy="66470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/>
              <a:t>Find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2MB</a:t>
            </a:r>
            <a:r>
              <a:rPr lang="zh-CN" altLang="en-US" sz="1800" dirty="0"/>
              <a:t> </a:t>
            </a:r>
            <a:r>
              <a:rPr lang="en-US" altLang="zh-CN" sz="1800" dirty="0"/>
              <a:t>entry</a:t>
            </a:r>
            <a:r>
              <a:rPr lang="zh-CN" altLang="en-US" sz="1800" dirty="0"/>
              <a:t> </a:t>
            </a:r>
            <a:r>
              <a:rPr lang="en-US" altLang="zh-CN" sz="1800" dirty="0"/>
              <a:t>(PMD)</a:t>
            </a:r>
            <a:r>
              <a:rPr lang="zh-CN" altLang="en-US" sz="1800" dirty="0"/>
              <a:t> </a:t>
            </a:r>
            <a:r>
              <a:rPr lang="en-US" altLang="zh-CN" sz="1800" dirty="0"/>
              <a:t>from</a:t>
            </a:r>
            <a:r>
              <a:rPr lang="zh-CN" altLang="en-US" sz="1800" dirty="0"/>
              <a:t> </a:t>
            </a:r>
            <a:r>
              <a:rPr lang="en-US" altLang="zh-CN" sz="1800" dirty="0"/>
              <a:t>the</a:t>
            </a:r>
            <a:r>
              <a:rPr lang="zh-CN" altLang="en-US" sz="1800" dirty="0"/>
              <a:t> </a:t>
            </a:r>
            <a:r>
              <a:rPr lang="en-US" altLang="zh-CN" sz="1800" dirty="0"/>
              <a:t>addr</a:t>
            </a:r>
            <a:r>
              <a:rPr lang="zh-CN" altLang="en-US" sz="1800" dirty="0"/>
              <a:t> </a:t>
            </a:r>
            <a:r>
              <a:rPr lang="en-US" altLang="zh-CN" sz="1800" dirty="0"/>
              <a:t>of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1GB</a:t>
            </a:r>
            <a:r>
              <a:rPr lang="zh-CN" altLang="en-US" sz="1800" dirty="0"/>
              <a:t> </a:t>
            </a:r>
            <a:r>
              <a:rPr lang="en-US" altLang="zh-CN" sz="1800" dirty="0"/>
              <a:t>entry</a:t>
            </a:r>
            <a:r>
              <a:rPr lang="zh-CN" altLang="en-US" sz="1800" dirty="0"/>
              <a:t> </a:t>
            </a:r>
            <a:r>
              <a:rPr lang="en-US" altLang="zh-CN" sz="1800" dirty="0"/>
              <a:t>(PUD)</a:t>
            </a: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14DD3-B6EA-1864-5B12-F3BADD9C965B}"/>
              </a:ext>
            </a:extLst>
          </p:cNvPr>
          <p:cNvSpPr/>
          <p:nvPr/>
        </p:nvSpPr>
        <p:spPr>
          <a:xfrm>
            <a:off x="2391344" y="3996742"/>
            <a:ext cx="4836392" cy="396685"/>
          </a:xfrm>
          <a:prstGeom prst="rect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/>
              <a:t>The</a:t>
            </a:r>
            <a:r>
              <a:rPr lang="zh-CN" altLang="en-US" sz="1800"/>
              <a:t> </a:t>
            </a:r>
            <a:r>
              <a:rPr lang="en-US" altLang="zh-CN" sz="1800" dirty="0"/>
              <a:t>iterator</a:t>
            </a:r>
            <a:r>
              <a:rPr lang="zh-CN" altLang="en-US" sz="1800"/>
              <a:t> </a:t>
            </a:r>
            <a:r>
              <a:rPr lang="en-US" altLang="zh-CN" sz="1800" dirty="0"/>
              <a:t>assumes</a:t>
            </a:r>
            <a:r>
              <a:rPr lang="zh-CN" altLang="en-US" sz="1800"/>
              <a:t> </a:t>
            </a:r>
            <a:r>
              <a:rPr lang="en-US" altLang="zh-CN" sz="1800" dirty="0"/>
              <a:t>spatial</a:t>
            </a:r>
            <a:r>
              <a:rPr lang="zh-CN" altLang="en-US" sz="1800"/>
              <a:t> </a:t>
            </a:r>
            <a:r>
              <a:rPr lang="en-US" altLang="zh-CN" sz="1800" dirty="0"/>
              <a:t>locality</a:t>
            </a:r>
            <a:r>
              <a:rPr lang="zh-CN" altLang="en-US" sz="1800"/>
              <a:t> </a:t>
            </a:r>
            <a:r>
              <a:rPr lang="en-US" altLang="zh-CN" sz="1800" dirty="0"/>
              <a:t>of</a:t>
            </a:r>
            <a:r>
              <a:rPr lang="zh-CN" altLang="en-US" sz="1800"/>
              <a:t> </a:t>
            </a:r>
            <a:r>
              <a:rPr lang="en-US" altLang="zh-CN" sz="1800" dirty="0"/>
              <a:t>entries</a:t>
            </a:r>
            <a:endParaRPr lang="en-US" sz="1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04F036-34D1-E1D5-8B01-05EBEB699E91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958636" y="4195085"/>
            <a:ext cx="432708" cy="263329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09BDEA-0645-BD5D-7D37-3BD6AB95E8F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28621" y="1363093"/>
            <a:ext cx="908693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C5165-D85C-6560-2BB5-E04FCB59A534}"/>
              </a:ext>
            </a:extLst>
          </p:cNvPr>
          <p:cNvSpPr/>
          <p:nvPr/>
        </p:nvSpPr>
        <p:spPr>
          <a:xfrm>
            <a:off x="4637314" y="2002119"/>
            <a:ext cx="3927021" cy="1065594"/>
          </a:xfrm>
          <a:prstGeom prst="rect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Overloaded</a:t>
            </a:r>
            <a:r>
              <a:rPr lang="zh-CN" altLang="en-US" sz="1600"/>
              <a:t> </a:t>
            </a:r>
            <a:r>
              <a:rPr lang="en-US" altLang="zh-CN" sz="1600" dirty="0"/>
              <a:t>semantics:</a:t>
            </a:r>
            <a:r>
              <a:rPr lang="zh-CN" altLang="en-US" sz="1600"/>
              <a:t> </a:t>
            </a:r>
            <a:r>
              <a:rPr lang="en-US" altLang="zh-CN" sz="1600" dirty="0"/>
              <a:t>(1)</a:t>
            </a:r>
            <a:r>
              <a:rPr lang="zh-CN" altLang="en-US" sz="1600"/>
              <a:t> </a:t>
            </a:r>
            <a:r>
              <a:rPr lang="en-US" altLang="zh-CN" sz="1600" dirty="0"/>
              <a:t>the</a:t>
            </a:r>
            <a:r>
              <a:rPr lang="zh-CN" altLang="en-US" sz="1600"/>
              <a:t> </a:t>
            </a:r>
            <a:r>
              <a:rPr lang="en-US" altLang="zh-CN" sz="1600" dirty="0"/>
              <a:t>entry</a:t>
            </a:r>
            <a:r>
              <a:rPr lang="zh-CN" altLang="en-US" sz="1600"/>
              <a:t> </a:t>
            </a:r>
            <a:r>
              <a:rPr lang="en-US" altLang="zh-CN" sz="1600" dirty="0"/>
              <a:t>not</a:t>
            </a:r>
            <a:r>
              <a:rPr lang="zh-CN" altLang="en-US" sz="1600"/>
              <a:t> </a:t>
            </a:r>
            <a:r>
              <a:rPr lang="en-US" altLang="zh-CN" sz="1600" dirty="0"/>
              <a:t>pointing</a:t>
            </a:r>
            <a:r>
              <a:rPr lang="zh-CN" altLang="en-US" sz="1600"/>
              <a:t> </a:t>
            </a:r>
            <a:r>
              <a:rPr lang="en-US" altLang="zh-CN" sz="1600" dirty="0"/>
              <a:t>to</a:t>
            </a:r>
            <a:r>
              <a:rPr lang="zh-CN" altLang="en-US" sz="1600"/>
              <a:t> </a:t>
            </a:r>
            <a:r>
              <a:rPr lang="en-US" altLang="zh-CN" sz="1600" dirty="0"/>
              <a:t>a</a:t>
            </a:r>
            <a:r>
              <a:rPr lang="zh-CN" altLang="en-US" sz="1600"/>
              <a:t> </a:t>
            </a:r>
            <a:r>
              <a:rPr lang="en-US" altLang="zh-CN" sz="1600" dirty="0"/>
              <a:t>huge</a:t>
            </a:r>
            <a:r>
              <a:rPr lang="zh-CN" altLang="en-US" sz="1600"/>
              <a:t> </a:t>
            </a:r>
            <a:r>
              <a:rPr lang="en-US" altLang="zh-CN" sz="1600" dirty="0"/>
              <a:t>page,</a:t>
            </a:r>
            <a:r>
              <a:rPr lang="zh-CN" altLang="en-US" sz="1600"/>
              <a:t> </a:t>
            </a:r>
            <a:r>
              <a:rPr lang="en-US" altLang="zh-CN" sz="1600" i="1" dirty="0"/>
              <a:t>and</a:t>
            </a:r>
            <a:r>
              <a:rPr lang="zh-CN" altLang="en-US" sz="1600"/>
              <a:t> </a:t>
            </a:r>
            <a:r>
              <a:rPr lang="en-US" altLang="zh-CN" sz="1600" dirty="0"/>
              <a:t>(2)</a:t>
            </a:r>
            <a:r>
              <a:rPr lang="zh-CN" altLang="en-US" sz="1600"/>
              <a:t> </a:t>
            </a:r>
            <a:r>
              <a:rPr lang="en-US" altLang="zh-CN" sz="1600" dirty="0"/>
              <a:t>the</a:t>
            </a:r>
            <a:r>
              <a:rPr lang="zh-CN" altLang="en-US" sz="1600"/>
              <a:t> </a:t>
            </a:r>
            <a:r>
              <a:rPr lang="en-US" altLang="zh-CN" sz="1600" dirty="0"/>
              <a:t>entry</a:t>
            </a:r>
            <a:r>
              <a:rPr lang="zh-CN" altLang="en-US" sz="1600"/>
              <a:t> </a:t>
            </a:r>
            <a:r>
              <a:rPr lang="en-US" altLang="zh-CN" sz="1600" dirty="0"/>
              <a:t>is</a:t>
            </a:r>
            <a:r>
              <a:rPr lang="zh-CN" altLang="en-US" sz="1600"/>
              <a:t> </a:t>
            </a:r>
            <a:r>
              <a:rPr lang="en-US" altLang="zh-CN" sz="1600" dirty="0"/>
              <a:t>not</a:t>
            </a:r>
            <a:r>
              <a:rPr lang="zh-CN" altLang="en-US" sz="1600"/>
              <a:t> </a:t>
            </a:r>
            <a:r>
              <a:rPr lang="en-US" altLang="zh-CN" sz="1600" dirty="0"/>
              <a:t>a</a:t>
            </a:r>
            <a:r>
              <a:rPr lang="zh-CN" altLang="en-US" sz="1600"/>
              <a:t> </a:t>
            </a:r>
            <a:r>
              <a:rPr lang="en-US" altLang="zh-CN" sz="1600" dirty="0"/>
              <a:t>directory,</a:t>
            </a:r>
            <a:r>
              <a:rPr lang="zh-CN" altLang="en-US" sz="1600"/>
              <a:t> </a:t>
            </a:r>
            <a:r>
              <a:rPr lang="en-US" altLang="zh-CN" sz="1600" i="1" dirty="0"/>
              <a:t>and</a:t>
            </a:r>
            <a:r>
              <a:rPr lang="zh-CN" altLang="en-US" sz="1600"/>
              <a:t> </a:t>
            </a:r>
            <a:r>
              <a:rPr lang="en-US" altLang="zh-CN" sz="1600" dirty="0"/>
              <a:t>(3)</a:t>
            </a:r>
            <a:r>
              <a:rPr lang="zh-CN" altLang="en-US" sz="1600"/>
              <a:t> </a:t>
            </a:r>
            <a:r>
              <a:rPr lang="en-US" altLang="zh-CN" sz="1600" dirty="0"/>
              <a:t>no</a:t>
            </a:r>
            <a:r>
              <a:rPr lang="zh-CN" altLang="en-US" sz="1600"/>
              <a:t> </a:t>
            </a:r>
            <a:r>
              <a:rPr lang="en-US" altLang="zh-CN" sz="1600" dirty="0"/>
              <a:t>4KB</a:t>
            </a:r>
            <a:r>
              <a:rPr lang="zh-CN" altLang="en-US" sz="1600"/>
              <a:t> </a:t>
            </a:r>
            <a:r>
              <a:rPr lang="en-US" altLang="zh-CN" sz="1600" dirty="0"/>
              <a:t>entries</a:t>
            </a:r>
            <a:r>
              <a:rPr lang="zh-CN" altLang="en-US" sz="1600"/>
              <a:t> </a:t>
            </a:r>
            <a:r>
              <a:rPr lang="en-US" altLang="zh-CN" sz="1600" dirty="0"/>
              <a:t>(PTEs)</a:t>
            </a:r>
            <a:r>
              <a:rPr lang="zh-CN" altLang="en-US" sz="1600"/>
              <a:t> </a:t>
            </a:r>
            <a:r>
              <a:rPr lang="en-US" altLang="zh-CN" sz="1600" dirty="0"/>
              <a:t>in</a:t>
            </a:r>
            <a:r>
              <a:rPr lang="zh-CN" altLang="en-US" sz="1600"/>
              <a:t> </a:t>
            </a:r>
            <a:r>
              <a:rPr lang="en-US" altLang="zh-CN" sz="1600" dirty="0"/>
              <a:t>the</a:t>
            </a:r>
            <a:r>
              <a:rPr lang="zh-CN" altLang="en-US" sz="1600"/>
              <a:t> </a:t>
            </a:r>
            <a:r>
              <a:rPr lang="en-US" altLang="zh-CN" sz="1600" dirty="0"/>
              <a:t>2MB</a:t>
            </a:r>
            <a:r>
              <a:rPr lang="zh-CN" altLang="en-US" sz="1600"/>
              <a:t> </a:t>
            </a:r>
            <a:r>
              <a:rPr lang="en-US" altLang="zh-CN" sz="1600" dirty="0"/>
              <a:t>range</a:t>
            </a:r>
            <a:endParaRPr lang="en-US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43AC83-5260-7606-C190-6B273EF3F86D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154750" y="2534916"/>
            <a:ext cx="482564" cy="269495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1616992D-D78D-FD88-1235-B22CC8309F13}"/>
              </a:ext>
            </a:extLst>
          </p:cNvPr>
          <p:cNvSpPr txBox="1">
            <a:spLocks/>
          </p:cNvSpPr>
          <p:nvPr/>
        </p:nvSpPr>
        <p:spPr>
          <a:xfrm>
            <a:off x="548708" y="4574957"/>
            <a:ext cx="2012580" cy="39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mm/vmalloc.c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5998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0" y="939769"/>
            <a:ext cx="7932751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 walk_pte_range(mm, addr,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end)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spinlock_t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ptl;</a:t>
            </a:r>
            <a:b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</a:rPr>
              <a:t>  // only locked once for batched operations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pte_t *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pte </a:t>
            </a:r>
            <a:r>
              <a:rPr lang="en-US" altLang="zh-CN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u="wavyHeavy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pte_offset_map_lock</a:t>
            </a:r>
            <a:r>
              <a:rPr lang="en-US" altLang="zh-CN" sz="1600" b="1" u="wavyHeavy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(mm, </a:t>
            </a:r>
            <a:r>
              <a:rPr lang="en-US" altLang="zh-CN" sz="1600" b="1" u="wavyHeavy" dirty="0">
                <a:solidFill>
                  <a:srgbClr val="24292E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pmd</a:t>
            </a:r>
            <a:r>
              <a:rPr lang="en-US" altLang="zh-CN" sz="1600" b="1" u="wavyHeavy" dirty="0">
                <a:solidFill>
                  <a:srgbClr val="24292E"/>
                </a:solidFill>
                <a:effectLst/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  <a:cs typeface="Consolas" panose="020B0609020204030204" pitchFamily="49" charset="0"/>
              </a:rPr>
              <a:t>, addr, &amp;ptl)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(;;)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zh-CN" altLang="en-US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</a:t>
            </a:r>
            <a:r>
              <a:rPr lang="en-US" altLang="zh-CN" sz="1600" dirty="0">
                <a:solidFill>
                  <a:srgbClr val="6A73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custom function to update entries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err = ops-&gt;</a:t>
            </a:r>
            <a:r>
              <a:rPr lang="en-US" altLang="zh-CN" sz="1600" b="1" u="wavyHeavy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pte_entry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(pte, addr, addr + PAGE_SIZE, walk);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addr += PAGE_SIZE;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u="wavyHeavy" dirty="0">
                <a:solidFill>
                  <a:srgbClr val="C00000"/>
                </a:solidFill>
                <a:uFill>
                  <a:solidFill>
                    <a:schemeClr val="accent4"/>
                  </a:solidFill>
                </a:uFill>
                <a:latin typeface="Consolas" panose="020B0609020204030204" pitchFamily="49" charset="0"/>
              </a:rPr>
              <a:t>pte++</a:t>
            </a:r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6A73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}</a:t>
            </a:r>
          </a:p>
          <a:p>
            <a:r>
              <a:rPr lang="en-US" altLang="zh-CN" sz="1600" dirty="0">
                <a:solidFill>
                  <a:srgbClr val="24292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pte_unmap_unlock(pte, ptl);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1616992D-D78D-FD88-1235-B22CC8309F13}"/>
              </a:ext>
            </a:extLst>
          </p:cNvPr>
          <p:cNvSpPr txBox="1">
            <a:spLocks/>
          </p:cNvSpPr>
          <p:nvPr/>
        </p:nvSpPr>
        <p:spPr>
          <a:xfrm>
            <a:off x="534345" y="4330798"/>
            <a:ext cx="2012580" cy="39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mm/pagewalk.c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1B5DF-9419-1DFA-5B0D-0FA782CB85BD}"/>
              </a:ext>
            </a:extLst>
          </p:cNvPr>
          <p:cNvSpPr/>
          <p:nvPr/>
        </p:nvSpPr>
        <p:spPr>
          <a:xfrm>
            <a:off x="5159144" y="1993012"/>
            <a:ext cx="3429000" cy="66470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Lock only once for batched operations to save overhead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A0C84D-2BBE-FA0E-076B-BA39EE0DEADB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141131" y="2025085"/>
            <a:ext cx="1018013" cy="300281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C3111-4E93-465F-0ED1-3096EA27D5BD}"/>
              </a:ext>
            </a:extLst>
          </p:cNvPr>
          <p:cNvSpPr/>
          <p:nvPr/>
        </p:nvSpPr>
        <p:spPr>
          <a:xfrm>
            <a:off x="4053247" y="3069717"/>
            <a:ext cx="3927021" cy="611820"/>
          </a:xfrm>
          <a:prstGeom prst="rect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A custom function use PTE pointer to perform in-place attribute update</a:t>
            </a:r>
            <a:endParaRPr lang="en-US" sz="1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9786D7-3E06-36BC-73F7-1D4F282C2E0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413441" y="3040021"/>
            <a:ext cx="639806" cy="33560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11D10-BF26-E10F-F65F-D473B443C3AE}"/>
              </a:ext>
            </a:extLst>
          </p:cNvPr>
          <p:cNvSpPr/>
          <p:nvPr/>
        </p:nvSpPr>
        <p:spPr>
          <a:xfrm>
            <a:off x="3147624" y="3743947"/>
            <a:ext cx="3927021" cy="611820"/>
          </a:xfrm>
          <a:prstGeom prst="rect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Exploit PTE adjacency to reduce software page walk overhead</a:t>
            </a:r>
            <a:endParaRPr lang="en-US" sz="16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B7DB7C-757B-7B47-9401-BA92100BCD4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756988" y="3557064"/>
            <a:ext cx="1390636" cy="492793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1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1" y="939769"/>
            <a:ext cx="325920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vunmap_range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end) {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te_iter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*i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tentry_iter_start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end);</a:t>
            </a:r>
          </a:p>
          <a:p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tentry_iter_has_next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(i)) {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size;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*te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(i, &amp;size);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read_tentry_attr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(*te, TE_PRESENT))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dispose_tentry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delete_tentry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te));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64F85-5BDA-AF39-9B28-AD1FD59B62FF}"/>
              </a:ext>
            </a:extLst>
          </p:cNvPr>
          <p:cNvSpPr txBox="1"/>
          <p:nvPr/>
        </p:nvSpPr>
        <p:spPr>
          <a:xfrm>
            <a:off x="2412000" y="1275750"/>
            <a:ext cx="1152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Arch-neutral iterator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E66F70-428B-CC08-2F55-7647B5209A8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980000" y="1203750"/>
            <a:ext cx="432000" cy="180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A00C24-5548-A1B6-2F44-943E5F3FE2B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052000" y="1383750"/>
            <a:ext cx="360000" cy="3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502852-C832-F66A-E174-90682E4465F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052000" y="1383750"/>
            <a:ext cx="360000" cy="252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CAC6F7-ED53-E85F-6148-4879CA58053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20000" y="1383750"/>
            <a:ext cx="792000" cy="111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7A66568-3C1B-E1E0-767F-47A531C2C899}"/>
              </a:ext>
            </a:extLst>
          </p:cNvPr>
          <p:cNvSpPr txBox="1"/>
          <p:nvPr/>
        </p:nvSpPr>
        <p:spPr>
          <a:xfrm>
            <a:off x="2412000" y="1563750"/>
            <a:ext cx="1152000" cy="28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access </a:t>
            </a:r>
            <a:r>
              <a:rPr lang="en-US" altLang="zh-CN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entry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638747-6AF6-6B14-5935-198424A172E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196000" y="1707750"/>
            <a:ext cx="216000" cy="288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A0A701-1DFC-20B7-408D-A74BA313556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620000" y="1707750"/>
            <a:ext cx="792000" cy="14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9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814E-E58B-E2D6-71C2-3EC5918A62EC}"/>
              </a:ext>
            </a:extLst>
          </p:cNvPr>
          <p:cNvSpPr txBox="1"/>
          <p:nvPr/>
        </p:nvSpPr>
        <p:spPr>
          <a:xfrm>
            <a:off x="304801" y="939769"/>
            <a:ext cx="32592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walk_range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mm, addr, 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addr_lock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*lock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addr_lock_range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end);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te_iter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*i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tentry_iter_start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end);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tentry_iter_has_next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(i)) {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size;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*te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(i, &amp;size);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// a custom function to update entries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err = </a:t>
            </a:r>
            <a:r>
              <a:rPr lang="en-US" sz="8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ops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addr, addr + size, walk);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addr += size;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tentry_iter_end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addr_unlock_range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(lock);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8A5AD-7538-8938-8E50-303095AFE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42D96-89F1-A31F-0835-335F697D235F}"/>
              </a:ext>
            </a:extLst>
          </p:cNvPr>
          <p:cNvSpPr txBox="1"/>
          <p:nvPr/>
        </p:nvSpPr>
        <p:spPr>
          <a:xfrm>
            <a:off x="2412000" y="1275750"/>
            <a:ext cx="1152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batched lock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46CB54-BA50-C7AD-AB96-07FD65086E66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2052000" y="1203750"/>
            <a:ext cx="360000" cy="180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217695-78DF-7C10-29AA-E44EE04F9E9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92000" y="1383750"/>
            <a:ext cx="720000" cy="1188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5D892F-55E0-759F-EA74-09F3372B701B}"/>
              </a:ext>
            </a:extLst>
          </p:cNvPr>
          <p:cNvSpPr txBox="1"/>
          <p:nvPr/>
        </p:nvSpPr>
        <p:spPr>
          <a:xfrm>
            <a:off x="2412000" y="1635750"/>
            <a:ext cx="1152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delegate work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4BA61E-2067-8516-83ED-342A72F97082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764000" y="1743750"/>
            <a:ext cx="648000" cy="252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894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1E49F-B4A5-D7E2-2FAE-E179BA65D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8" y="1131750"/>
            <a:ext cx="3048000" cy="2376626"/>
          </a:xfrm>
        </p:spPr>
        <p:txBody>
          <a:bodyPr lIns="0" tIns="0" rIns="0" bIns="0">
            <a:noAutofit/>
          </a:bodyPr>
          <a:lstStyle/>
          <a:p>
            <a:pPr marL="114300" indent="0">
              <a:buNone/>
            </a:pPr>
            <a:r>
              <a:rPr lang="en-US" sz="8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*ptep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pte_offset_map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(pmd, va);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(; addr &lt; cend; addr += PAGE_SIZE, ptep++)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pte = *ptep;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pa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pte_pfn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 &lt;&lt; PAGE_SHIFT;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(!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pte_none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pte_dirty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(pte))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sz="8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1AA27-787A-A39A-FD06-47F26D8CC2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EC08A81-10EA-0A5E-35AE-8182A20F123A}"/>
              </a:ext>
            </a:extLst>
          </p:cNvPr>
          <p:cNvSpPr txBox="1">
            <a:spLocks/>
          </p:cNvSpPr>
          <p:nvPr/>
        </p:nvSpPr>
        <p:spPr>
          <a:xfrm>
            <a:off x="6096000" y="1131750"/>
            <a:ext cx="30480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EMT interface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 walk for Radix, N(iter) / 8 walks for ECPT</a:t>
            </a:r>
          </a:p>
          <a:p>
            <a:pPr marL="114300" indent="0">
              <a:buNone/>
            </a:pP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te_iter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*i = 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_iter_start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cend);</a:t>
            </a: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_iter_has_next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// arch-defined iteration progression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size;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*tep = 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&amp;size);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te = *tep;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pa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TE_PADDR);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TE_PRESENT))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TE_DIRTY))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13986A-0E9A-A529-B402-01BA74D0CDB3}"/>
              </a:ext>
            </a:extLst>
          </p:cNvPr>
          <p:cNvSpPr txBox="1"/>
          <p:nvPr/>
        </p:nvSpPr>
        <p:spPr>
          <a:xfrm>
            <a:off x="4572000" y="2275350"/>
            <a:ext cx="1224000" cy="2244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walk everytime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C0B739-9BFD-383F-B5FC-C3FD8C0C95B4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4644000" y="2131350"/>
            <a:ext cx="540000" cy="14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C58A6E-CBFD-E699-D3F2-CCECC5F7CB13}"/>
              </a:ext>
            </a:extLst>
          </p:cNvPr>
          <p:cNvSpPr txBox="1"/>
          <p:nvPr/>
        </p:nvSpPr>
        <p:spPr>
          <a:xfrm>
            <a:off x="4428000" y="3003750"/>
            <a:ext cx="1224000" cy="360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pointer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rewalk the table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F7CE46-31E8-88C4-9AFD-729944EFEFE4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4789583" y="2787750"/>
            <a:ext cx="250417" cy="21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83A0911-866D-9D2B-FBA3-01E1D5264429}"/>
              </a:ext>
            </a:extLst>
          </p:cNvPr>
          <p:cNvSpPr txBox="1"/>
          <p:nvPr/>
        </p:nvSpPr>
        <p:spPr>
          <a:xfrm>
            <a:off x="8028000" y="1635750"/>
            <a:ext cx="1116000" cy="360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Arch. may define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iterator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1DD271-AFC4-6E77-D0EF-3852A5E40934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7740000" y="1815750"/>
            <a:ext cx="288000" cy="32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2C986D5-C63F-39C0-88C3-D89CAA80CA69}"/>
              </a:ext>
            </a:extLst>
          </p:cNvPr>
          <p:cNvSpPr txBox="1"/>
          <p:nvPr/>
        </p:nvSpPr>
        <p:spPr>
          <a:xfrm>
            <a:off x="8244000" y="2427750"/>
            <a:ext cx="720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In-place read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25BA5B0-8C34-9531-5974-39F4E8705280}"/>
              </a:ext>
            </a:extLst>
          </p:cNvPr>
          <p:cNvCxnSpPr>
            <a:cxnSpLocks/>
            <a:stCxn id="66" idx="1"/>
          </p:cNvCxnSpPr>
          <p:nvPr/>
        </p:nvCxnSpPr>
        <p:spPr>
          <a:xfrm flipH="1" flipV="1">
            <a:off x="7524000" y="2499750"/>
            <a:ext cx="720000" cy="3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9407BD2-C1B3-0877-40E6-774C9850B242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7380000" y="2535750"/>
            <a:ext cx="864000" cy="180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F7F4078-025B-5061-34AD-B7165322A3C9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8028000" y="2535750"/>
            <a:ext cx="216000" cy="32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1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1E49F-B4A5-D7E2-2FAE-E179BA65D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8" y="1131750"/>
            <a:ext cx="3048000" cy="2376626"/>
          </a:xfrm>
        </p:spPr>
        <p:txBody>
          <a:bodyPr lIns="0" tIns="0" rIns="0" bIns="0">
            <a:noAutofit/>
          </a:bodyPr>
          <a:lstStyle/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Linux interface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 walk for Radix, ECPT unsupported</a:t>
            </a:r>
          </a:p>
          <a:p>
            <a:pPr marL="114300" indent="0">
              <a:buNone/>
            </a:pP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*ptep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pte_offset_map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(pmd, va);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(; addr &lt; cend; addr += PAGE_SIZE, ptep++)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pte = *ptep;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pa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pte_pfn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 &lt;&lt; PAGE_SHIFT;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(!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pte_none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pte_dirty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(pte))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sz="8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1AA27-787A-A39A-FD06-47F26D8CC2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DF3A57-250B-4EF3-5504-614616103C3A}"/>
              </a:ext>
            </a:extLst>
          </p:cNvPr>
          <p:cNvSpPr txBox="1">
            <a:spLocks/>
          </p:cNvSpPr>
          <p:nvPr/>
        </p:nvSpPr>
        <p:spPr>
          <a:xfrm>
            <a:off x="3053458" y="1131750"/>
            <a:ext cx="3042542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pmap interface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N(iter) * 2 walks for Radix and ECPT</a:t>
            </a:r>
          </a:p>
          <a:p>
            <a:pPr marL="114300" indent="0">
              <a:buNone/>
            </a:pP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kern_mincore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(...) {</a:t>
            </a:r>
            <a:endParaRPr lang="en-US" sz="800" b="0" dirty="0">
              <a:solidFill>
                <a:schemeClr val="bg1">
                  <a:lumMod val="50000"/>
                </a:schemeClr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(; addr &lt; cend; addr += PAGE_SIZE)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mincoreinfo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pmap_mincore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(pmap, addr, &amp;pa);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Get page m from addr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(m !=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&amp;&amp;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pmap_is_modified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(m))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800" b="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CN" sz="800" b="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 </a:t>
            </a:r>
            <a:r>
              <a:rPr lang="en-US" sz="800" b="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sys/vm/vm_mmap.c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EC08A81-10EA-0A5E-35AE-8182A20F123A}"/>
              </a:ext>
            </a:extLst>
          </p:cNvPr>
          <p:cNvSpPr txBox="1">
            <a:spLocks/>
          </p:cNvSpPr>
          <p:nvPr/>
        </p:nvSpPr>
        <p:spPr>
          <a:xfrm>
            <a:off x="6096000" y="1131750"/>
            <a:ext cx="30480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EMT interface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 walk for Radix, N(iter) / 8 walks for ECPT</a:t>
            </a:r>
          </a:p>
          <a:p>
            <a:pPr marL="114300" indent="0">
              <a:buNone/>
            </a:pP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te_iter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*i = 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_iter_start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(mm, addr, cend);</a:t>
            </a: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_iter_has_next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// arch-defined iteration progression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size;</a:t>
            </a:r>
            <a:endParaRPr lang="en-US" sz="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*tep = 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_iter_next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&amp;size);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te = *tep;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pa =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TE_PADDR);</a:t>
            </a:r>
          </a:p>
          <a:p>
            <a:pPr marL="114300" indent="0"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TE_PRESENT)) {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F08C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 &amp;&amp; 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</a:t>
            </a:r>
            <a:r>
              <a:rPr lang="en-US" sz="800" dirty="0">
                <a:solidFill>
                  <a:srgbClr val="74531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_attr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(te, TE_DIRTY))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...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pPr marL="114300" indent="0"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tentry</a:t>
            </a:r>
            <a:r>
              <a:rPr lang="en-US" sz="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_iter_end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F1845-9958-F680-56F2-EE24D7F6997D}"/>
              </a:ext>
            </a:extLst>
          </p:cNvPr>
          <p:cNvSpPr txBox="1"/>
          <p:nvPr/>
        </p:nvSpPr>
        <p:spPr>
          <a:xfrm>
            <a:off x="1908000" y="1275750"/>
            <a:ext cx="1152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Assumes radix layout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AFD7E-E22F-4560-9242-C8C6A3A21C55}"/>
              </a:ext>
            </a:extLst>
          </p:cNvPr>
          <p:cNvSpPr txBox="1"/>
          <p:nvPr/>
        </p:nvSpPr>
        <p:spPr>
          <a:xfrm>
            <a:off x="1620000" y="1995750"/>
            <a:ext cx="1371600" cy="360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pointer to in-place read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need to rewalk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F7BB7C-281B-E57C-62B2-E5E09527C9F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404000" y="2175750"/>
            <a:ext cx="216000" cy="39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190563-0C9B-4701-3D9B-ECB584FF409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340000" y="1491750"/>
            <a:ext cx="144000" cy="360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56271D-2DAC-BF1B-0409-0FD79C381EB9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620000" y="1491750"/>
            <a:ext cx="864000" cy="72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13986A-0E9A-A529-B402-01BA74D0CDB3}"/>
              </a:ext>
            </a:extLst>
          </p:cNvPr>
          <p:cNvSpPr txBox="1"/>
          <p:nvPr/>
        </p:nvSpPr>
        <p:spPr>
          <a:xfrm>
            <a:off x="4572000" y="2275350"/>
            <a:ext cx="1224000" cy="2244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walk everytime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C0B739-9BFD-383F-B5FC-C3FD8C0C95B4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4644000" y="2131350"/>
            <a:ext cx="540000" cy="14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C58A6E-CBFD-E699-D3F2-CCECC5F7CB13}"/>
              </a:ext>
            </a:extLst>
          </p:cNvPr>
          <p:cNvSpPr txBox="1"/>
          <p:nvPr/>
        </p:nvSpPr>
        <p:spPr>
          <a:xfrm>
            <a:off x="4428000" y="3003750"/>
            <a:ext cx="1224000" cy="360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pointer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rewalk the table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F7CE46-31E8-88C4-9AFD-729944EFEFE4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4789583" y="2787750"/>
            <a:ext cx="250417" cy="21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C1F2003-76CF-A8B8-6199-D83CA7554C6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88000" y="2175750"/>
            <a:ext cx="432000" cy="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83A0911-866D-9D2B-FBA3-01E1D5264429}"/>
              </a:ext>
            </a:extLst>
          </p:cNvPr>
          <p:cNvSpPr txBox="1"/>
          <p:nvPr/>
        </p:nvSpPr>
        <p:spPr>
          <a:xfrm>
            <a:off x="8028000" y="1635750"/>
            <a:ext cx="1116000" cy="360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Arch. may define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iterator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1DD271-AFC4-6E77-D0EF-3852A5E40934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7740000" y="1815750"/>
            <a:ext cx="288000" cy="32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2C986D5-C63F-39C0-88C3-D89CAA80CA69}"/>
              </a:ext>
            </a:extLst>
          </p:cNvPr>
          <p:cNvSpPr txBox="1"/>
          <p:nvPr/>
        </p:nvSpPr>
        <p:spPr>
          <a:xfrm>
            <a:off x="8244000" y="2427750"/>
            <a:ext cx="720000" cy="216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In-place read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CB8704F-ADE9-C245-D5FF-8D58C55C17B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88000" y="2175750"/>
            <a:ext cx="432000" cy="252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25BA5B0-8C34-9531-5974-39F4E8705280}"/>
              </a:ext>
            </a:extLst>
          </p:cNvPr>
          <p:cNvCxnSpPr>
            <a:cxnSpLocks/>
            <a:stCxn id="66" idx="1"/>
          </p:cNvCxnSpPr>
          <p:nvPr/>
        </p:nvCxnSpPr>
        <p:spPr>
          <a:xfrm flipH="1" flipV="1">
            <a:off x="7524000" y="2499750"/>
            <a:ext cx="720000" cy="36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9407BD2-C1B3-0877-40E6-774C9850B242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7380000" y="2535750"/>
            <a:ext cx="864000" cy="180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F7F4078-025B-5061-34AD-B7165322A3C9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8028000" y="2535750"/>
            <a:ext cx="216000" cy="324000"/>
          </a:xfrm>
          <a:prstGeom prst="straightConnector1">
            <a:avLst/>
          </a:prstGeom>
          <a:ln w="127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7611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tx1">
            <a:alpha val="50000"/>
          </a:schemeClr>
        </a:solidFill>
      </a:spPr>
      <a:bodyPr wrap="square" lIns="0" tIns="0" rIns="0" bIns="0" rtlCol="0" anchor="ctr">
        <a:noAutofit/>
      </a:bodyPr>
      <a:lstStyle>
        <a:defPPr algn="ctr">
          <a:defRPr sz="800" dirty="0" err="1" smtClean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878a49-52e2-4576-beb6-a7584af228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78311D46E2A4786D16B1D01A14EBC" ma:contentTypeVersion="10" ma:contentTypeDescription="Create a new document." ma:contentTypeScope="" ma:versionID="5b85fc023dd218cdf722d6740b52111a">
  <xsd:schema xmlns:xsd="http://www.w3.org/2001/XMLSchema" xmlns:xs="http://www.w3.org/2001/XMLSchema" xmlns:p="http://schemas.microsoft.com/office/2006/metadata/properties" xmlns:ns3="8f878a49-52e2-4576-beb6-a7584af228aa" xmlns:ns4="694b8577-7931-49c0-af6c-0de20eb88c73" targetNamespace="http://schemas.microsoft.com/office/2006/metadata/properties" ma:root="true" ma:fieldsID="d9bdf29cf2e8077b562cb0d156cf70c0" ns3:_="" ns4:_="">
    <xsd:import namespace="8f878a49-52e2-4576-beb6-a7584af228aa"/>
    <xsd:import namespace="694b8577-7931-49c0-af6c-0de20eb88c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78a49-52e2-4576-beb6-a7584af228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4b8577-7931-49c0-af6c-0de20eb88c7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883525-6896-499E-A820-9641DF6C3B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A29F2E-5976-4089-94CF-B2E40EFDF2F3}">
  <ds:schemaRefs>
    <ds:schemaRef ds:uri="694b8577-7931-49c0-af6c-0de20eb88c73"/>
    <ds:schemaRef ds:uri="8f878a49-52e2-4576-beb6-a7584af228a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CEF4A84-2565-4BDB-8294-6E625359D465}">
  <ds:schemaRefs>
    <ds:schemaRef ds:uri="694b8577-7931-49c0-af6c-0de20eb88c73"/>
    <ds:schemaRef ds:uri="8f878a49-52e2-4576-beb6-a7584af228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8566</TotalTime>
  <Words>2189</Words>
  <Application>Microsoft Macintosh PowerPoint</Application>
  <PresentationFormat>On-screen Show (16:9)</PresentationFormat>
  <Paragraphs>275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</vt:lpstr>
      <vt:lpstr>Consolas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an inclusive OS interface for virtual memory translation</dc:title>
  <cp:lastModifiedBy>Xu, Tianyin</cp:lastModifiedBy>
  <cp:revision>47</cp:revision>
  <dcterms:modified xsi:type="dcterms:W3CDTF">2024-04-18T15:27:31Z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0x0101006CD78311D46E2A4786D16B1D01A14EBC</vt:lpwstr>
  </property>
</Properties>
</file>