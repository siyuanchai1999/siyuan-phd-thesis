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3" r:id="rId4"/>
    <p:sldId id="261" r:id="rId5"/>
    <p:sldId id="259" r:id="rId6"/>
    <p:sldId id="262" r:id="rId7"/>
    <p:sldId id="260" r:id="rId8"/>
    <p:sldId id="25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8EFEB08-E71C-FB4D-BDF0-8C1C098D677F}">
          <p14:sldIdLst>
            <p14:sldId id="256"/>
            <p14:sldId id="258"/>
            <p14:sldId id="263"/>
            <p14:sldId id="261"/>
            <p14:sldId id="259"/>
            <p14:sldId id="262"/>
            <p14:sldId id="260"/>
          </p14:sldIdLst>
        </p14:section>
        <p14:section name="Archive" id="{6A58EC28-9392-AC4E-A68E-8D7F46E14E67}">
          <p14:sldIdLst>
            <p14:sldId id="25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38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042" autoAdjust="0"/>
    <p:restoredTop sz="94660"/>
  </p:normalViewPr>
  <p:slideViewPr>
    <p:cSldViewPr showGuides="1">
      <p:cViewPr>
        <p:scale>
          <a:sx n="210" d="100"/>
          <a:sy n="210" d="100"/>
        </p:scale>
        <p:origin x="-4094" y="-533"/>
      </p:cViewPr>
      <p:guideLst>
        <p:guide orient="horz" pos="238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6318E1-07C0-CDB4-27E3-EB934698AB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2F6261-924A-17AC-61FA-EFB2FB0F2C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7425EE-0E88-0C4B-3050-B181D09720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A48FF-7479-4FAB-BEA4-7534FDC4E400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52F7D-7167-DB78-6AA9-938F6D50F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771ED-436C-AF78-C4E5-7A35EB39BD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57815-7B9C-4343-BD29-4757ABDBD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56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E7A79-2346-C7E0-AC59-F550E3FFD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8CEEA-F7E2-33E2-C4D7-26C15D7974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6A5D2F-F84E-9097-0F14-C215AF84A2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A48FF-7479-4FAB-BEA4-7534FDC4E400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CD8B7A-773D-8808-2235-C280F605A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7C37A2-A53F-C98A-AFB6-B03BFA122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57815-7B9C-4343-BD29-4757ABDBD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0076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80F6A-BA4B-BC4B-5C55-EA0811851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884F36-E213-CCB9-F902-38C66667E3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45CE6A-35E4-AD5E-D4D9-340CB3AAF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A48FF-7479-4FAB-BEA4-7534FDC4E400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C16780-7EB8-1AC5-1258-1E328D22C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FF541A-6C9F-21FC-7F9F-2148401F8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57815-7B9C-4343-BD29-4757ABDBD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174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55EA3-3E17-8381-BC63-4DE2564AD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4F03B-CD3D-1699-BB5C-BC721D55D04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2EFFB8-3A61-1D45-1BED-8659AED9F7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32272E-D0E3-3E04-D026-5BF895B62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A48FF-7479-4FAB-BEA4-7534FDC4E400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F8BD3C-F74D-DE0E-927E-DED74A1F0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1E7F76-D0AF-7DDC-5488-1E17574EB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57815-7B9C-4343-BD29-4757ABDBD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3449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365B5-7216-418B-3F87-128698E156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CCC7B7-A2AC-EA3F-B1DB-A589E5E593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3C907F-8CE8-A63C-C79B-4CAE20C8C0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05C1AA-DF29-BBCE-E244-91FF2E5553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06D14C-C69D-538F-F0E9-1E0DDC645A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A6BB44-3A9A-83CF-0F8B-6D3EEC249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A48FF-7479-4FAB-BEA4-7534FDC4E400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92385A-C95A-C099-B868-5EF50D53D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3D1C8A-A8AA-E77D-470A-4CCC22739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57815-7B9C-4343-BD29-4757ABDBD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8424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B6510-A827-D78C-FEB5-A3AA8CE950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8645B-8295-0AF5-9A83-D76437B95A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A48FF-7479-4FAB-BEA4-7534FDC4E400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49F280-7BD1-15C5-A379-618E53D62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8C8087-EF9B-A1D6-3E80-3A7FC6B81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57815-7B9C-4343-BD29-4757ABDBD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D4FA59E-6E0D-60CA-9E69-A022D38EA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A48FF-7479-4FAB-BEA4-7534FDC4E400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653467-1BC3-1061-EEB3-6DA244581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4D933D-E19E-642C-7101-759BA1EF8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57815-7B9C-4343-BD29-4757ABDBD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588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31A6A-5FD1-BA34-4D1E-F0DB498487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9AB17-99B6-FBE1-8FE5-BBB0C37F57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5B93A0-F101-0EC4-F2C3-33C43DCB0A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061DD4-126B-40E3-ADA9-AB31A7243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A48FF-7479-4FAB-BEA4-7534FDC4E400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35A1A9-7E2A-AFC6-17B4-9244D0DF5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CEE352-002F-1566-B8BF-1B61E8625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57815-7B9C-4343-BD29-4757ABDBD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2951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09EB3-7673-CFF0-3218-25010F90A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0DB44C-80C3-67DC-8F9A-597C73F9EE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34F1CA-6A4D-0F26-55B7-2E80FFCF0B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B7076A-ACBD-7E7F-581E-A2830B9D9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A48FF-7479-4FAB-BEA4-7534FDC4E400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C09BC3-D80D-B453-C8A4-75C284AF4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6B192F-5CD0-AE92-B9C8-1AC195357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57815-7B9C-4343-BD29-4757ABDBD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1221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E9D2BA-4384-6753-1666-24D104B63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5C01CB-FD76-FF44-BC57-3C5AF72354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ADD922-78D7-8478-AFCC-466E2A343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A48FF-7479-4FAB-BEA4-7534FDC4E400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501F98-CCC5-E6BF-5090-1086521D6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C17D3-102B-2F0D-0FE5-E9BC6677E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57815-7B9C-4343-BD29-4757ABDBD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237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507B1F-1AFD-7761-83AA-965B831850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4037A2-EF36-6182-AAD4-23DF126A4B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0D49AE-A6D7-2030-D499-DCB896799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BA48FF-7479-4FAB-BEA4-7534FDC4E400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704500-0A4D-4915-2475-E9FD1F6E24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DF4CE2-F9C3-072B-736B-7E84CA2B7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557815-7B9C-4343-BD29-4757ABDBD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8753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E03AEB-B6FE-8D2A-358B-E2FCFE92F6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0A834F-A48B-FB8F-E969-EFA8B7C2AA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37B75F-5C95-22ED-72D7-9B396016BA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BA48FF-7479-4FAB-BEA4-7534FDC4E400}" type="datetimeFigureOut">
              <a:rPr lang="en-US" smtClean="0"/>
              <a:t>4/20/2025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16B55C-8982-783C-95F6-E220DDA98B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D1872-B954-8038-A321-58EEB3327A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557815-7B9C-4343-BD29-4757ABDBD0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621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076AD32-1AAE-C5F4-8A3C-28B4BB59DD63}"/>
              </a:ext>
            </a:extLst>
          </p:cNvPr>
          <p:cNvSpPr/>
          <p:nvPr/>
        </p:nvSpPr>
        <p:spPr>
          <a:xfrm>
            <a:off x="4610071" y="2220252"/>
            <a:ext cx="714129" cy="20063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bIns="46800" rtlCol="0" anchor="ctr"/>
          <a:lstStyle/>
          <a:p>
            <a:pPr algn="ctr"/>
            <a:r>
              <a:rPr lang="en-US" sz="1200" dirty="0">
                <a:latin typeface="Times" pitchFamily="2" charset="0"/>
              </a:rPr>
              <a:t>L4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3427C4-BBD0-4892-3A29-4B4B54B71A69}"/>
              </a:ext>
            </a:extLst>
          </p:cNvPr>
          <p:cNvSpPr/>
          <p:nvPr/>
        </p:nvSpPr>
        <p:spPr>
          <a:xfrm>
            <a:off x="5322070" y="2220245"/>
            <a:ext cx="714129" cy="20063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bIns="46800" rtlCol="0" anchor="ctr"/>
          <a:lstStyle/>
          <a:p>
            <a:pPr algn="ctr"/>
            <a:r>
              <a:rPr lang="en-US" sz="1200" dirty="0">
                <a:latin typeface="Times" pitchFamily="2" charset="0"/>
              </a:rPr>
              <a:t>L3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0A9401-B7D5-B83D-B3AA-02061BFFCFDC}"/>
              </a:ext>
            </a:extLst>
          </p:cNvPr>
          <p:cNvSpPr/>
          <p:nvPr/>
        </p:nvSpPr>
        <p:spPr>
          <a:xfrm>
            <a:off x="6037098" y="2220245"/>
            <a:ext cx="714129" cy="20063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bIns="46800" rtlCol="0" anchor="ctr"/>
          <a:lstStyle/>
          <a:p>
            <a:pPr algn="ctr"/>
            <a:r>
              <a:rPr lang="en-US" sz="1200" dirty="0">
                <a:latin typeface="Times" pitchFamily="2" charset="0"/>
              </a:rPr>
              <a:t>L2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93661FC-C893-F8D2-48BD-B72F5CC4D148}"/>
              </a:ext>
            </a:extLst>
          </p:cNvPr>
          <p:cNvSpPr/>
          <p:nvPr/>
        </p:nvSpPr>
        <p:spPr>
          <a:xfrm>
            <a:off x="6750023" y="2220238"/>
            <a:ext cx="714129" cy="20063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bIns="46800" rtlCol="0" anchor="ctr"/>
          <a:lstStyle/>
          <a:p>
            <a:pPr algn="ctr"/>
            <a:r>
              <a:rPr lang="en-US" sz="1200" dirty="0">
                <a:latin typeface="Times" pitchFamily="2" charset="0"/>
              </a:rPr>
              <a:t>L1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4D315B1-B14C-5CD0-D89B-B5D029485127}"/>
              </a:ext>
            </a:extLst>
          </p:cNvPr>
          <p:cNvSpPr/>
          <p:nvPr/>
        </p:nvSpPr>
        <p:spPr>
          <a:xfrm>
            <a:off x="7464152" y="2220238"/>
            <a:ext cx="864096" cy="2006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bIns="46800" rtlCol="0" anchor="ctr"/>
          <a:lstStyle/>
          <a:p>
            <a:pPr algn="ctr"/>
            <a:r>
              <a:rPr lang="en-US" sz="1200" dirty="0">
                <a:latin typeface="Times" pitchFamily="2" charset="0"/>
              </a:rPr>
              <a:t>Page Offset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1E58F6-AB74-5503-C52D-E056A6527C71}"/>
              </a:ext>
            </a:extLst>
          </p:cNvPr>
          <p:cNvSpPr/>
          <p:nvPr/>
        </p:nvSpPr>
        <p:spPr>
          <a:xfrm>
            <a:off x="4025522" y="2220252"/>
            <a:ext cx="586711" cy="20063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bIns="46800" rtlCol="0" anchor="ctr"/>
          <a:lstStyle/>
          <a:p>
            <a:pPr algn="ctr"/>
            <a:endParaRPr lang="en-US" sz="1200" dirty="0">
              <a:latin typeface="Times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78571F-5BAC-3DA1-4770-BA6FED943B45}"/>
              </a:ext>
            </a:extLst>
          </p:cNvPr>
          <p:cNvSpPr txBox="1"/>
          <p:nvPr/>
        </p:nvSpPr>
        <p:spPr>
          <a:xfrm>
            <a:off x="4007900" y="2060848"/>
            <a:ext cx="14401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dirty="0">
                <a:latin typeface="Times" pitchFamily="2" charset="0"/>
              </a:rPr>
              <a:t>63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5E3B33-BF84-15A8-6E30-E7F265DC7C33}"/>
              </a:ext>
            </a:extLst>
          </p:cNvPr>
          <p:cNvSpPr txBox="1"/>
          <p:nvPr/>
        </p:nvSpPr>
        <p:spPr>
          <a:xfrm>
            <a:off x="4446971" y="2060848"/>
            <a:ext cx="14401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dirty="0">
                <a:latin typeface="Times" pitchFamily="2" charset="0"/>
              </a:rPr>
              <a:t>48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B214D4-C4B8-8A11-EC72-A1525A1218DA}"/>
              </a:ext>
            </a:extLst>
          </p:cNvPr>
          <p:cNvSpPr txBox="1"/>
          <p:nvPr/>
        </p:nvSpPr>
        <p:spPr>
          <a:xfrm>
            <a:off x="4611603" y="2060848"/>
            <a:ext cx="14401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dirty="0">
                <a:latin typeface="Times" pitchFamily="2" charset="0"/>
              </a:rPr>
              <a:t>47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61C193-ED40-7C93-B045-51734A206DC9}"/>
              </a:ext>
            </a:extLst>
          </p:cNvPr>
          <p:cNvSpPr txBox="1"/>
          <p:nvPr/>
        </p:nvSpPr>
        <p:spPr>
          <a:xfrm>
            <a:off x="5167051" y="2060848"/>
            <a:ext cx="14401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dirty="0">
                <a:latin typeface="Times" pitchFamily="2" charset="0"/>
              </a:rPr>
              <a:t>39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62928C-6C0A-69BE-E679-F847D4130C44}"/>
              </a:ext>
            </a:extLst>
          </p:cNvPr>
          <p:cNvSpPr txBox="1"/>
          <p:nvPr/>
        </p:nvSpPr>
        <p:spPr>
          <a:xfrm>
            <a:off x="5331295" y="2060848"/>
            <a:ext cx="14401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dirty="0">
                <a:latin typeface="Times" pitchFamily="2" charset="0"/>
              </a:rPr>
              <a:t>38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495CD3-34FC-8698-B46C-56BC868F2BF3}"/>
              </a:ext>
            </a:extLst>
          </p:cNvPr>
          <p:cNvSpPr txBox="1"/>
          <p:nvPr/>
        </p:nvSpPr>
        <p:spPr>
          <a:xfrm>
            <a:off x="5884186" y="2060848"/>
            <a:ext cx="14401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dirty="0">
                <a:latin typeface="Times" pitchFamily="2" charset="0"/>
              </a:rPr>
              <a:t>30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4CCFC6-E49E-A13A-A812-FA2F643F49CB}"/>
              </a:ext>
            </a:extLst>
          </p:cNvPr>
          <p:cNvSpPr txBox="1"/>
          <p:nvPr/>
        </p:nvSpPr>
        <p:spPr>
          <a:xfrm>
            <a:off x="6037098" y="2060848"/>
            <a:ext cx="14401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dirty="0">
                <a:latin typeface="Times" pitchFamily="2" charset="0"/>
              </a:rPr>
              <a:t>29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BE552A9-A94C-D9B0-50B2-41C967BC7282}"/>
              </a:ext>
            </a:extLst>
          </p:cNvPr>
          <p:cNvSpPr txBox="1"/>
          <p:nvPr/>
        </p:nvSpPr>
        <p:spPr>
          <a:xfrm>
            <a:off x="6600056" y="2060848"/>
            <a:ext cx="14401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dirty="0">
                <a:latin typeface="Times" pitchFamily="2" charset="0"/>
              </a:rPr>
              <a:t>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D3B446A-C8C4-65DF-E66D-1B44B019DE6E}"/>
              </a:ext>
            </a:extLst>
          </p:cNvPr>
          <p:cNvSpPr txBox="1"/>
          <p:nvPr/>
        </p:nvSpPr>
        <p:spPr>
          <a:xfrm>
            <a:off x="6744072" y="2060848"/>
            <a:ext cx="14401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dirty="0">
                <a:latin typeface="Times" pitchFamily="2" charset="0"/>
              </a:rPr>
              <a:t>20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B91830C-A884-698A-59A7-61461DB44598}"/>
              </a:ext>
            </a:extLst>
          </p:cNvPr>
          <p:cNvSpPr txBox="1"/>
          <p:nvPr/>
        </p:nvSpPr>
        <p:spPr>
          <a:xfrm>
            <a:off x="7320136" y="2060848"/>
            <a:ext cx="14401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dirty="0">
                <a:latin typeface="Times" pitchFamily="2" charset="0"/>
              </a:rPr>
              <a:t>12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570E4E4-70C9-8BD9-7B63-21F5B2E8F7F9}"/>
              </a:ext>
            </a:extLst>
          </p:cNvPr>
          <p:cNvSpPr txBox="1"/>
          <p:nvPr/>
        </p:nvSpPr>
        <p:spPr>
          <a:xfrm>
            <a:off x="7464152" y="2060848"/>
            <a:ext cx="14401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dirty="0">
                <a:latin typeface="Times" pitchFamily="2" charset="0"/>
              </a:rPr>
              <a:t>11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5E14325-F5C2-B88D-4B28-070D57CA0195}"/>
              </a:ext>
            </a:extLst>
          </p:cNvPr>
          <p:cNvSpPr txBox="1"/>
          <p:nvPr/>
        </p:nvSpPr>
        <p:spPr>
          <a:xfrm>
            <a:off x="8256240" y="2060848"/>
            <a:ext cx="14401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dirty="0">
                <a:latin typeface="Times" pitchFamily="2" charset="0"/>
              </a:rPr>
              <a:t>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58B585E-C71F-86D8-42B3-D576E4B1F40D}"/>
              </a:ext>
            </a:extLst>
          </p:cNvPr>
          <p:cNvSpPr/>
          <p:nvPr/>
        </p:nvSpPr>
        <p:spPr>
          <a:xfrm>
            <a:off x="4799856" y="2564905"/>
            <a:ext cx="416575" cy="7920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bIns="46800" rtlCol="0" anchor="ctr"/>
          <a:lstStyle/>
          <a:p>
            <a:pPr algn="ctr"/>
            <a:endParaRPr lang="en-US">
              <a:latin typeface="Times" pitchFamily="2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BBA29BB-74FA-241E-F004-8CF490479A1C}"/>
              </a:ext>
            </a:extLst>
          </p:cNvPr>
          <p:cNvSpPr/>
          <p:nvPr/>
        </p:nvSpPr>
        <p:spPr>
          <a:xfrm>
            <a:off x="4799856" y="2636913"/>
            <a:ext cx="416575" cy="14401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bIns="46800" rtlCol="0" anchor="ctr"/>
          <a:lstStyle/>
          <a:p>
            <a:pPr algn="ctr"/>
            <a:r>
              <a:rPr lang="en-US" sz="1100" dirty="0">
                <a:latin typeface="Times" pitchFamily="2" charset="0"/>
              </a:rPr>
              <a:t>PGD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7893D79-05E2-EA79-154E-9BEDA023A123}"/>
              </a:ext>
            </a:extLst>
          </p:cNvPr>
          <p:cNvSpPr/>
          <p:nvPr/>
        </p:nvSpPr>
        <p:spPr>
          <a:xfrm>
            <a:off x="5578859" y="2564905"/>
            <a:ext cx="416575" cy="7920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bIns="46800" rtlCol="0" anchor="ctr"/>
          <a:lstStyle/>
          <a:p>
            <a:pPr algn="ctr"/>
            <a:endParaRPr lang="en-US">
              <a:latin typeface="Times" pitchFamily="2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105A0E1-A413-921F-C119-7FFC75A4CB72}"/>
              </a:ext>
            </a:extLst>
          </p:cNvPr>
          <p:cNvSpPr/>
          <p:nvPr/>
        </p:nvSpPr>
        <p:spPr>
          <a:xfrm>
            <a:off x="6293887" y="2564905"/>
            <a:ext cx="416575" cy="7920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bIns="46800" rtlCol="0" anchor="ctr"/>
          <a:lstStyle/>
          <a:p>
            <a:pPr algn="ctr"/>
            <a:endParaRPr lang="en-US">
              <a:latin typeface="Times" pitchFamily="2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2ABA907-588D-BB75-2B3A-8428D44FF398}"/>
              </a:ext>
            </a:extLst>
          </p:cNvPr>
          <p:cNvSpPr/>
          <p:nvPr/>
        </p:nvSpPr>
        <p:spPr>
          <a:xfrm>
            <a:off x="7006812" y="2564905"/>
            <a:ext cx="416575" cy="7920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bIns="46800" rtlCol="0" anchor="ctr"/>
          <a:lstStyle/>
          <a:p>
            <a:pPr algn="ctr"/>
            <a:endParaRPr lang="en-US">
              <a:latin typeface="Times" pitchFamily="2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7D8558D-A15A-F13E-B6E3-DDC57052A3E8}"/>
              </a:ext>
            </a:extLst>
          </p:cNvPr>
          <p:cNvSpPr/>
          <p:nvPr/>
        </p:nvSpPr>
        <p:spPr>
          <a:xfrm>
            <a:off x="7839665" y="2550593"/>
            <a:ext cx="416575" cy="806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bIns="46800" rtlCol="0" anchor="ctr"/>
          <a:lstStyle/>
          <a:p>
            <a:pPr algn="ctr"/>
            <a:endParaRPr lang="en-US">
              <a:latin typeface="Times" pitchFamily="2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CB6D75E-E6B3-CDAB-D9A1-2F8DB66C06B2}"/>
              </a:ext>
            </a:extLst>
          </p:cNvPr>
          <p:cNvSpPr/>
          <p:nvPr/>
        </p:nvSpPr>
        <p:spPr>
          <a:xfrm>
            <a:off x="7839665" y="2780929"/>
            <a:ext cx="416575" cy="14401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bIns="46800" rtlCol="0" anchor="ctr"/>
          <a:lstStyle/>
          <a:p>
            <a:pPr algn="ctr"/>
            <a:r>
              <a:rPr lang="en-US" sz="1100" dirty="0">
                <a:latin typeface="Times" pitchFamily="2" charset="0"/>
              </a:rPr>
              <a:t>PA</a:t>
            </a:r>
          </a:p>
        </p:txBody>
      </p: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EE826261-730B-4BF9-2DA6-9DF3FE5F35BB}"/>
              </a:ext>
            </a:extLst>
          </p:cNvPr>
          <p:cNvCxnSpPr>
            <a:cxnSpLocks/>
            <a:endCxn id="24" idx="1"/>
          </p:cNvCxnSpPr>
          <p:nvPr/>
        </p:nvCxnSpPr>
        <p:spPr>
          <a:xfrm rot="16200000" flipH="1">
            <a:off x="4561961" y="2471026"/>
            <a:ext cx="288032" cy="18775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484A03EB-65B7-4BCC-0439-108AB925D321}"/>
              </a:ext>
            </a:extLst>
          </p:cNvPr>
          <p:cNvSpPr/>
          <p:nvPr/>
        </p:nvSpPr>
        <p:spPr>
          <a:xfrm>
            <a:off x="5578859" y="2996953"/>
            <a:ext cx="416575" cy="14401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bIns="46800" rtlCol="0" anchor="ctr"/>
          <a:lstStyle/>
          <a:p>
            <a:pPr algn="ctr"/>
            <a:r>
              <a:rPr lang="en-US" sz="1100" dirty="0">
                <a:latin typeface="Times" pitchFamily="2" charset="0"/>
              </a:rPr>
              <a:t>PUD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6541BC8-6113-8DAC-6D5C-DDE673BD5A28}"/>
              </a:ext>
            </a:extLst>
          </p:cNvPr>
          <p:cNvSpPr/>
          <p:nvPr/>
        </p:nvSpPr>
        <p:spPr>
          <a:xfrm>
            <a:off x="6293887" y="2780929"/>
            <a:ext cx="416575" cy="14401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bIns="46800" rtlCol="0" anchor="ctr"/>
          <a:lstStyle/>
          <a:p>
            <a:pPr algn="ctr"/>
            <a:r>
              <a:rPr lang="en-US" sz="1100" dirty="0">
                <a:latin typeface="Times" pitchFamily="2" charset="0"/>
              </a:rPr>
              <a:t>PMD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8C7CBE6-82AF-774C-2FE0-3B994D5D6121}"/>
              </a:ext>
            </a:extLst>
          </p:cNvPr>
          <p:cNvSpPr/>
          <p:nvPr/>
        </p:nvSpPr>
        <p:spPr>
          <a:xfrm>
            <a:off x="7006812" y="3140969"/>
            <a:ext cx="416575" cy="14401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bIns="46800" rtlCol="0" anchor="ctr"/>
          <a:lstStyle/>
          <a:p>
            <a:pPr algn="ctr"/>
            <a:r>
              <a:rPr lang="en-US" sz="1100" dirty="0">
                <a:latin typeface="Times" pitchFamily="2" charset="0"/>
              </a:rPr>
              <a:t>PTE</a:t>
            </a:r>
          </a:p>
        </p:txBody>
      </p: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77B06AE1-9623-5AF0-473A-9FE17D1E0FBC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5216431" y="2708921"/>
            <a:ext cx="87481" cy="645673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ADD6CC0F-C442-BC31-160D-321B0E835DE1}"/>
              </a:ext>
            </a:extLst>
          </p:cNvPr>
          <p:cNvCxnSpPr>
            <a:cxnSpLocks/>
            <a:stCxn id="56" idx="3"/>
          </p:cNvCxnSpPr>
          <p:nvPr/>
        </p:nvCxnSpPr>
        <p:spPr>
          <a:xfrm>
            <a:off x="5995434" y="3068961"/>
            <a:ext cx="137178" cy="288032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6619308C-2317-B621-B95A-60DA7A54715C}"/>
              </a:ext>
            </a:extLst>
          </p:cNvPr>
          <p:cNvCxnSpPr>
            <a:cxnSpLocks/>
            <a:stCxn id="57" idx="3"/>
          </p:cNvCxnSpPr>
          <p:nvPr/>
        </p:nvCxnSpPr>
        <p:spPr>
          <a:xfrm>
            <a:off x="6710462" y="2852937"/>
            <a:ext cx="67827" cy="504056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F41837B0-44B3-9F29-34CA-6D1DB06D278F}"/>
              </a:ext>
            </a:extLst>
          </p:cNvPr>
          <p:cNvCxnSpPr>
            <a:cxnSpLocks/>
            <a:stCxn id="58" idx="3"/>
          </p:cNvCxnSpPr>
          <p:nvPr/>
        </p:nvCxnSpPr>
        <p:spPr>
          <a:xfrm>
            <a:off x="7423387" y="3212977"/>
            <a:ext cx="187758" cy="144016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AB939F75-B55F-09E5-B817-A9FA53DDB332}"/>
              </a:ext>
            </a:extLst>
          </p:cNvPr>
          <p:cNvCxnSpPr>
            <a:cxnSpLocks/>
          </p:cNvCxnSpPr>
          <p:nvPr/>
        </p:nvCxnSpPr>
        <p:spPr>
          <a:xfrm>
            <a:off x="5303912" y="3356993"/>
            <a:ext cx="27494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D059CD2E-7D11-E01B-D910-ECE20D7520C3}"/>
              </a:ext>
            </a:extLst>
          </p:cNvPr>
          <p:cNvCxnSpPr>
            <a:cxnSpLocks/>
          </p:cNvCxnSpPr>
          <p:nvPr/>
        </p:nvCxnSpPr>
        <p:spPr>
          <a:xfrm>
            <a:off x="6132612" y="3356993"/>
            <a:ext cx="16127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4ECD858E-E222-2786-DD0C-A506BBE8B096}"/>
              </a:ext>
            </a:extLst>
          </p:cNvPr>
          <p:cNvCxnSpPr>
            <a:cxnSpLocks/>
          </p:cNvCxnSpPr>
          <p:nvPr/>
        </p:nvCxnSpPr>
        <p:spPr>
          <a:xfrm>
            <a:off x="6778289" y="3356993"/>
            <a:ext cx="23447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636A38C1-D351-2E2B-DA44-09E2FE38A9F0}"/>
              </a:ext>
            </a:extLst>
          </p:cNvPr>
          <p:cNvCxnSpPr>
            <a:cxnSpLocks/>
          </p:cNvCxnSpPr>
          <p:nvPr/>
        </p:nvCxnSpPr>
        <p:spPr>
          <a:xfrm>
            <a:off x="7608168" y="3356993"/>
            <a:ext cx="23149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7A8453B8-B2ED-1D1C-015E-863AD2A56522}"/>
              </a:ext>
            </a:extLst>
          </p:cNvPr>
          <p:cNvCxnSpPr>
            <a:cxnSpLocks/>
          </p:cNvCxnSpPr>
          <p:nvPr/>
        </p:nvCxnSpPr>
        <p:spPr>
          <a:xfrm>
            <a:off x="4566608" y="3356993"/>
            <a:ext cx="23324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91B4B531-D11E-CC6F-CBF8-6C28ABDE8EE9}"/>
              </a:ext>
            </a:extLst>
          </p:cNvPr>
          <p:cNvSpPr/>
          <p:nvPr/>
        </p:nvSpPr>
        <p:spPr>
          <a:xfrm>
            <a:off x="4023218" y="2854627"/>
            <a:ext cx="416575" cy="14401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bIns="46800" rtlCol="0" anchor="ctr"/>
          <a:lstStyle/>
          <a:p>
            <a:pPr algn="ctr"/>
            <a:r>
              <a:rPr lang="en-US" sz="1100" dirty="0">
                <a:latin typeface="Times" pitchFamily="2" charset="0"/>
              </a:rPr>
              <a:t>CR3</a:t>
            </a:r>
          </a:p>
        </p:txBody>
      </p:sp>
      <p:cxnSp>
        <p:nvCxnSpPr>
          <p:cNvPr id="90" name="Connector: Elbow 89">
            <a:extLst>
              <a:ext uri="{FF2B5EF4-FFF2-40B4-BE49-F238E27FC236}">
                <a16:creationId xmlns:a16="http://schemas.microsoft.com/office/drawing/2014/main" id="{C97FFB63-8E26-E0E2-F0C5-C0FC2C0F197F}"/>
              </a:ext>
            </a:extLst>
          </p:cNvPr>
          <p:cNvCxnSpPr>
            <a:cxnSpLocks/>
            <a:stCxn id="89" idx="3"/>
          </p:cNvCxnSpPr>
          <p:nvPr/>
        </p:nvCxnSpPr>
        <p:spPr>
          <a:xfrm>
            <a:off x="4439793" y="2926635"/>
            <a:ext cx="126815" cy="429649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Connector: Elbow 92">
            <a:extLst>
              <a:ext uri="{FF2B5EF4-FFF2-40B4-BE49-F238E27FC236}">
                <a16:creationId xmlns:a16="http://schemas.microsoft.com/office/drawing/2014/main" id="{050BC6CC-74C2-CF4F-A36C-3C97642B2562}"/>
              </a:ext>
            </a:extLst>
          </p:cNvPr>
          <p:cNvCxnSpPr>
            <a:cxnSpLocks/>
            <a:endCxn id="56" idx="1"/>
          </p:cNvCxnSpPr>
          <p:nvPr/>
        </p:nvCxnSpPr>
        <p:spPr>
          <a:xfrm rot="16200000" flipH="1">
            <a:off x="5160944" y="2651046"/>
            <a:ext cx="648072" cy="18775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Connector: Elbow 96">
            <a:extLst>
              <a:ext uri="{FF2B5EF4-FFF2-40B4-BE49-F238E27FC236}">
                <a16:creationId xmlns:a16="http://schemas.microsoft.com/office/drawing/2014/main" id="{B0258AAE-B08C-3907-3346-A952B709F89F}"/>
              </a:ext>
            </a:extLst>
          </p:cNvPr>
          <p:cNvCxnSpPr>
            <a:cxnSpLocks/>
            <a:endCxn id="57" idx="1"/>
          </p:cNvCxnSpPr>
          <p:nvPr/>
        </p:nvCxnSpPr>
        <p:spPr>
          <a:xfrm rot="16200000" flipH="1">
            <a:off x="5983984" y="2543034"/>
            <a:ext cx="432048" cy="18775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Connector: Elbow 98">
            <a:extLst>
              <a:ext uri="{FF2B5EF4-FFF2-40B4-BE49-F238E27FC236}">
                <a16:creationId xmlns:a16="http://schemas.microsoft.com/office/drawing/2014/main" id="{8D27B205-B792-BCDC-E444-07171E9539AE}"/>
              </a:ext>
            </a:extLst>
          </p:cNvPr>
          <p:cNvCxnSpPr>
            <a:cxnSpLocks/>
          </p:cNvCxnSpPr>
          <p:nvPr/>
        </p:nvCxnSpPr>
        <p:spPr>
          <a:xfrm rot="16200000" flipH="1">
            <a:off x="6542181" y="2723054"/>
            <a:ext cx="792088" cy="18775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Connector: Elbow 100">
            <a:extLst>
              <a:ext uri="{FF2B5EF4-FFF2-40B4-BE49-F238E27FC236}">
                <a16:creationId xmlns:a16="http://schemas.microsoft.com/office/drawing/2014/main" id="{FBBA6205-E7CF-09E7-8952-F77E25B8E0E4}"/>
              </a:ext>
            </a:extLst>
          </p:cNvPr>
          <p:cNvCxnSpPr>
            <a:cxnSpLocks/>
            <a:endCxn id="34" idx="1"/>
          </p:cNvCxnSpPr>
          <p:nvPr/>
        </p:nvCxnSpPr>
        <p:spPr>
          <a:xfrm rot="16200000" flipH="1">
            <a:off x="7480880" y="2494152"/>
            <a:ext cx="432048" cy="28552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8" name="TextBox 107">
            <a:extLst>
              <a:ext uri="{FF2B5EF4-FFF2-40B4-BE49-F238E27FC236}">
                <a16:creationId xmlns:a16="http://schemas.microsoft.com/office/drawing/2014/main" id="{72DBA9BD-5C8C-2E27-EE00-476489E796F7}"/>
              </a:ext>
            </a:extLst>
          </p:cNvPr>
          <p:cNvSpPr txBox="1"/>
          <p:nvPr/>
        </p:nvSpPr>
        <p:spPr>
          <a:xfrm>
            <a:off x="4023218" y="1897188"/>
            <a:ext cx="4305030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00" dirty="0">
                <a:latin typeface="Times" pitchFamily="2" charset="0"/>
              </a:rPr>
              <a:t>Virtual Address (VA)</a:t>
            </a: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4D6AB617-7778-6FAB-98D3-000EDFF4D7B1}"/>
              </a:ext>
            </a:extLst>
          </p:cNvPr>
          <p:cNvSpPr txBox="1"/>
          <p:nvPr/>
        </p:nvSpPr>
        <p:spPr>
          <a:xfrm>
            <a:off x="3599848" y="1044341"/>
            <a:ext cx="2188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/>
              <a:t>Updated: 2024-04-10</a:t>
            </a:r>
          </a:p>
        </p:txBody>
      </p:sp>
    </p:spTree>
    <p:extLst>
      <p:ext uri="{BB962C8B-B14F-4D97-AF65-F5344CB8AC3E}">
        <p14:creationId xmlns:p14="http://schemas.microsoft.com/office/powerpoint/2010/main" val="14302490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Oval 40">
            <a:extLst>
              <a:ext uri="{FF2B5EF4-FFF2-40B4-BE49-F238E27FC236}">
                <a16:creationId xmlns:a16="http://schemas.microsoft.com/office/drawing/2014/main" id="{4E3A8521-49DA-351D-3D34-C438A885FC56}"/>
              </a:ext>
            </a:extLst>
          </p:cNvPr>
          <p:cNvSpPr/>
          <p:nvPr/>
        </p:nvSpPr>
        <p:spPr>
          <a:xfrm>
            <a:off x="4520333" y="2309341"/>
            <a:ext cx="216024" cy="21602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latin typeface="Times" pitchFamily="2" charset="0"/>
              </a:rPr>
              <a:t>H</a:t>
            </a:r>
            <a:r>
              <a:rPr lang="en-US" sz="1000" baseline="-25000" dirty="0">
                <a:latin typeface="Times" pitchFamily="2" charset="0"/>
              </a:rPr>
              <a:t>3</a:t>
            </a:r>
            <a:endParaRPr lang="en-US" sz="1000" dirty="0">
              <a:latin typeface="Times" pitchFamily="2" charset="0"/>
            </a:endParaRPr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CD5CE8E7-E15A-1CE0-B2FC-C5913007BD9D}"/>
              </a:ext>
            </a:extLst>
          </p:cNvPr>
          <p:cNvSpPr/>
          <p:nvPr/>
        </p:nvSpPr>
        <p:spPr>
          <a:xfrm>
            <a:off x="4480075" y="2349599"/>
            <a:ext cx="216024" cy="21602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latin typeface="Times" pitchFamily="2" charset="0"/>
              </a:rPr>
              <a:t>H</a:t>
            </a:r>
            <a:r>
              <a:rPr lang="en-US" sz="1000" baseline="-25000" dirty="0">
                <a:latin typeface="Times" pitchFamily="2" charset="0"/>
              </a:rPr>
              <a:t>2</a:t>
            </a:r>
            <a:endParaRPr lang="en-US" sz="1000" dirty="0">
              <a:latin typeface="Times" pitchFamily="2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F47F328-70F9-4966-E4C7-633D989173F4}"/>
              </a:ext>
            </a:extLst>
          </p:cNvPr>
          <p:cNvSpPr/>
          <p:nvPr/>
        </p:nvSpPr>
        <p:spPr>
          <a:xfrm>
            <a:off x="4799857" y="2605881"/>
            <a:ext cx="340362" cy="6070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" pitchFamily="2" charset="0"/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2B22C426-9CDC-CCF8-BAF3-B50B65CD5770}"/>
              </a:ext>
            </a:extLst>
          </p:cNvPr>
          <p:cNvSpPr/>
          <p:nvPr/>
        </p:nvSpPr>
        <p:spPr>
          <a:xfrm>
            <a:off x="4727849" y="2677889"/>
            <a:ext cx="340362" cy="6070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" pitchFamily="2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F91A2FC-23FE-05F0-41C7-550EADC1C42C}"/>
              </a:ext>
            </a:extLst>
          </p:cNvPr>
          <p:cNvSpPr/>
          <p:nvPr/>
        </p:nvSpPr>
        <p:spPr>
          <a:xfrm>
            <a:off x="6816080" y="1972965"/>
            <a:ext cx="1000311" cy="13080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bIns="46800" rtlCol="0" anchor="ctr"/>
          <a:lstStyle/>
          <a:p>
            <a:pPr algn="ctr"/>
            <a:endParaRPr lang="en-US" sz="1100" dirty="0">
              <a:latin typeface="Times" pitchFamily="2" charset="0"/>
            </a:endParaRPr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12DB63A5-4571-DECF-E070-F58546B8E8C5}"/>
              </a:ext>
            </a:extLst>
          </p:cNvPr>
          <p:cNvSpPr/>
          <p:nvPr/>
        </p:nvSpPr>
        <p:spPr>
          <a:xfrm>
            <a:off x="4439816" y="2389857"/>
            <a:ext cx="216025" cy="21602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latin typeface="Times" pitchFamily="2" charset="0"/>
              </a:rPr>
              <a:t>H</a:t>
            </a:r>
            <a:r>
              <a:rPr lang="en-US" sz="1000" baseline="-25000" dirty="0">
                <a:latin typeface="Times" pitchFamily="2" charset="0"/>
              </a:rPr>
              <a:t>1</a:t>
            </a:r>
            <a:endParaRPr lang="en-US" sz="1000" dirty="0">
              <a:latin typeface="Times" pitchFamily="2" charset="0"/>
            </a:endParaRPr>
          </a:p>
        </p:txBody>
      </p:sp>
      <p:cxnSp>
        <p:nvCxnSpPr>
          <p:cNvPr id="144" name="Connector: Elbow 143">
            <a:extLst>
              <a:ext uri="{FF2B5EF4-FFF2-40B4-BE49-F238E27FC236}">
                <a16:creationId xmlns:a16="http://schemas.microsoft.com/office/drawing/2014/main" id="{C91B8383-E091-389D-6BCD-E176A503967D}"/>
              </a:ext>
            </a:extLst>
          </p:cNvPr>
          <p:cNvCxnSpPr>
            <a:cxnSpLocks/>
            <a:stCxn id="133" idx="4"/>
            <a:endCxn id="184" idx="1"/>
          </p:cNvCxnSpPr>
          <p:nvPr/>
        </p:nvCxnSpPr>
        <p:spPr>
          <a:xfrm rot="16200000" flipH="1">
            <a:off x="4277799" y="2875911"/>
            <a:ext cx="648072" cy="108012"/>
          </a:xfrm>
          <a:prstGeom prst="bentConnector2">
            <a:avLst/>
          </a:prstGeom>
          <a:ln>
            <a:tailEnd type="triangle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720DEA72-42A3-7615-1CFD-AD54915FECF8}"/>
              </a:ext>
            </a:extLst>
          </p:cNvPr>
          <p:cNvCxnSpPr>
            <a:cxnSpLocks/>
            <a:endCxn id="133" idx="0"/>
          </p:cNvCxnSpPr>
          <p:nvPr/>
        </p:nvCxnSpPr>
        <p:spPr>
          <a:xfrm>
            <a:off x="4547829" y="2101825"/>
            <a:ext cx="0" cy="288032"/>
          </a:xfrm>
          <a:prstGeom prst="straightConnector1">
            <a:avLst/>
          </a:prstGeom>
          <a:ln>
            <a:tailEnd type="triangle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4" name="TextBox 153">
            <a:extLst>
              <a:ext uri="{FF2B5EF4-FFF2-40B4-BE49-F238E27FC236}">
                <a16:creationId xmlns:a16="http://schemas.microsoft.com/office/drawing/2014/main" id="{52DAFBB8-5744-EF4C-64AA-8B5F694A442F}"/>
              </a:ext>
            </a:extLst>
          </p:cNvPr>
          <p:cNvSpPr txBox="1"/>
          <p:nvPr/>
        </p:nvSpPr>
        <p:spPr>
          <a:xfrm>
            <a:off x="4367808" y="1988840"/>
            <a:ext cx="100811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lnSpc>
                <a:spcPct val="80000"/>
              </a:lnSpc>
              <a:defRPr sz="1000"/>
            </a:lvl1pPr>
          </a:lstStyle>
          <a:p>
            <a:r>
              <a:rPr lang="en-US" dirty="0">
                <a:latin typeface="Times" pitchFamily="2" charset="0"/>
              </a:rPr>
              <a:t>PUD-VPN [47:30]</a:t>
            </a:r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FDF13E04-6B20-9860-616C-B4835E48CC50}"/>
              </a:ext>
            </a:extLst>
          </p:cNvPr>
          <p:cNvSpPr/>
          <p:nvPr/>
        </p:nvSpPr>
        <p:spPr>
          <a:xfrm>
            <a:off x="7104112" y="2420888"/>
            <a:ext cx="432048" cy="21602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latin typeface="Times" pitchFamily="2" charset="0"/>
              </a:rPr>
              <a:t>Hash</a:t>
            </a:r>
            <a:r>
              <a:rPr lang="en-US" sz="1000" baseline="-25000" dirty="0">
                <a:latin typeface="Times" pitchFamily="2" charset="0"/>
              </a:rPr>
              <a:t>2</a:t>
            </a:r>
            <a:endParaRPr lang="en-US" sz="1000" dirty="0">
              <a:latin typeface="Times" pitchFamily="2" charset="0"/>
            </a:endParaRPr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D3E179C5-6D85-DB6A-B0A0-CC2153FEA369}"/>
              </a:ext>
            </a:extLst>
          </p:cNvPr>
          <p:cNvSpPr/>
          <p:nvPr/>
        </p:nvSpPr>
        <p:spPr>
          <a:xfrm>
            <a:off x="7752184" y="2420888"/>
            <a:ext cx="432048" cy="21602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latin typeface="Times" pitchFamily="2" charset="0"/>
              </a:rPr>
              <a:t>Hash</a:t>
            </a:r>
            <a:r>
              <a:rPr lang="en-US" sz="1000" baseline="-25000" dirty="0">
                <a:latin typeface="Times" pitchFamily="2" charset="0"/>
              </a:rPr>
              <a:t>3</a:t>
            </a:r>
            <a:endParaRPr lang="en-US" sz="1000" dirty="0">
              <a:latin typeface="Times" pitchFamily="2" charset="0"/>
            </a:endParaRPr>
          </a:p>
        </p:txBody>
      </p: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6E9B6105-AFE0-5E9F-CAFD-A0B18F20DC19}"/>
              </a:ext>
            </a:extLst>
          </p:cNvPr>
          <p:cNvCxnSpPr>
            <a:cxnSpLocks/>
            <a:stCxn id="176" idx="2"/>
            <a:endCxn id="167" idx="0"/>
          </p:cNvCxnSpPr>
          <p:nvPr/>
        </p:nvCxnSpPr>
        <p:spPr>
          <a:xfrm>
            <a:off x="7320136" y="2111951"/>
            <a:ext cx="0" cy="308937"/>
          </a:xfrm>
          <a:prstGeom prst="straightConnector1">
            <a:avLst/>
          </a:prstGeom>
          <a:ln>
            <a:tailEnd type="triangle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5E95D4A1-4180-4569-BA3F-F4AFCA29D2C4}"/>
              </a:ext>
            </a:extLst>
          </p:cNvPr>
          <p:cNvCxnSpPr>
            <a:cxnSpLocks/>
            <a:stCxn id="176" idx="2"/>
            <a:endCxn id="168" idx="0"/>
          </p:cNvCxnSpPr>
          <p:nvPr/>
        </p:nvCxnSpPr>
        <p:spPr>
          <a:xfrm>
            <a:off x="7320136" y="2111951"/>
            <a:ext cx="648072" cy="308937"/>
          </a:xfrm>
          <a:prstGeom prst="straightConnector1">
            <a:avLst/>
          </a:prstGeom>
          <a:ln>
            <a:tailEnd type="triangle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6" name="TextBox 175">
            <a:extLst>
              <a:ext uri="{FF2B5EF4-FFF2-40B4-BE49-F238E27FC236}">
                <a16:creationId xmlns:a16="http://schemas.microsoft.com/office/drawing/2014/main" id="{228356C4-1BF4-4EE6-772B-17270F9BC405}"/>
              </a:ext>
            </a:extLst>
          </p:cNvPr>
          <p:cNvSpPr txBox="1"/>
          <p:nvPr/>
        </p:nvSpPr>
        <p:spPr>
          <a:xfrm>
            <a:off x="6816080" y="1988840"/>
            <a:ext cx="100811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lnSpc>
                <a:spcPct val="80000"/>
              </a:lnSpc>
              <a:defRPr sz="1000"/>
            </a:lvl1pPr>
          </a:lstStyle>
          <a:p>
            <a:r>
              <a:rPr lang="en-US" dirty="0">
                <a:latin typeface="Times" pitchFamily="2" charset="0"/>
              </a:rPr>
              <a:t>PTE-VPN [47:12]</a:t>
            </a: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1B61BBD1-8468-091C-F9BE-DEEDDD3EE763}"/>
              </a:ext>
            </a:extLst>
          </p:cNvPr>
          <p:cNvSpPr/>
          <p:nvPr/>
        </p:nvSpPr>
        <p:spPr>
          <a:xfrm>
            <a:off x="7464152" y="2780928"/>
            <a:ext cx="432048" cy="7401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" pitchFamily="2" charset="0"/>
            </a:endParaRP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0FE6EF4D-41A3-6713-841B-E5021EC82AFC}"/>
              </a:ext>
            </a:extLst>
          </p:cNvPr>
          <p:cNvSpPr/>
          <p:nvPr/>
        </p:nvSpPr>
        <p:spPr>
          <a:xfrm>
            <a:off x="7464152" y="3212976"/>
            <a:ext cx="432048" cy="1440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dirty="0">
                <a:latin typeface="Times" pitchFamily="2" charset="0"/>
              </a:rPr>
              <a:t>Miss</a:t>
            </a: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8CE3D76E-DC12-3BD3-EB42-C12D0199B2C0}"/>
              </a:ext>
            </a:extLst>
          </p:cNvPr>
          <p:cNvSpPr/>
          <p:nvPr/>
        </p:nvSpPr>
        <p:spPr>
          <a:xfrm>
            <a:off x="8112224" y="2780928"/>
            <a:ext cx="432048" cy="7401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" pitchFamily="2" charset="0"/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84DFD6B9-93D8-70CD-C6C3-F1DDBE2FBF7F}"/>
              </a:ext>
            </a:extLst>
          </p:cNvPr>
          <p:cNvSpPr/>
          <p:nvPr/>
        </p:nvSpPr>
        <p:spPr>
          <a:xfrm>
            <a:off x="4655841" y="2749897"/>
            <a:ext cx="333895" cy="6381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" pitchFamily="2" charset="0"/>
            </a:endParaRP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9F7FE4BB-668F-13FE-EAA0-F015F3DB4860}"/>
              </a:ext>
            </a:extLst>
          </p:cNvPr>
          <p:cNvSpPr/>
          <p:nvPr/>
        </p:nvSpPr>
        <p:spPr>
          <a:xfrm>
            <a:off x="4655841" y="3181945"/>
            <a:ext cx="333895" cy="1440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dirty="0">
                <a:latin typeface="Times" pitchFamily="2" charset="0"/>
              </a:rPr>
              <a:t>Miss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FB3EB7A-41E7-FC01-4273-6547512A8F76}"/>
              </a:ext>
            </a:extLst>
          </p:cNvPr>
          <p:cNvSpPr/>
          <p:nvPr/>
        </p:nvSpPr>
        <p:spPr>
          <a:xfrm>
            <a:off x="8760297" y="2780928"/>
            <a:ext cx="432048" cy="73438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" pitchFamily="2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FA339FD-CFFA-88DE-2520-226E3E086735}"/>
              </a:ext>
            </a:extLst>
          </p:cNvPr>
          <p:cNvSpPr/>
          <p:nvPr/>
        </p:nvSpPr>
        <p:spPr>
          <a:xfrm>
            <a:off x="8760296" y="3068960"/>
            <a:ext cx="432048" cy="14401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latin typeface="Times" pitchFamily="2" charset="0"/>
              </a:rPr>
              <a:t>PA</a:t>
            </a:r>
          </a:p>
        </p:txBody>
      </p: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94054B33-AEB4-ABD7-7537-D8BFBD6254F8}"/>
              </a:ext>
            </a:extLst>
          </p:cNvPr>
          <p:cNvCxnSpPr>
            <a:cxnSpLocks/>
          </p:cNvCxnSpPr>
          <p:nvPr/>
        </p:nvCxnSpPr>
        <p:spPr>
          <a:xfrm rot="16200000" flipH="1">
            <a:off x="8370037" y="3243194"/>
            <a:ext cx="401017" cy="52547"/>
          </a:xfrm>
          <a:prstGeom prst="bentConnector3">
            <a:avLst>
              <a:gd name="adj1" fmla="val 3188"/>
            </a:avLst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CC89B1D-5E39-8026-1B71-761FC5AFE938}"/>
              </a:ext>
            </a:extLst>
          </p:cNvPr>
          <p:cNvCxnSpPr>
            <a:cxnSpLocks/>
          </p:cNvCxnSpPr>
          <p:nvPr/>
        </p:nvCxnSpPr>
        <p:spPr>
          <a:xfrm>
            <a:off x="8596819" y="3469977"/>
            <a:ext cx="163477" cy="0"/>
          </a:xfrm>
          <a:prstGeom prst="straightConnector1">
            <a:avLst/>
          </a:prstGeom>
          <a:ln>
            <a:tailEnd type="triangle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4DAE76DA-DAC7-2D29-ACA3-07B48D552FBA}"/>
              </a:ext>
            </a:extLst>
          </p:cNvPr>
          <p:cNvSpPr txBox="1"/>
          <p:nvPr/>
        </p:nvSpPr>
        <p:spPr>
          <a:xfrm>
            <a:off x="8069019" y="1988840"/>
            <a:ext cx="1267341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1000" dirty="0">
                <a:latin typeface="Times" pitchFamily="2" charset="0"/>
              </a:rPr>
              <a:t>Page Offset [11:0]</a:t>
            </a:r>
          </a:p>
        </p:txBody>
      </p: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93165A4B-C90A-1257-6CAF-4E7402186096}"/>
              </a:ext>
            </a:extLst>
          </p:cNvPr>
          <p:cNvCxnSpPr>
            <a:cxnSpLocks/>
            <a:endCxn id="36" idx="1"/>
          </p:cNvCxnSpPr>
          <p:nvPr/>
        </p:nvCxnSpPr>
        <p:spPr>
          <a:xfrm rot="16200000" flipH="1">
            <a:off x="8200107" y="2580779"/>
            <a:ext cx="1008112" cy="112266"/>
          </a:xfrm>
          <a:prstGeom prst="bentConnector2">
            <a:avLst/>
          </a:prstGeom>
          <a:ln>
            <a:tailEnd type="triangle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3B4FF57F-829B-A086-4326-15683834D7C3}"/>
              </a:ext>
            </a:extLst>
          </p:cNvPr>
          <p:cNvSpPr txBox="1"/>
          <p:nvPr/>
        </p:nvSpPr>
        <p:spPr>
          <a:xfrm>
            <a:off x="4511824" y="3429000"/>
            <a:ext cx="814091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50" dirty="0">
                <a:latin typeface="Times" pitchFamily="2" charset="0"/>
              </a:rPr>
              <a:t>PUD (1GB)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356567C-B7EE-C239-39C9-392507291B93}"/>
              </a:ext>
            </a:extLst>
          </p:cNvPr>
          <p:cNvSpPr txBox="1"/>
          <p:nvPr/>
        </p:nvSpPr>
        <p:spPr>
          <a:xfrm>
            <a:off x="7464151" y="3523511"/>
            <a:ext cx="432049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50" dirty="0">
                <a:latin typeface="Times" pitchFamily="2" charset="0"/>
              </a:rPr>
              <a:t>Way 2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515E5B7-633A-8A7A-2A10-B3F2290C7026}"/>
              </a:ext>
            </a:extLst>
          </p:cNvPr>
          <p:cNvSpPr txBox="1"/>
          <p:nvPr/>
        </p:nvSpPr>
        <p:spPr>
          <a:xfrm>
            <a:off x="8112224" y="3523511"/>
            <a:ext cx="432048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50" dirty="0">
                <a:latin typeface="Times" pitchFamily="2" charset="0"/>
              </a:rPr>
              <a:t>Way 3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74FF7D9-C8D6-7F18-7F9A-01D71F66EDD2}"/>
              </a:ext>
            </a:extLst>
          </p:cNvPr>
          <p:cNvSpPr txBox="1"/>
          <p:nvPr/>
        </p:nvSpPr>
        <p:spPr>
          <a:xfrm>
            <a:off x="6816080" y="3719500"/>
            <a:ext cx="1728192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50" dirty="0">
                <a:latin typeface="Times" pitchFamily="2" charset="0"/>
              </a:rPr>
              <a:t>PTE (4KB)</a:t>
            </a:r>
          </a:p>
        </p:txBody>
      </p:sp>
      <p:cxnSp>
        <p:nvCxnSpPr>
          <p:cNvPr id="172" name="Connector: Elbow 171">
            <a:extLst>
              <a:ext uri="{FF2B5EF4-FFF2-40B4-BE49-F238E27FC236}">
                <a16:creationId xmlns:a16="http://schemas.microsoft.com/office/drawing/2014/main" id="{9CED452F-AC55-9016-B79E-D18D0D5952C5}"/>
              </a:ext>
            </a:extLst>
          </p:cNvPr>
          <p:cNvCxnSpPr>
            <a:cxnSpLocks/>
            <a:stCxn id="167" idx="4"/>
            <a:endCxn id="181" idx="1"/>
          </p:cNvCxnSpPr>
          <p:nvPr/>
        </p:nvCxnSpPr>
        <p:spPr>
          <a:xfrm rot="16200000" flipH="1">
            <a:off x="7068108" y="2888940"/>
            <a:ext cx="648072" cy="144016"/>
          </a:xfrm>
          <a:prstGeom prst="bentConnector2">
            <a:avLst/>
          </a:prstGeom>
          <a:ln>
            <a:tailEnd type="triangle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3" name="Connector: Elbow 172">
            <a:extLst>
              <a:ext uri="{FF2B5EF4-FFF2-40B4-BE49-F238E27FC236}">
                <a16:creationId xmlns:a16="http://schemas.microsoft.com/office/drawing/2014/main" id="{599FE88C-A0BE-ED88-A549-00CB20A5F655}"/>
              </a:ext>
            </a:extLst>
          </p:cNvPr>
          <p:cNvCxnSpPr>
            <a:cxnSpLocks/>
            <a:stCxn id="168" idx="4"/>
          </p:cNvCxnSpPr>
          <p:nvPr/>
        </p:nvCxnSpPr>
        <p:spPr>
          <a:xfrm rot="16200000" flipH="1">
            <a:off x="7824192" y="2780928"/>
            <a:ext cx="432048" cy="144016"/>
          </a:xfrm>
          <a:prstGeom prst="bentConnector2">
            <a:avLst/>
          </a:prstGeom>
          <a:ln>
            <a:tailEnd type="triangle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E35F1126-DF46-746B-F6AD-F4F4D71E3ABD}"/>
              </a:ext>
            </a:extLst>
          </p:cNvPr>
          <p:cNvSpPr/>
          <p:nvPr/>
        </p:nvSpPr>
        <p:spPr>
          <a:xfrm>
            <a:off x="5114127" y="1618404"/>
            <a:ext cx="2133737" cy="16897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bIns="46800" rtlCol="0" anchor="ctr"/>
          <a:lstStyle/>
          <a:p>
            <a:pPr algn="ctr"/>
            <a:r>
              <a:rPr lang="en-US" sz="1200">
                <a:latin typeface="Times" pitchFamily="2" charset="0"/>
              </a:rPr>
              <a:t>PTE VPN Tag</a:t>
            </a:r>
            <a:endParaRPr lang="en-US" sz="1200" dirty="0">
              <a:latin typeface="Times" pitchFamily="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840244B-E85E-66C2-4AA6-5897A433EC93}"/>
              </a:ext>
            </a:extLst>
          </p:cNvPr>
          <p:cNvSpPr/>
          <p:nvPr/>
        </p:nvSpPr>
        <p:spPr>
          <a:xfrm>
            <a:off x="7247865" y="1618403"/>
            <a:ext cx="720344" cy="1689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bIns="46800" rtlCol="0" anchor="ctr"/>
          <a:lstStyle/>
          <a:p>
            <a:pPr algn="ctr"/>
            <a:r>
              <a:rPr lang="en-US" sz="1100" dirty="0">
                <a:latin typeface="Times" pitchFamily="2" charset="0"/>
              </a:rPr>
              <a:t>PTE Offset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28DE6B-9117-A505-E593-32A24C0043B7}"/>
              </a:ext>
            </a:extLst>
          </p:cNvPr>
          <p:cNvSpPr/>
          <p:nvPr/>
        </p:nvSpPr>
        <p:spPr>
          <a:xfrm>
            <a:off x="4529578" y="1618403"/>
            <a:ext cx="586711" cy="1689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bIns="46800" rtlCol="0" anchor="ctr"/>
          <a:lstStyle/>
          <a:p>
            <a:pPr algn="ctr"/>
            <a:endParaRPr lang="en-US" sz="1200" dirty="0">
              <a:latin typeface="Times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B2D6D7-D47D-B0B2-AC36-447B9F8C55D8}"/>
              </a:ext>
            </a:extLst>
          </p:cNvPr>
          <p:cNvSpPr txBox="1"/>
          <p:nvPr/>
        </p:nvSpPr>
        <p:spPr>
          <a:xfrm>
            <a:off x="4511824" y="1474387"/>
            <a:ext cx="14401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dirty="0">
                <a:latin typeface="Times" pitchFamily="2" charset="0"/>
              </a:rPr>
              <a:t>63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8B3B92-BC4A-A356-3994-932357791DD2}"/>
              </a:ext>
            </a:extLst>
          </p:cNvPr>
          <p:cNvSpPr txBox="1"/>
          <p:nvPr/>
        </p:nvSpPr>
        <p:spPr>
          <a:xfrm>
            <a:off x="4950895" y="1474387"/>
            <a:ext cx="14401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dirty="0">
                <a:latin typeface="Times" pitchFamily="2" charset="0"/>
              </a:rPr>
              <a:t>48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960DCC-9B42-1A77-536A-A787A7478202}"/>
              </a:ext>
            </a:extLst>
          </p:cNvPr>
          <p:cNvSpPr txBox="1"/>
          <p:nvPr/>
        </p:nvSpPr>
        <p:spPr>
          <a:xfrm>
            <a:off x="5115527" y="1474387"/>
            <a:ext cx="14401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dirty="0">
                <a:latin typeface="Times" pitchFamily="2" charset="0"/>
              </a:rPr>
              <a:t>47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7AC124-394E-7C4C-9B87-2F2A68CBB34D}"/>
              </a:ext>
            </a:extLst>
          </p:cNvPr>
          <p:cNvSpPr txBox="1"/>
          <p:nvPr/>
        </p:nvSpPr>
        <p:spPr>
          <a:xfrm>
            <a:off x="7103980" y="1474387"/>
            <a:ext cx="14401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dirty="0">
                <a:latin typeface="Times" pitchFamily="2" charset="0"/>
              </a:rPr>
              <a:t>15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DFA0C45-A662-CBBF-2863-B698266EA429}"/>
              </a:ext>
            </a:extLst>
          </p:cNvPr>
          <p:cNvSpPr txBox="1"/>
          <p:nvPr/>
        </p:nvSpPr>
        <p:spPr>
          <a:xfrm>
            <a:off x="7247996" y="1474387"/>
            <a:ext cx="14401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dirty="0">
                <a:latin typeface="Times" pitchFamily="2" charset="0"/>
              </a:rPr>
              <a:t>14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6EECE6A-6C0B-A4E8-B0C6-9A5120A199C2}"/>
              </a:ext>
            </a:extLst>
          </p:cNvPr>
          <p:cNvSpPr txBox="1"/>
          <p:nvPr/>
        </p:nvSpPr>
        <p:spPr>
          <a:xfrm>
            <a:off x="7824060" y="1474387"/>
            <a:ext cx="14401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dirty="0">
                <a:latin typeface="Times" pitchFamily="2" charset="0"/>
              </a:rPr>
              <a:t>12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7BF5DB-E22C-B709-FF71-8C39CDAEEB2E}"/>
              </a:ext>
            </a:extLst>
          </p:cNvPr>
          <p:cNvSpPr txBox="1"/>
          <p:nvPr/>
        </p:nvSpPr>
        <p:spPr>
          <a:xfrm>
            <a:off x="7968076" y="1474387"/>
            <a:ext cx="14401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dirty="0">
                <a:latin typeface="Times" pitchFamily="2" charset="0"/>
              </a:rPr>
              <a:t>11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49259D-F005-4554-928E-D04EC1EE701C}"/>
              </a:ext>
            </a:extLst>
          </p:cNvPr>
          <p:cNvSpPr txBox="1"/>
          <p:nvPr/>
        </p:nvSpPr>
        <p:spPr>
          <a:xfrm>
            <a:off x="9032944" y="1474387"/>
            <a:ext cx="14401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dirty="0">
                <a:latin typeface="Times" pitchFamily="2" charset="0"/>
              </a:rPr>
              <a:t>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717F65A-A7CD-BDA8-E576-E72C341181EE}"/>
              </a:ext>
            </a:extLst>
          </p:cNvPr>
          <p:cNvSpPr txBox="1"/>
          <p:nvPr/>
        </p:nvSpPr>
        <p:spPr>
          <a:xfrm>
            <a:off x="4520333" y="1340768"/>
            <a:ext cx="4305030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00" dirty="0">
                <a:latin typeface="Times" pitchFamily="2" charset="0"/>
              </a:rPr>
              <a:t>Virtual Address (VA) of a 4KB Page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FF8D0D8-CE4E-88D5-6278-66CB5D3F2152}"/>
              </a:ext>
            </a:extLst>
          </p:cNvPr>
          <p:cNvSpPr/>
          <p:nvPr/>
        </p:nvSpPr>
        <p:spPr>
          <a:xfrm>
            <a:off x="7968076" y="1618057"/>
            <a:ext cx="1152128" cy="1689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bIns="46800" rtlCol="0" anchor="ctr"/>
          <a:lstStyle/>
          <a:p>
            <a:pPr algn="ctr"/>
            <a:r>
              <a:rPr lang="en-US" sz="1100" dirty="0">
                <a:latin typeface="Times" pitchFamily="2" charset="0"/>
              </a:rPr>
              <a:t>Page Offset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1CDA63C0-7EC6-5834-5EBF-47A3BC17DDA6}"/>
              </a:ext>
            </a:extLst>
          </p:cNvPr>
          <p:cNvSpPr/>
          <p:nvPr/>
        </p:nvSpPr>
        <p:spPr>
          <a:xfrm>
            <a:off x="5600453" y="2309341"/>
            <a:ext cx="216024" cy="21602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latin typeface="Times" pitchFamily="2" charset="0"/>
              </a:rPr>
              <a:t>H</a:t>
            </a:r>
            <a:r>
              <a:rPr lang="en-US" sz="1000" baseline="-25000" dirty="0">
                <a:latin typeface="Times" pitchFamily="2" charset="0"/>
              </a:rPr>
              <a:t>3</a:t>
            </a:r>
            <a:endParaRPr lang="en-US" sz="1000" dirty="0">
              <a:latin typeface="Times" pitchFamily="2" charset="0"/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71C02F26-D489-6FE2-4DCF-CBA7B0A687AB}"/>
              </a:ext>
            </a:extLst>
          </p:cNvPr>
          <p:cNvSpPr/>
          <p:nvPr/>
        </p:nvSpPr>
        <p:spPr>
          <a:xfrm>
            <a:off x="5560195" y="2349599"/>
            <a:ext cx="216024" cy="21602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latin typeface="Times" pitchFamily="2" charset="0"/>
              </a:rPr>
              <a:t>H</a:t>
            </a:r>
            <a:r>
              <a:rPr lang="en-US" sz="1000" baseline="-25000" dirty="0">
                <a:latin typeface="Times" pitchFamily="2" charset="0"/>
              </a:rPr>
              <a:t>2</a:t>
            </a:r>
            <a:endParaRPr lang="en-US" sz="1000" dirty="0">
              <a:latin typeface="Times" pitchFamily="2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1F750B4-4410-CF82-0889-EF5BC9CBB203}"/>
              </a:ext>
            </a:extLst>
          </p:cNvPr>
          <p:cNvSpPr/>
          <p:nvPr/>
        </p:nvSpPr>
        <p:spPr>
          <a:xfrm>
            <a:off x="5879977" y="2605881"/>
            <a:ext cx="340362" cy="6070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" pitchFamily="2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71D9BAE-1BC2-0A38-3E50-E600D528B41A}"/>
              </a:ext>
            </a:extLst>
          </p:cNvPr>
          <p:cNvSpPr/>
          <p:nvPr/>
        </p:nvSpPr>
        <p:spPr>
          <a:xfrm>
            <a:off x="5807969" y="2677889"/>
            <a:ext cx="340362" cy="60709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" pitchFamily="2" charset="0"/>
            </a:endParaRP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8AA094EA-6E6F-8972-C9D4-B6B3126905A7}"/>
              </a:ext>
            </a:extLst>
          </p:cNvPr>
          <p:cNvSpPr/>
          <p:nvPr/>
        </p:nvSpPr>
        <p:spPr>
          <a:xfrm>
            <a:off x="5519936" y="2389857"/>
            <a:ext cx="216025" cy="21602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latin typeface="Times" pitchFamily="2" charset="0"/>
              </a:rPr>
              <a:t>H</a:t>
            </a:r>
            <a:r>
              <a:rPr lang="en-US" sz="1000" baseline="-25000" dirty="0">
                <a:latin typeface="Times" pitchFamily="2" charset="0"/>
              </a:rPr>
              <a:t>1</a:t>
            </a:r>
            <a:endParaRPr lang="en-US" sz="1000" dirty="0">
              <a:latin typeface="Times" pitchFamily="2" charset="0"/>
            </a:endParaRPr>
          </a:p>
        </p:txBody>
      </p: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6CA89142-5E10-47D8-8489-B470F9CF9753}"/>
              </a:ext>
            </a:extLst>
          </p:cNvPr>
          <p:cNvCxnSpPr>
            <a:cxnSpLocks/>
            <a:stCxn id="57" idx="4"/>
            <a:endCxn id="64" idx="1"/>
          </p:cNvCxnSpPr>
          <p:nvPr/>
        </p:nvCxnSpPr>
        <p:spPr>
          <a:xfrm rot="16200000" flipH="1">
            <a:off x="5486420" y="2747410"/>
            <a:ext cx="391071" cy="108012"/>
          </a:xfrm>
          <a:prstGeom prst="bentConnector2">
            <a:avLst/>
          </a:prstGeom>
          <a:ln>
            <a:tailEnd type="triangle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C3F2D74E-E548-DE3E-793A-D6BB5A772672}"/>
              </a:ext>
            </a:extLst>
          </p:cNvPr>
          <p:cNvCxnSpPr>
            <a:cxnSpLocks/>
            <a:endCxn id="57" idx="0"/>
          </p:cNvCxnSpPr>
          <p:nvPr/>
        </p:nvCxnSpPr>
        <p:spPr>
          <a:xfrm>
            <a:off x="5627949" y="2101825"/>
            <a:ext cx="0" cy="288032"/>
          </a:xfrm>
          <a:prstGeom prst="straightConnector1">
            <a:avLst/>
          </a:prstGeom>
          <a:ln>
            <a:tailEnd type="triangle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D7CF8704-9A2B-EB29-370B-973A1B261616}"/>
              </a:ext>
            </a:extLst>
          </p:cNvPr>
          <p:cNvSpPr txBox="1"/>
          <p:nvPr/>
        </p:nvSpPr>
        <p:spPr>
          <a:xfrm>
            <a:off x="5447928" y="1988840"/>
            <a:ext cx="100811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lnSpc>
                <a:spcPct val="80000"/>
              </a:lnSpc>
              <a:defRPr sz="1000"/>
            </a:lvl1pPr>
          </a:lstStyle>
          <a:p>
            <a:r>
              <a:rPr lang="en-US" dirty="0">
                <a:latin typeface="Times" pitchFamily="2" charset="0"/>
              </a:rPr>
              <a:t>P</a:t>
            </a:r>
            <a:r>
              <a:rPr lang="en-US" altLang="zh-CN" dirty="0">
                <a:latin typeface="Times" pitchFamily="2" charset="0"/>
              </a:rPr>
              <a:t>M</a:t>
            </a:r>
            <a:r>
              <a:rPr lang="en-US" dirty="0">
                <a:latin typeface="Times" pitchFamily="2" charset="0"/>
              </a:rPr>
              <a:t>D-VPN [47:21]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DB677662-99FB-E920-B803-8AE11940FE7B}"/>
              </a:ext>
            </a:extLst>
          </p:cNvPr>
          <p:cNvSpPr/>
          <p:nvPr/>
        </p:nvSpPr>
        <p:spPr>
          <a:xfrm>
            <a:off x="5735961" y="2749897"/>
            <a:ext cx="333895" cy="63812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" pitchFamily="2" charset="0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E616BCE-E3EC-34BE-7757-4C4960DF45AF}"/>
              </a:ext>
            </a:extLst>
          </p:cNvPr>
          <p:cNvSpPr/>
          <p:nvPr/>
        </p:nvSpPr>
        <p:spPr>
          <a:xfrm>
            <a:off x="5735961" y="2924944"/>
            <a:ext cx="333895" cy="1440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dirty="0">
                <a:latin typeface="Times" pitchFamily="2" charset="0"/>
              </a:rPr>
              <a:t>Miss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27ABCFD-899F-1946-39A7-98ED04D2BEB3}"/>
              </a:ext>
            </a:extLst>
          </p:cNvPr>
          <p:cNvSpPr txBox="1"/>
          <p:nvPr/>
        </p:nvSpPr>
        <p:spPr>
          <a:xfrm>
            <a:off x="5591944" y="3429000"/>
            <a:ext cx="814091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50" dirty="0">
                <a:latin typeface="Times" pitchFamily="2" charset="0"/>
              </a:rPr>
              <a:t>PMD (2MB)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63CABC84-F2CF-2610-2B8B-2D5520A91E60}"/>
              </a:ext>
            </a:extLst>
          </p:cNvPr>
          <p:cNvSpPr/>
          <p:nvPr/>
        </p:nvSpPr>
        <p:spPr>
          <a:xfrm>
            <a:off x="6456040" y="2420888"/>
            <a:ext cx="432048" cy="21602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latin typeface="Times" pitchFamily="2" charset="0"/>
              </a:rPr>
              <a:t>Hash</a:t>
            </a:r>
            <a:r>
              <a:rPr lang="en-US" sz="1000" baseline="-25000" dirty="0">
                <a:latin typeface="Times" pitchFamily="2" charset="0"/>
              </a:rPr>
              <a:t>1</a:t>
            </a:r>
            <a:endParaRPr lang="en-US" sz="1000" dirty="0">
              <a:latin typeface="Times" pitchFamily="2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3580059C-8807-D015-C099-DC7420E625A6}"/>
              </a:ext>
            </a:extLst>
          </p:cNvPr>
          <p:cNvSpPr/>
          <p:nvPr/>
        </p:nvSpPr>
        <p:spPr>
          <a:xfrm>
            <a:off x="6816079" y="2780928"/>
            <a:ext cx="432049" cy="7401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" pitchFamily="2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090C687E-DB6A-A28E-83EC-78F2768650FB}"/>
              </a:ext>
            </a:extLst>
          </p:cNvPr>
          <p:cNvSpPr/>
          <p:nvPr/>
        </p:nvSpPr>
        <p:spPr>
          <a:xfrm>
            <a:off x="6816080" y="3212976"/>
            <a:ext cx="432048" cy="1440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dirty="0">
                <a:latin typeface="Times" pitchFamily="2" charset="0"/>
              </a:rPr>
              <a:t>Miss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ED474BE-D2CA-915B-7F6D-B00486BB9887}"/>
              </a:ext>
            </a:extLst>
          </p:cNvPr>
          <p:cNvSpPr txBox="1"/>
          <p:nvPr/>
        </p:nvSpPr>
        <p:spPr>
          <a:xfrm>
            <a:off x="6816080" y="3523511"/>
            <a:ext cx="432047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50" dirty="0">
                <a:latin typeface="Times" pitchFamily="2" charset="0"/>
              </a:rPr>
              <a:t>Way 1</a:t>
            </a:r>
          </a:p>
        </p:txBody>
      </p:sp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B539E48E-775E-465B-13DE-508688AFA04C}"/>
              </a:ext>
            </a:extLst>
          </p:cNvPr>
          <p:cNvCxnSpPr>
            <a:cxnSpLocks/>
            <a:stCxn id="66" idx="4"/>
            <a:endCxn id="70" idx="1"/>
          </p:cNvCxnSpPr>
          <p:nvPr/>
        </p:nvCxnSpPr>
        <p:spPr>
          <a:xfrm rot="16200000" flipH="1">
            <a:off x="6420036" y="2888940"/>
            <a:ext cx="648072" cy="144016"/>
          </a:xfrm>
          <a:prstGeom prst="bentConnector2">
            <a:avLst/>
          </a:prstGeom>
          <a:ln>
            <a:tailEnd type="triangle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4645D42F-A824-B1B2-B446-54972F47DFE7}"/>
              </a:ext>
            </a:extLst>
          </p:cNvPr>
          <p:cNvCxnSpPr>
            <a:cxnSpLocks/>
            <a:stCxn id="176" idx="2"/>
            <a:endCxn id="66" idx="0"/>
          </p:cNvCxnSpPr>
          <p:nvPr/>
        </p:nvCxnSpPr>
        <p:spPr>
          <a:xfrm flipH="1">
            <a:off x="6672064" y="2111951"/>
            <a:ext cx="648072" cy="308937"/>
          </a:xfrm>
          <a:prstGeom prst="straightConnector1">
            <a:avLst/>
          </a:prstGeom>
          <a:ln>
            <a:tailEnd type="triangle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5" name="Rectangle 124">
            <a:extLst>
              <a:ext uri="{FF2B5EF4-FFF2-40B4-BE49-F238E27FC236}">
                <a16:creationId xmlns:a16="http://schemas.microsoft.com/office/drawing/2014/main" id="{429C5B6F-9044-8F96-3BD0-63FDC92ADCC4}"/>
              </a:ext>
            </a:extLst>
          </p:cNvPr>
          <p:cNvSpPr/>
          <p:nvPr/>
        </p:nvSpPr>
        <p:spPr>
          <a:xfrm>
            <a:off x="8112224" y="2996952"/>
            <a:ext cx="432048" cy="14401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dirty="0">
                <a:latin typeface="Times" pitchFamily="2" charset="0"/>
              </a:rPr>
              <a:t>Hit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B80FF7F-8D72-4DFF-6602-567348B495E6}"/>
              </a:ext>
            </a:extLst>
          </p:cNvPr>
          <p:cNvCxnSpPr>
            <a:cxnSpLocks/>
          </p:cNvCxnSpPr>
          <p:nvPr/>
        </p:nvCxnSpPr>
        <p:spPr>
          <a:xfrm>
            <a:off x="5114127" y="1792075"/>
            <a:ext cx="1701952" cy="179575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6637130F-56B2-4D72-EEEB-4861AC9F643E}"/>
              </a:ext>
            </a:extLst>
          </p:cNvPr>
          <p:cNvCxnSpPr>
            <a:cxnSpLocks/>
          </p:cNvCxnSpPr>
          <p:nvPr/>
        </p:nvCxnSpPr>
        <p:spPr>
          <a:xfrm>
            <a:off x="7244228" y="1795557"/>
            <a:ext cx="576063" cy="177534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09303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07965-0A64-2C42-29A0-B902A0BCB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roup 78">
            <a:extLst>
              <a:ext uri="{FF2B5EF4-FFF2-40B4-BE49-F238E27FC236}">
                <a16:creationId xmlns:a16="http://schemas.microsoft.com/office/drawing/2014/main" id="{96B36951-B285-74A2-DC08-94D4A3C7461C}"/>
              </a:ext>
            </a:extLst>
          </p:cNvPr>
          <p:cNvGrpSpPr/>
          <p:nvPr/>
        </p:nvGrpSpPr>
        <p:grpSpPr>
          <a:xfrm>
            <a:off x="4367808" y="1340768"/>
            <a:ext cx="4824537" cy="2540315"/>
            <a:chOff x="4367808" y="1340768"/>
            <a:chExt cx="4824537" cy="2540315"/>
          </a:xfrm>
        </p:grpSpPr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B3280E2C-04D4-86BC-A8CF-34B3C9462C03}"/>
                </a:ext>
              </a:extLst>
            </p:cNvPr>
            <p:cNvSpPr/>
            <p:nvPr/>
          </p:nvSpPr>
          <p:spPr>
            <a:xfrm>
              <a:off x="4520333" y="2309341"/>
              <a:ext cx="216024" cy="216024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00" dirty="0">
                  <a:latin typeface="Times" pitchFamily="2" charset="0"/>
                </a:rPr>
                <a:t>H</a:t>
              </a:r>
              <a:r>
                <a:rPr lang="en-US" sz="1000" baseline="-25000" dirty="0">
                  <a:latin typeface="Times" pitchFamily="2" charset="0"/>
                </a:rPr>
                <a:t>3</a:t>
              </a:r>
              <a:endParaRPr lang="en-US" sz="1000" dirty="0">
                <a:latin typeface="Times" pitchFamily="2" charset="0"/>
              </a:endParaRPr>
            </a:p>
          </p:txBody>
        </p:sp>
        <p:sp>
          <p:nvSpPr>
            <p:cNvPr id="134" name="Oval 133">
              <a:extLst>
                <a:ext uri="{FF2B5EF4-FFF2-40B4-BE49-F238E27FC236}">
                  <a16:creationId xmlns:a16="http://schemas.microsoft.com/office/drawing/2014/main" id="{F92DDC76-74BB-331C-382E-5D7FEF1BD8E0}"/>
                </a:ext>
              </a:extLst>
            </p:cNvPr>
            <p:cNvSpPr/>
            <p:nvPr/>
          </p:nvSpPr>
          <p:spPr>
            <a:xfrm>
              <a:off x="4480075" y="2349599"/>
              <a:ext cx="216024" cy="216024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00" dirty="0">
                  <a:latin typeface="Times" pitchFamily="2" charset="0"/>
                </a:rPr>
                <a:t>H</a:t>
              </a:r>
              <a:r>
                <a:rPr lang="en-US" sz="1000" baseline="-25000" dirty="0">
                  <a:latin typeface="Times" pitchFamily="2" charset="0"/>
                </a:rPr>
                <a:t>2</a:t>
              </a:r>
              <a:endParaRPr lang="en-US" sz="1000" dirty="0">
                <a:latin typeface="Times" pitchFamily="2" charset="0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1862ABDE-6C67-8748-EA30-18A1B8A026E9}"/>
                </a:ext>
              </a:extLst>
            </p:cNvPr>
            <p:cNvSpPr/>
            <p:nvPr/>
          </p:nvSpPr>
          <p:spPr>
            <a:xfrm>
              <a:off x="4799857" y="2605881"/>
              <a:ext cx="340362" cy="60709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" pitchFamily="2" charset="0"/>
              </a:endParaRPr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407B2FA8-10BE-5B83-7D2F-F30A52716747}"/>
                </a:ext>
              </a:extLst>
            </p:cNvPr>
            <p:cNvSpPr/>
            <p:nvPr/>
          </p:nvSpPr>
          <p:spPr>
            <a:xfrm>
              <a:off x="4727849" y="2677889"/>
              <a:ext cx="340362" cy="60709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" pitchFamily="2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C4999E6C-F3AC-0DAB-151C-970379599AB7}"/>
                </a:ext>
              </a:extLst>
            </p:cNvPr>
            <p:cNvSpPr/>
            <p:nvPr/>
          </p:nvSpPr>
          <p:spPr>
            <a:xfrm>
              <a:off x="6816080" y="1972965"/>
              <a:ext cx="1000311" cy="130805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bIns="46800" rtlCol="0" anchor="ctr"/>
            <a:lstStyle/>
            <a:p>
              <a:pPr algn="ctr"/>
              <a:endParaRPr lang="en-US" sz="1100" dirty="0">
                <a:latin typeface="Times" pitchFamily="2" charset="0"/>
              </a:endParaRPr>
            </a:p>
          </p:txBody>
        </p:sp>
        <p:sp>
          <p:nvSpPr>
            <p:cNvPr id="133" name="Oval 132">
              <a:extLst>
                <a:ext uri="{FF2B5EF4-FFF2-40B4-BE49-F238E27FC236}">
                  <a16:creationId xmlns:a16="http://schemas.microsoft.com/office/drawing/2014/main" id="{83328B6A-59B8-B8F6-7DAC-F7D1F9FA1877}"/>
                </a:ext>
              </a:extLst>
            </p:cNvPr>
            <p:cNvSpPr/>
            <p:nvPr/>
          </p:nvSpPr>
          <p:spPr>
            <a:xfrm>
              <a:off x="4439816" y="2389857"/>
              <a:ext cx="216025" cy="216024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00" dirty="0">
                  <a:latin typeface="Times" pitchFamily="2" charset="0"/>
                </a:rPr>
                <a:t>H</a:t>
              </a:r>
              <a:r>
                <a:rPr lang="en-US" sz="1000" baseline="-25000" dirty="0">
                  <a:latin typeface="Times" pitchFamily="2" charset="0"/>
                </a:rPr>
                <a:t>1</a:t>
              </a:r>
              <a:endParaRPr lang="en-US" sz="1000" dirty="0">
                <a:latin typeface="Times" pitchFamily="2" charset="0"/>
              </a:endParaRPr>
            </a:p>
          </p:txBody>
        </p:sp>
        <p:cxnSp>
          <p:nvCxnSpPr>
            <p:cNvPr id="144" name="Connector: Elbow 143">
              <a:extLst>
                <a:ext uri="{FF2B5EF4-FFF2-40B4-BE49-F238E27FC236}">
                  <a16:creationId xmlns:a16="http://schemas.microsoft.com/office/drawing/2014/main" id="{88D9B77B-62AA-B363-5D48-4268A0D73BBC}"/>
                </a:ext>
              </a:extLst>
            </p:cNvPr>
            <p:cNvCxnSpPr>
              <a:cxnSpLocks/>
              <a:stCxn id="133" idx="4"/>
              <a:endCxn id="184" idx="1"/>
            </p:cNvCxnSpPr>
            <p:nvPr/>
          </p:nvCxnSpPr>
          <p:spPr>
            <a:xfrm rot="16200000" flipH="1">
              <a:off x="4277799" y="2875911"/>
              <a:ext cx="648072" cy="108012"/>
            </a:xfrm>
            <a:prstGeom prst="bentConnector2">
              <a:avLst/>
            </a:prstGeom>
            <a:ln>
              <a:tailEnd type="triangle" w="sm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9" name="Straight Arrow Connector 148">
              <a:extLst>
                <a:ext uri="{FF2B5EF4-FFF2-40B4-BE49-F238E27FC236}">
                  <a16:creationId xmlns:a16="http://schemas.microsoft.com/office/drawing/2014/main" id="{A66EFFB6-4FD5-32B1-2618-D311051A652E}"/>
                </a:ext>
              </a:extLst>
            </p:cNvPr>
            <p:cNvCxnSpPr>
              <a:cxnSpLocks/>
              <a:endCxn id="133" idx="0"/>
            </p:cNvCxnSpPr>
            <p:nvPr/>
          </p:nvCxnSpPr>
          <p:spPr>
            <a:xfrm>
              <a:off x="4547829" y="2101825"/>
              <a:ext cx="0" cy="288032"/>
            </a:xfrm>
            <a:prstGeom prst="straightConnector1">
              <a:avLst/>
            </a:prstGeom>
            <a:ln>
              <a:tailEnd type="triangle" w="sm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EDBA9C77-3DD3-287B-83DC-4CDE2DFACA54}"/>
                </a:ext>
              </a:extLst>
            </p:cNvPr>
            <p:cNvSpPr txBox="1"/>
            <p:nvPr/>
          </p:nvSpPr>
          <p:spPr>
            <a:xfrm>
              <a:off x="4367808" y="1988840"/>
              <a:ext cx="1008112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algn="ctr">
                <a:lnSpc>
                  <a:spcPct val="80000"/>
                </a:lnSpc>
                <a:defRPr sz="1000"/>
              </a:lvl1pPr>
            </a:lstStyle>
            <a:p>
              <a:r>
                <a:rPr lang="en-US" dirty="0">
                  <a:latin typeface="Times" pitchFamily="2" charset="0"/>
                </a:rPr>
                <a:t>PUD-VPN [47:33]</a:t>
              </a:r>
            </a:p>
          </p:txBody>
        </p:sp>
        <p:sp>
          <p:nvSpPr>
            <p:cNvPr id="167" name="Oval 166">
              <a:extLst>
                <a:ext uri="{FF2B5EF4-FFF2-40B4-BE49-F238E27FC236}">
                  <a16:creationId xmlns:a16="http://schemas.microsoft.com/office/drawing/2014/main" id="{C7826CCE-7BE6-D00C-C672-A31AFAD76E6D}"/>
                </a:ext>
              </a:extLst>
            </p:cNvPr>
            <p:cNvSpPr/>
            <p:nvPr/>
          </p:nvSpPr>
          <p:spPr>
            <a:xfrm>
              <a:off x="7104112" y="2420888"/>
              <a:ext cx="432048" cy="216024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00" dirty="0">
                  <a:latin typeface="Times" pitchFamily="2" charset="0"/>
                </a:rPr>
                <a:t>Hash</a:t>
              </a:r>
              <a:r>
                <a:rPr lang="en-US" sz="1000" baseline="-25000" dirty="0">
                  <a:latin typeface="Times" pitchFamily="2" charset="0"/>
                </a:rPr>
                <a:t>2</a:t>
              </a:r>
              <a:endParaRPr lang="en-US" sz="1000" dirty="0">
                <a:latin typeface="Times" pitchFamily="2" charset="0"/>
              </a:endParaRPr>
            </a:p>
          </p:txBody>
        </p:sp>
        <p:sp>
          <p:nvSpPr>
            <p:cNvPr id="168" name="Oval 167">
              <a:extLst>
                <a:ext uri="{FF2B5EF4-FFF2-40B4-BE49-F238E27FC236}">
                  <a16:creationId xmlns:a16="http://schemas.microsoft.com/office/drawing/2014/main" id="{FC4B713B-EF97-FA43-E4FE-F10FF8B44610}"/>
                </a:ext>
              </a:extLst>
            </p:cNvPr>
            <p:cNvSpPr/>
            <p:nvPr/>
          </p:nvSpPr>
          <p:spPr>
            <a:xfrm>
              <a:off x="7752184" y="2420888"/>
              <a:ext cx="432048" cy="216024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00" dirty="0">
                  <a:latin typeface="Times" pitchFamily="2" charset="0"/>
                </a:rPr>
                <a:t>Hash</a:t>
              </a:r>
              <a:r>
                <a:rPr lang="en-US" sz="1000" baseline="-25000" dirty="0">
                  <a:latin typeface="Times" pitchFamily="2" charset="0"/>
                </a:rPr>
                <a:t>3</a:t>
              </a:r>
              <a:endParaRPr lang="en-US" sz="1000" dirty="0">
                <a:latin typeface="Times" pitchFamily="2" charset="0"/>
              </a:endParaRPr>
            </a:p>
          </p:txBody>
        </p:sp>
        <p:cxnSp>
          <p:nvCxnSpPr>
            <p:cNvPr id="174" name="Straight Arrow Connector 173">
              <a:extLst>
                <a:ext uri="{FF2B5EF4-FFF2-40B4-BE49-F238E27FC236}">
                  <a16:creationId xmlns:a16="http://schemas.microsoft.com/office/drawing/2014/main" id="{AA074F25-3986-5636-B012-3D357221A715}"/>
                </a:ext>
              </a:extLst>
            </p:cNvPr>
            <p:cNvCxnSpPr>
              <a:cxnSpLocks/>
              <a:stCxn id="176" idx="2"/>
              <a:endCxn id="167" idx="0"/>
            </p:cNvCxnSpPr>
            <p:nvPr/>
          </p:nvCxnSpPr>
          <p:spPr>
            <a:xfrm>
              <a:off x="7320136" y="2111951"/>
              <a:ext cx="0" cy="308937"/>
            </a:xfrm>
            <a:prstGeom prst="straightConnector1">
              <a:avLst/>
            </a:prstGeom>
            <a:ln>
              <a:tailEnd type="triangle" w="sm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5" name="Straight Arrow Connector 174">
              <a:extLst>
                <a:ext uri="{FF2B5EF4-FFF2-40B4-BE49-F238E27FC236}">
                  <a16:creationId xmlns:a16="http://schemas.microsoft.com/office/drawing/2014/main" id="{721AEE94-F005-C332-9103-7A305F84D3FD}"/>
                </a:ext>
              </a:extLst>
            </p:cNvPr>
            <p:cNvCxnSpPr>
              <a:cxnSpLocks/>
              <a:stCxn id="176" idx="2"/>
              <a:endCxn id="168" idx="0"/>
            </p:cNvCxnSpPr>
            <p:nvPr/>
          </p:nvCxnSpPr>
          <p:spPr>
            <a:xfrm>
              <a:off x="7320136" y="2111951"/>
              <a:ext cx="648072" cy="308937"/>
            </a:xfrm>
            <a:prstGeom prst="straightConnector1">
              <a:avLst/>
            </a:prstGeom>
            <a:ln>
              <a:tailEnd type="triangle" w="sm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7E4D35FB-3BD3-69FC-61D0-6EAECEAA989C}"/>
                </a:ext>
              </a:extLst>
            </p:cNvPr>
            <p:cNvSpPr txBox="1"/>
            <p:nvPr/>
          </p:nvSpPr>
          <p:spPr>
            <a:xfrm>
              <a:off x="6816080" y="1988840"/>
              <a:ext cx="1008112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algn="ctr">
                <a:lnSpc>
                  <a:spcPct val="80000"/>
                </a:lnSpc>
                <a:defRPr sz="1000"/>
              </a:lvl1pPr>
            </a:lstStyle>
            <a:p>
              <a:r>
                <a:rPr lang="en-US" dirty="0">
                  <a:latin typeface="Times" pitchFamily="2" charset="0"/>
                </a:rPr>
                <a:t>PTE-VPN [47:15]</a:t>
              </a:r>
            </a:p>
          </p:txBody>
        </p:sp>
        <p:sp>
          <p:nvSpPr>
            <p:cNvPr id="166" name="Rectangle 165">
              <a:extLst>
                <a:ext uri="{FF2B5EF4-FFF2-40B4-BE49-F238E27FC236}">
                  <a16:creationId xmlns:a16="http://schemas.microsoft.com/office/drawing/2014/main" id="{5B3F4B09-BEF6-57C1-D497-11D2272D4DFC}"/>
                </a:ext>
              </a:extLst>
            </p:cNvPr>
            <p:cNvSpPr/>
            <p:nvPr/>
          </p:nvSpPr>
          <p:spPr>
            <a:xfrm>
              <a:off x="7464152" y="2780928"/>
              <a:ext cx="432048" cy="74011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" pitchFamily="2" charset="0"/>
              </a:endParaRPr>
            </a:p>
          </p:txBody>
        </p:sp>
        <p:sp>
          <p:nvSpPr>
            <p:cNvPr id="181" name="Rectangle 180">
              <a:extLst>
                <a:ext uri="{FF2B5EF4-FFF2-40B4-BE49-F238E27FC236}">
                  <a16:creationId xmlns:a16="http://schemas.microsoft.com/office/drawing/2014/main" id="{FC9312C0-9423-D593-72A2-41A15A8E9ABF}"/>
                </a:ext>
              </a:extLst>
            </p:cNvPr>
            <p:cNvSpPr/>
            <p:nvPr/>
          </p:nvSpPr>
          <p:spPr>
            <a:xfrm>
              <a:off x="7464152" y="3212976"/>
              <a:ext cx="432048" cy="14401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100" dirty="0">
                  <a:latin typeface="Times" pitchFamily="2" charset="0"/>
                </a:rPr>
                <a:t>Miss</a:t>
              </a:r>
            </a:p>
          </p:txBody>
        </p:sp>
        <p:sp>
          <p:nvSpPr>
            <p:cNvPr id="170" name="Rectangle 169">
              <a:extLst>
                <a:ext uri="{FF2B5EF4-FFF2-40B4-BE49-F238E27FC236}">
                  <a16:creationId xmlns:a16="http://schemas.microsoft.com/office/drawing/2014/main" id="{A732D921-1780-C80F-2428-920D8E475E9F}"/>
                </a:ext>
              </a:extLst>
            </p:cNvPr>
            <p:cNvSpPr/>
            <p:nvPr/>
          </p:nvSpPr>
          <p:spPr>
            <a:xfrm>
              <a:off x="8112224" y="2780928"/>
              <a:ext cx="432048" cy="74011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" pitchFamily="2" charset="0"/>
              </a:endParaRPr>
            </a:p>
          </p:txBody>
        </p: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7948288A-853C-CF5C-15CD-5A86CB6E573E}"/>
                </a:ext>
              </a:extLst>
            </p:cNvPr>
            <p:cNvSpPr/>
            <p:nvPr/>
          </p:nvSpPr>
          <p:spPr>
            <a:xfrm>
              <a:off x="4655841" y="2749897"/>
              <a:ext cx="333895" cy="63812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" pitchFamily="2" charset="0"/>
              </a:endParaRPr>
            </a:p>
          </p:txBody>
        </p:sp>
        <p:sp>
          <p:nvSpPr>
            <p:cNvPr id="184" name="Rectangle 183">
              <a:extLst>
                <a:ext uri="{FF2B5EF4-FFF2-40B4-BE49-F238E27FC236}">
                  <a16:creationId xmlns:a16="http://schemas.microsoft.com/office/drawing/2014/main" id="{4143F53D-4418-6A80-EC04-DA955B36C6AB}"/>
                </a:ext>
              </a:extLst>
            </p:cNvPr>
            <p:cNvSpPr/>
            <p:nvPr/>
          </p:nvSpPr>
          <p:spPr>
            <a:xfrm>
              <a:off x="4655841" y="3181945"/>
              <a:ext cx="333895" cy="14401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100" dirty="0">
                  <a:latin typeface="Times" pitchFamily="2" charset="0"/>
                </a:rPr>
                <a:t>Miss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D47F6D8E-8CFC-C059-1E4B-27801471594F}"/>
                </a:ext>
              </a:extLst>
            </p:cNvPr>
            <p:cNvSpPr/>
            <p:nvPr/>
          </p:nvSpPr>
          <p:spPr>
            <a:xfrm>
              <a:off x="8760297" y="2780928"/>
              <a:ext cx="432048" cy="73438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" pitchFamily="2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630936D9-9291-28C7-10B3-A39AEF76E090}"/>
                </a:ext>
              </a:extLst>
            </p:cNvPr>
            <p:cNvSpPr/>
            <p:nvPr/>
          </p:nvSpPr>
          <p:spPr>
            <a:xfrm>
              <a:off x="8760296" y="3068960"/>
              <a:ext cx="432048" cy="1440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100" dirty="0">
                  <a:latin typeface="Times" pitchFamily="2" charset="0"/>
                </a:rPr>
                <a:t>PA</a:t>
              </a:r>
            </a:p>
          </p:txBody>
        </p:sp>
        <p:cxnSp>
          <p:nvCxnSpPr>
            <p:cNvPr id="39" name="Connector: Elbow 38">
              <a:extLst>
                <a:ext uri="{FF2B5EF4-FFF2-40B4-BE49-F238E27FC236}">
                  <a16:creationId xmlns:a16="http://schemas.microsoft.com/office/drawing/2014/main" id="{ECEF4BBF-D3C6-F1C2-7497-D77A00D13E13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8370037" y="3243194"/>
              <a:ext cx="401017" cy="52547"/>
            </a:xfrm>
            <a:prstGeom prst="bentConnector3">
              <a:avLst>
                <a:gd name="adj1" fmla="val 3188"/>
              </a:avLst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06FCDD28-5249-3E89-C179-DF525B2B10D0}"/>
                </a:ext>
              </a:extLst>
            </p:cNvPr>
            <p:cNvCxnSpPr>
              <a:cxnSpLocks/>
            </p:cNvCxnSpPr>
            <p:nvPr/>
          </p:nvCxnSpPr>
          <p:spPr>
            <a:xfrm>
              <a:off x="8596819" y="3469977"/>
              <a:ext cx="163477" cy="0"/>
            </a:xfrm>
            <a:prstGeom prst="straightConnector1">
              <a:avLst/>
            </a:prstGeom>
            <a:ln>
              <a:tailEnd type="triangle" w="sm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6" name="Connector: Elbow 45">
              <a:extLst>
                <a:ext uri="{FF2B5EF4-FFF2-40B4-BE49-F238E27FC236}">
                  <a16:creationId xmlns:a16="http://schemas.microsoft.com/office/drawing/2014/main" id="{7366EB73-5382-7BDD-4216-F8B11B812DEE}"/>
                </a:ext>
              </a:extLst>
            </p:cNvPr>
            <p:cNvCxnSpPr>
              <a:cxnSpLocks/>
              <a:endCxn id="36" idx="1"/>
            </p:cNvCxnSpPr>
            <p:nvPr/>
          </p:nvCxnSpPr>
          <p:spPr>
            <a:xfrm rot="16200000" flipH="1">
              <a:off x="8028654" y="2409325"/>
              <a:ext cx="1345411" cy="117873"/>
            </a:xfrm>
            <a:prstGeom prst="bentConnector2">
              <a:avLst/>
            </a:prstGeom>
            <a:ln>
              <a:tailEnd type="triangle" w="sm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AB768DBA-8D27-905F-092D-9F5B7CAFD9C0}"/>
                </a:ext>
              </a:extLst>
            </p:cNvPr>
            <p:cNvSpPr txBox="1"/>
            <p:nvPr/>
          </p:nvSpPr>
          <p:spPr>
            <a:xfrm>
              <a:off x="4511824" y="3429000"/>
              <a:ext cx="814091" cy="16158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050" dirty="0">
                  <a:latin typeface="Times" pitchFamily="2" charset="0"/>
                </a:rPr>
                <a:t>PUD (1GB)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92D9FAE0-1DAE-AD07-67AA-DC6762621687}"/>
                </a:ext>
              </a:extLst>
            </p:cNvPr>
            <p:cNvSpPr txBox="1"/>
            <p:nvPr/>
          </p:nvSpPr>
          <p:spPr>
            <a:xfrm>
              <a:off x="7464151" y="3523511"/>
              <a:ext cx="432049" cy="16158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050" dirty="0">
                  <a:latin typeface="Times" pitchFamily="2" charset="0"/>
                </a:rPr>
                <a:t>Way 2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C5D9B65A-C60F-7C9F-916F-CAA5F97869EB}"/>
                </a:ext>
              </a:extLst>
            </p:cNvPr>
            <p:cNvSpPr txBox="1"/>
            <p:nvPr/>
          </p:nvSpPr>
          <p:spPr>
            <a:xfrm>
              <a:off x="8112224" y="3523511"/>
              <a:ext cx="432048" cy="16158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050" dirty="0">
                  <a:latin typeface="Times" pitchFamily="2" charset="0"/>
                </a:rPr>
                <a:t>Way 3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A603904A-3D86-3440-198D-1932F3A922A4}"/>
                </a:ext>
              </a:extLst>
            </p:cNvPr>
            <p:cNvSpPr txBox="1"/>
            <p:nvPr/>
          </p:nvSpPr>
          <p:spPr>
            <a:xfrm>
              <a:off x="6816080" y="3719500"/>
              <a:ext cx="1728192" cy="16158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050" dirty="0">
                  <a:latin typeface="Times" pitchFamily="2" charset="0"/>
                </a:rPr>
                <a:t>PTE (4KB)</a:t>
              </a:r>
            </a:p>
          </p:txBody>
        </p:sp>
        <p:cxnSp>
          <p:nvCxnSpPr>
            <p:cNvPr id="172" name="Connector: Elbow 171">
              <a:extLst>
                <a:ext uri="{FF2B5EF4-FFF2-40B4-BE49-F238E27FC236}">
                  <a16:creationId xmlns:a16="http://schemas.microsoft.com/office/drawing/2014/main" id="{A68AE64B-85D5-05E2-4AAC-FEF132E18600}"/>
                </a:ext>
              </a:extLst>
            </p:cNvPr>
            <p:cNvCxnSpPr>
              <a:cxnSpLocks/>
              <a:stCxn id="167" idx="4"/>
              <a:endCxn id="181" idx="1"/>
            </p:cNvCxnSpPr>
            <p:nvPr/>
          </p:nvCxnSpPr>
          <p:spPr>
            <a:xfrm rot="16200000" flipH="1">
              <a:off x="7068108" y="2888940"/>
              <a:ext cx="648072" cy="144016"/>
            </a:xfrm>
            <a:prstGeom prst="bentConnector2">
              <a:avLst/>
            </a:prstGeom>
            <a:ln>
              <a:tailEnd type="triangle" w="sm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3" name="Connector: Elbow 172">
              <a:extLst>
                <a:ext uri="{FF2B5EF4-FFF2-40B4-BE49-F238E27FC236}">
                  <a16:creationId xmlns:a16="http://schemas.microsoft.com/office/drawing/2014/main" id="{0164B3C1-6CF8-6E94-F014-FFF2057F3AC4}"/>
                </a:ext>
              </a:extLst>
            </p:cNvPr>
            <p:cNvCxnSpPr>
              <a:cxnSpLocks/>
              <a:stCxn id="168" idx="4"/>
            </p:cNvCxnSpPr>
            <p:nvPr/>
          </p:nvCxnSpPr>
          <p:spPr>
            <a:xfrm rot="16200000" flipH="1">
              <a:off x="7824192" y="2780928"/>
              <a:ext cx="432048" cy="144016"/>
            </a:xfrm>
            <a:prstGeom prst="bentConnector2">
              <a:avLst/>
            </a:prstGeom>
            <a:ln>
              <a:tailEnd type="triangle" w="sm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3301A245-081F-48C0-8F22-0D73CA15F5FA}"/>
                </a:ext>
              </a:extLst>
            </p:cNvPr>
            <p:cNvSpPr/>
            <p:nvPr/>
          </p:nvSpPr>
          <p:spPr>
            <a:xfrm>
              <a:off x="5114127" y="1618404"/>
              <a:ext cx="2133737" cy="16897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bIns="46800" rtlCol="0" anchor="ctr"/>
            <a:lstStyle/>
            <a:p>
              <a:pPr algn="ctr"/>
              <a:r>
                <a:rPr lang="en-US" sz="1200">
                  <a:latin typeface="Times" pitchFamily="2" charset="0"/>
                </a:rPr>
                <a:t>PTE VPN Tag</a:t>
              </a:r>
              <a:endParaRPr lang="en-US" sz="1200" dirty="0">
                <a:latin typeface="Times" pitchFamily="2" charset="0"/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B73455A-6A57-3228-5DE9-582CF48C7B3C}"/>
                </a:ext>
              </a:extLst>
            </p:cNvPr>
            <p:cNvSpPr/>
            <p:nvPr/>
          </p:nvSpPr>
          <p:spPr>
            <a:xfrm>
              <a:off x="7247865" y="1618403"/>
              <a:ext cx="720344" cy="16897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bIns="46800" rtlCol="0" anchor="ctr"/>
            <a:lstStyle/>
            <a:p>
              <a:pPr algn="ctr"/>
              <a:r>
                <a:rPr lang="en-US" sz="1100" dirty="0">
                  <a:latin typeface="Times" pitchFamily="2" charset="0"/>
                </a:rPr>
                <a:t>PTE Offset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5D51BAD-2897-244C-16CB-DD28E6A5C617}"/>
                </a:ext>
              </a:extLst>
            </p:cNvPr>
            <p:cNvSpPr/>
            <p:nvPr/>
          </p:nvSpPr>
          <p:spPr>
            <a:xfrm>
              <a:off x="4529578" y="1618403"/>
              <a:ext cx="586711" cy="16897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bIns="46800" rtlCol="0" anchor="ctr"/>
            <a:lstStyle/>
            <a:p>
              <a:pPr algn="ctr"/>
              <a:endParaRPr lang="en-US" sz="1200" dirty="0">
                <a:latin typeface="Times" pitchFamily="2" charset="0"/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B0BE06C-6037-9E45-071D-47577D4B04A7}"/>
                </a:ext>
              </a:extLst>
            </p:cNvPr>
            <p:cNvSpPr txBox="1"/>
            <p:nvPr/>
          </p:nvSpPr>
          <p:spPr>
            <a:xfrm>
              <a:off x="4511824" y="1474387"/>
              <a:ext cx="144016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000" dirty="0">
                  <a:latin typeface="Times" pitchFamily="2" charset="0"/>
                </a:rPr>
                <a:t>63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897AD4B-C133-AD5D-71A1-F87710288055}"/>
                </a:ext>
              </a:extLst>
            </p:cNvPr>
            <p:cNvSpPr txBox="1"/>
            <p:nvPr/>
          </p:nvSpPr>
          <p:spPr>
            <a:xfrm>
              <a:off x="4950895" y="1474387"/>
              <a:ext cx="144016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000" dirty="0">
                  <a:latin typeface="Times" pitchFamily="2" charset="0"/>
                </a:rPr>
                <a:t>48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BB108D8-617A-DC47-8A75-D87DE43FEBC3}"/>
                </a:ext>
              </a:extLst>
            </p:cNvPr>
            <p:cNvSpPr txBox="1"/>
            <p:nvPr/>
          </p:nvSpPr>
          <p:spPr>
            <a:xfrm>
              <a:off x="5115527" y="1474387"/>
              <a:ext cx="144016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000" dirty="0">
                  <a:latin typeface="Times" pitchFamily="2" charset="0"/>
                </a:rPr>
                <a:t>47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3C80E73D-5B86-024F-C7C4-E472234D4A4A}"/>
                </a:ext>
              </a:extLst>
            </p:cNvPr>
            <p:cNvSpPr txBox="1"/>
            <p:nvPr/>
          </p:nvSpPr>
          <p:spPr>
            <a:xfrm>
              <a:off x="7103980" y="1474387"/>
              <a:ext cx="144016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000" dirty="0">
                  <a:latin typeface="Times" pitchFamily="2" charset="0"/>
                </a:rPr>
                <a:t>15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D0AE3920-77E4-AAFD-0E91-5050AA2430C4}"/>
                </a:ext>
              </a:extLst>
            </p:cNvPr>
            <p:cNvSpPr txBox="1"/>
            <p:nvPr/>
          </p:nvSpPr>
          <p:spPr>
            <a:xfrm>
              <a:off x="7247996" y="1474387"/>
              <a:ext cx="144016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000" dirty="0">
                  <a:latin typeface="Times" pitchFamily="2" charset="0"/>
                </a:rPr>
                <a:t>14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0AD7C49-76DB-6A44-9ADA-7349DD0BB55B}"/>
                </a:ext>
              </a:extLst>
            </p:cNvPr>
            <p:cNvSpPr txBox="1"/>
            <p:nvPr/>
          </p:nvSpPr>
          <p:spPr>
            <a:xfrm>
              <a:off x="7824060" y="1474387"/>
              <a:ext cx="144016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000" dirty="0">
                  <a:latin typeface="Times" pitchFamily="2" charset="0"/>
                </a:rPr>
                <a:t>12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56C274F4-190F-93BC-D553-2EFEBD644487}"/>
                </a:ext>
              </a:extLst>
            </p:cNvPr>
            <p:cNvSpPr txBox="1"/>
            <p:nvPr/>
          </p:nvSpPr>
          <p:spPr>
            <a:xfrm>
              <a:off x="7968076" y="1474387"/>
              <a:ext cx="144016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000" dirty="0">
                  <a:latin typeface="Times" pitchFamily="2" charset="0"/>
                </a:rPr>
                <a:t>11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BDB1356-C5BD-3BA8-6ECC-BD97FFE0B07E}"/>
                </a:ext>
              </a:extLst>
            </p:cNvPr>
            <p:cNvSpPr txBox="1"/>
            <p:nvPr/>
          </p:nvSpPr>
          <p:spPr>
            <a:xfrm>
              <a:off x="9032944" y="1474387"/>
              <a:ext cx="144016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000" dirty="0">
                  <a:latin typeface="Times" pitchFamily="2" charset="0"/>
                </a:rPr>
                <a:t>0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C605C897-FAA7-7ED2-8DEC-2E012D035A43}"/>
                </a:ext>
              </a:extLst>
            </p:cNvPr>
            <p:cNvSpPr txBox="1"/>
            <p:nvPr/>
          </p:nvSpPr>
          <p:spPr>
            <a:xfrm>
              <a:off x="4520333" y="1340768"/>
              <a:ext cx="4305030" cy="1692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100" dirty="0">
                  <a:latin typeface="Times" pitchFamily="2" charset="0"/>
                </a:rPr>
                <a:t>Virtual Address (VA) of a 4KB Page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A85037A-285C-1181-60B0-7B0DF6C60699}"/>
                </a:ext>
              </a:extLst>
            </p:cNvPr>
            <p:cNvSpPr/>
            <p:nvPr/>
          </p:nvSpPr>
          <p:spPr>
            <a:xfrm>
              <a:off x="7968076" y="1618057"/>
              <a:ext cx="1152128" cy="168973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bIns="46800" rtlCol="0" anchor="ctr"/>
            <a:lstStyle/>
            <a:p>
              <a:pPr algn="ctr"/>
              <a:r>
                <a:rPr lang="en-US" sz="1100" dirty="0">
                  <a:latin typeface="Times" pitchFamily="2" charset="0"/>
                </a:rPr>
                <a:t>Page Offset</a:t>
              </a: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E86A6D3F-7081-FFEF-1265-A18F51D5121C}"/>
                </a:ext>
              </a:extLst>
            </p:cNvPr>
            <p:cNvSpPr/>
            <p:nvPr/>
          </p:nvSpPr>
          <p:spPr>
            <a:xfrm>
              <a:off x="5600453" y="2309341"/>
              <a:ext cx="216024" cy="216024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00" dirty="0">
                  <a:latin typeface="Times" pitchFamily="2" charset="0"/>
                </a:rPr>
                <a:t>H</a:t>
              </a:r>
              <a:r>
                <a:rPr lang="en-US" sz="1000" baseline="-25000" dirty="0">
                  <a:latin typeface="Times" pitchFamily="2" charset="0"/>
                </a:rPr>
                <a:t>3</a:t>
              </a:r>
              <a:endParaRPr lang="en-US" sz="1000" dirty="0">
                <a:latin typeface="Times" pitchFamily="2" charset="0"/>
              </a:endParaRP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4F47D10D-4F00-769E-5E93-28D215237FA3}"/>
                </a:ext>
              </a:extLst>
            </p:cNvPr>
            <p:cNvSpPr/>
            <p:nvPr/>
          </p:nvSpPr>
          <p:spPr>
            <a:xfrm>
              <a:off x="5560195" y="2349599"/>
              <a:ext cx="216024" cy="216024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00" dirty="0">
                  <a:latin typeface="Times" pitchFamily="2" charset="0"/>
                </a:rPr>
                <a:t>H</a:t>
              </a:r>
              <a:r>
                <a:rPr lang="en-US" sz="1000" baseline="-25000" dirty="0">
                  <a:latin typeface="Times" pitchFamily="2" charset="0"/>
                </a:rPr>
                <a:t>2</a:t>
              </a:r>
              <a:endParaRPr lang="en-US" sz="1000" dirty="0">
                <a:latin typeface="Times" pitchFamily="2" charset="0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8A1B86EB-7E4A-8B98-ABB3-99F2E412123D}"/>
                </a:ext>
              </a:extLst>
            </p:cNvPr>
            <p:cNvSpPr/>
            <p:nvPr/>
          </p:nvSpPr>
          <p:spPr>
            <a:xfrm>
              <a:off x="5879977" y="2605881"/>
              <a:ext cx="340362" cy="60709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" pitchFamily="2" charset="0"/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EA7C703E-CF67-E2B4-35F4-59CC89E3253B}"/>
                </a:ext>
              </a:extLst>
            </p:cNvPr>
            <p:cNvSpPr/>
            <p:nvPr/>
          </p:nvSpPr>
          <p:spPr>
            <a:xfrm>
              <a:off x="5807969" y="2677889"/>
              <a:ext cx="340362" cy="60709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" pitchFamily="2" charset="0"/>
              </a:endParaRPr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5BC142FC-E21C-6CAF-DA5F-BAA87F6B60D8}"/>
                </a:ext>
              </a:extLst>
            </p:cNvPr>
            <p:cNvSpPr/>
            <p:nvPr/>
          </p:nvSpPr>
          <p:spPr>
            <a:xfrm>
              <a:off x="5519936" y="2389857"/>
              <a:ext cx="216025" cy="216024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00" dirty="0">
                  <a:latin typeface="Times" pitchFamily="2" charset="0"/>
                </a:rPr>
                <a:t>H</a:t>
              </a:r>
              <a:r>
                <a:rPr lang="en-US" sz="1000" baseline="-25000" dirty="0">
                  <a:latin typeface="Times" pitchFamily="2" charset="0"/>
                </a:rPr>
                <a:t>1</a:t>
              </a:r>
              <a:endParaRPr lang="en-US" sz="1000" dirty="0">
                <a:latin typeface="Times" pitchFamily="2" charset="0"/>
              </a:endParaRPr>
            </a:p>
          </p:txBody>
        </p:sp>
        <p:cxnSp>
          <p:nvCxnSpPr>
            <p:cNvPr id="58" name="Connector: Elbow 57">
              <a:extLst>
                <a:ext uri="{FF2B5EF4-FFF2-40B4-BE49-F238E27FC236}">
                  <a16:creationId xmlns:a16="http://schemas.microsoft.com/office/drawing/2014/main" id="{1EF73CC0-E446-94DE-74D0-D69DEF5D952E}"/>
                </a:ext>
              </a:extLst>
            </p:cNvPr>
            <p:cNvCxnSpPr>
              <a:cxnSpLocks/>
              <a:stCxn id="57" idx="4"/>
              <a:endCxn id="64" idx="1"/>
            </p:cNvCxnSpPr>
            <p:nvPr/>
          </p:nvCxnSpPr>
          <p:spPr>
            <a:xfrm rot="16200000" flipH="1">
              <a:off x="5486420" y="2747410"/>
              <a:ext cx="391071" cy="108012"/>
            </a:xfrm>
            <a:prstGeom prst="bentConnector2">
              <a:avLst/>
            </a:prstGeom>
            <a:ln>
              <a:tailEnd type="triangle" w="sm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E15DFC06-6CB8-AD06-10E5-CBD413329023}"/>
                </a:ext>
              </a:extLst>
            </p:cNvPr>
            <p:cNvCxnSpPr>
              <a:cxnSpLocks/>
              <a:endCxn id="57" idx="0"/>
            </p:cNvCxnSpPr>
            <p:nvPr/>
          </p:nvCxnSpPr>
          <p:spPr>
            <a:xfrm>
              <a:off x="5627949" y="2101825"/>
              <a:ext cx="0" cy="288032"/>
            </a:xfrm>
            <a:prstGeom prst="straightConnector1">
              <a:avLst/>
            </a:prstGeom>
            <a:ln>
              <a:tailEnd type="triangle" w="sm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ADCABD20-0996-7D3D-5F9E-C3661A40EC7A}"/>
                </a:ext>
              </a:extLst>
            </p:cNvPr>
            <p:cNvSpPr txBox="1"/>
            <p:nvPr/>
          </p:nvSpPr>
          <p:spPr>
            <a:xfrm>
              <a:off x="5447928" y="1988840"/>
              <a:ext cx="1008112" cy="12311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>
              <a:defPPr>
                <a:defRPr lang="en-US"/>
              </a:defPPr>
              <a:lvl1pPr algn="ctr">
                <a:lnSpc>
                  <a:spcPct val="80000"/>
                </a:lnSpc>
                <a:defRPr sz="1000"/>
              </a:lvl1pPr>
            </a:lstStyle>
            <a:p>
              <a:r>
                <a:rPr lang="en-US" dirty="0">
                  <a:latin typeface="Times" pitchFamily="2" charset="0"/>
                </a:rPr>
                <a:t>P</a:t>
              </a:r>
              <a:r>
                <a:rPr lang="en-US" altLang="zh-CN" dirty="0">
                  <a:latin typeface="Times" pitchFamily="2" charset="0"/>
                </a:rPr>
                <a:t>M</a:t>
              </a:r>
              <a:r>
                <a:rPr lang="en-US" dirty="0">
                  <a:latin typeface="Times" pitchFamily="2" charset="0"/>
                </a:rPr>
                <a:t>D-VPN [47:24]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34AFF6DB-8F98-2DEE-0039-05BC31CAEB6A}"/>
                </a:ext>
              </a:extLst>
            </p:cNvPr>
            <p:cNvSpPr/>
            <p:nvPr/>
          </p:nvSpPr>
          <p:spPr>
            <a:xfrm>
              <a:off x="5735961" y="2749897"/>
              <a:ext cx="333895" cy="63812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" pitchFamily="2" charset="0"/>
              </a:endParaRP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392F3244-20E5-55BF-9FAF-B82DBB3644E9}"/>
                </a:ext>
              </a:extLst>
            </p:cNvPr>
            <p:cNvSpPr/>
            <p:nvPr/>
          </p:nvSpPr>
          <p:spPr>
            <a:xfrm>
              <a:off x="5735961" y="2924944"/>
              <a:ext cx="333895" cy="14401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100" dirty="0">
                  <a:latin typeface="Times" pitchFamily="2" charset="0"/>
                </a:rPr>
                <a:t>Miss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29BB7604-FCD3-A8CA-92FB-ACE2D1AD67B9}"/>
                </a:ext>
              </a:extLst>
            </p:cNvPr>
            <p:cNvSpPr txBox="1"/>
            <p:nvPr/>
          </p:nvSpPr>
          <p:spPr>
            <a:xfrm>
              <a:off x="5591944" y="3429000"/>
              <a:ext cx="814091" cy="16158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050" dirty="0">
                  <a:latin typeface="Times" pitchFamily="2" charset="0"/>
                </a:rPr>
                <a:t>PMD (2MB)</a:t>
              </a:r>
            </a:p>
          </p:txBody>
        </p:sp>
        <p:sp>
          <p:nvSpPr>
            <p:cNvPr id="66" name="Oval 65">
              <a:extLst>
                <a:ext uri="{FF2B5EF4-FFF2-40B4-BE49-F238E27FC236}">
                  <a16:creationId xmlns:a16="http://schemas.microsoft.com/office/drawing/2014/main" id="{418A7F94-549A-A37F-11E2-05259C0C3D42}"/>
                </a:ext>
              </a:extLst>
            </p:cNvPr>
            <p:cNvSpPr/>
            <p:nvPr/>
          </p:nvSpPr>
          <p:spPr>
            <a:xfrm>
              <a:off x="6456040" y="2420888"/>
              <a:ext cx="432048" cy="216024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000" dirty="0">
                  <a:latin typeface="Times" pitchFamily="2" charset="0"/>
                </a:rPr>
                <a:t>Hash</a:t>
              </a:r>
              <a:r>
                <a:rPr lang="en-US" sz="1000" baseline="-25000" dirty="0">
                  <a:latin typeface="Times" pitchFamily="2" charset="0"/>
                </a:rPr>
                <a:t>1</a:t>
              </a:r>
              <a:endParaRPr lang="en-US" sz="1000" dirty="0">
                <a:latin typeface="Times" pitchFamily="2" charset="0"/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D692DE33-11B0-561F-F221-943EEB8D3B37}"/>
                </a:ext>
              </a:extLst>
            </p:cNvPr>
            <p:cNvSpPr/>
            <p:nvPr/>
          </p:nvSpPr>
          <p:spPr>
            <a:xfrm>
              <a:off x="6816079" y="2780928"/>
              <a:ext cx="432049" cy="74011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>
                <a:latin typeface="Times" pitchFamily="2" charset="0"/>
              </a:endParaRP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E3A947D2-DB0C-4C04-5625-65B9AEA58EAE}"/>
                </a:ext>
              </a:extLst>
            </p:cNvPr>
            <p:cNvSpPr/>
            <p:nvPr/>
          </p:nvSpPr>
          <p:spPr>
            <a:xfrm>
              <a:off x="6816080" y="3212976"/>
              <a:ext cx="432048" cy="14401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100" dirty="0">
                  <a:latin typeface="Times" pitchFamily="2" charset="0"/>
                </a:rPr>
                <a:t>Miss</a:t>
              </a:r>
            </a:p>
          </p:txBody>
        </p: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EF317A32-66C8-082D-C549-13C39FBC050D}"/>
                </a:ext>
              </a:extLst>
            </p:cNvPr>
            <p:cNvSpPr txBox="1"/>
            <p:nvPr/>
          </p:nvSpPr>
          <p:spPr>
            <a:xfrm>
              <a:off x="6816080" y="3523511"/>
              <a:ext cx="432047" cy="16158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050" dirty="0">
                  <a:latin typeface="Times" pitchFamily="2" charset="0"/>
                </a:rPr>
                <a:t>Way 1</a:t>
              </a:r>
            </a:p>
          </p:txBody>
        </p:sp>
        <p:cxnSp>
          <p:nvCxnSpPr>
            <p:cNvPr id="74" name="Connector: Elbow 73">
              <a:extLst>
                <a:ext uri="{FF2B5EF4-FFF2-40B4-BE49-F238E27FC236}">
                  <a16:creationId xmlns:a16="http://schemas.microsoft.com/office/drawing/2014/main" id="{05278F27-0982-8B32-8F8D-5F73FF88CB64}"/>
                </a:ext>
              </a:extLst>
            </p:cNvPr>
            <p:cNvCxnSpPr>
              <a:cxnSpLocks/>
              <a:stCxn id="66" idx="4"/>
              <a:endCxn id="70" idx="1"/>
            </p:cNvCxnSpPr>
            <p:nvPr/>
          </p:nvCxnSpPr>
          <p:spPr>
            <a:xfrm rot="16200000" flipH="1">
              <a:off x="6420036" y="2888940"/>
              <a:ext cx="648072" cy="144016"/>
            </a:xfrm>
            <a:prstGeom prst="bentConnector2">
              <a:avLst/>
            </a:prstGeom>
            <a:ln>
              <a:tailEnd type="triangle" w="sm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2ECE368C-7712-F7E1-FE28-1B1E705AD86B}"/>
                </a:ext>
              </a:extLst>
            </p:cNvPr>
            <p:cNvCxnSpPr>
              <a:cxnSpLocks/>
              <a:stCxn id="176" idx="2"/>
              <a:endCxn id="66" idx="0"/>
            </p:cNvCxnSpPr>
            <p:nvPr/>
          </p:nvCxnSpPr>
          <p:spPr>
            <a:xfrm flipH="1">
              <a:off x="6672064" y="2111951"/>
              <a:ext cx="648072" cy="308937"/>
            </a:xfrm>
            <a:prstGeom prst="straightConnector1">
              <a:avLst/>
            </a:prstGeom>
            <a:ln>
              <a:tailEnd type="triangle" w="sm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330C261C-415A-D7CA-994D-25442E37067A}"/>
                </a:ext>
              </a:extLst>
            </p:cNvPr>
            <p:cNvSpPr/>
            <p:nvPr/>
          </p:nvSpPr>
          <p:spPr>
            <a:xfrm>
              <a:off x="8112224" y="2996952"/>
              <a:ext cx="432048" cy="14401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100" dirty="0">
                  <a:latin typeface="Times" pitchFamily="2" charset="0"/>
                </a:rPr>
                <a:t>Hit</a:t>
              </a:r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1EB9F06-7D24-90BE-62B1-E023C7C19295}"/>
                </a:ext>
              </a:extLst>
            </p:cNvPr>
            <p:cNvCxnSpPr>
              <a:cxnSpLocks/>
            </p:cNvCxnSpPr>
            <p:nvPr/>
          </p:nvCxnSpPr>
          <p:spPr>
            <a:xfrm>
              <a:off x="5114127" y="1792075"/>
              <a:ext cx="1701952" cy="179575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B21C22A-06EA-EE3F-857F-01620ADCDD36}"/>
                </a:ext>
              </a:extLst>
            </p:cNvPr>
            <p:cNvCxnSpPr>
              <a:cxnSpLocks/>
            </p:cNvCxnSpPr>
            <p:nvPr/>
          </p:nvCxnSpPr>
          <p:spPr>
            <a:xfrm>
              <a:off x="7244228" y="1795557"/>
              <a:ext cx="576063" cy="177534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>
              <a:extLst>
                <a:ext uri="{FF2B5EF4-FFF2-40B4-BE49-F238E27FC236}">
                  <a16:creationId xmlns:a16="http://schemas.microsoft.com/office/drawing/2014/main" id="{E67F6DAD-D748-DD33-EA6D-7FE72BCA3FAE}"/>
                </a:ext>
              </a:extLst>
            </p:cNvPr>
            <p:cNvCxnSpPr>
              <a:cxnSpLocks/>
            </p:cNvCxnSpPr>
            <p:nvPr/>
          </p:nvCxnSpPr>
          <p:spPr>
            <a:xfrm>
              <a:off x="8472997" y="2758281"/>
              <a:ext cx="0" cy="238671"/>
            </a:xfrm>
            <a:prstGeom prst="straightConnector1">
              <a:avLst/>
            </a:prstGeom>
            <a:ln>
              <a:tailEnd type="triangle" w="sm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Connector: Elbow 75">
              <a:extLst>
                <a:ext uri="{FF2B5EF4-FFF2-40B4-BE49-F238E27FC236}">
                  <a16:creationId xmlns:a16="http://schemas.microsoft.com/office/drawing/2014/main" id="{727F16A6-B502-2994-043D-BC6F68D7768B}"/>
                </a:ext>
              </a:extLst>
            </p:cNvPr>
            <p:cNvCxnSpPr>
              <a:stCxn id="6" idx="2"/>
            </p:cNvCxnSpPr>
            <p:nvPr/>
          </p:nvCxnSpPr>
          <p:spPr>
            <a:xfrm rot="16200000" flipH="1">
              <a:off x="7479124" y="1916288"/>
              <a:ext cx="1122052" cy="864227"/>
            </a:xfrm>
            <a:prstGeom prst="bentConnector3">
              <a:avLst>
                <a:gd name="adj1" fmla="val 7636"/>
              </a:avLst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7715796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Oval 40">
            <a:extLst>
              <a:ext uri="{FF2B5EF4-FFF2-40B4-BE49-F238E27FC236}">
                <a16:creationId xmlns:a16="http://schemas.microsoft.com/office/drawing/2014/main" id="{4E3A8521-49DA-351D-3D34-C438A885FC56}"/>
              </a:ext>
            </a:extLst>
          </p:cNvPr>
          <p:cNvSpPr/>
          <p:nvPr/>
        </p:nvSpPr>
        <p:spPr>
          <a:xfrm>
            <a:off x="4520333" y="2309341"/>
            <a:ext cx="216024" cy="21602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latin typeface="Times" pitchFamily="2" charset="0"/>
              </a:rPr>
              <a:t>H</a:t>
            </a:r>
            <a:r>
              <a:rPr lang="en-US" sz="1000" baseline="-25000" dirty="0">
                <a:latin typeface="Times" pitchFamily="2" charset="0"/>
              </a:rPr>
              <a:t>3</a:t>
            </a:r>
            <a:endParaRPr lang="en-US" sz="1000" dirty="0">
              <a:latin typeface="Times" pitchFamily="2" charset="0"/>
            </a:endParaRPr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CD5CE8E7-E15A-1CE0-B2FC-C5913007BD9D}"/>
              </a:ext>
            </a:extLst>
          </p:cNvPr>
          <p:cNvSpPr/>
          <p:nvPr/>
        </p:nvSpPr>
        <p:spPr>
          <a:xfrm>
            <a:off x="4480075" y="2349599"/>
            <a:ext cx="216024" cy="21602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latin typeface="Times" pitchFamily="2" charset="0"/>
              </a:rPr>
              <a:t>H</a:t>
            </a:r>
            <a:r>
              <a:rPr lang="en-US" sz="1000" baseline="-25000" dirty="0">
                <a:latin typeface="Times" pitchFamily="2" charset="0"/>
              </a:rPr>
              <a:t>2</a:t>
            </a:r>
            <a:endParaRPr lang="en-US" sz="1000" dirty="0">
              <a:latin typeface="Times" pitchFamily="2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4F47F328-70F9-4966-E4C7-633D989173F4}"/>
              </a:ext>
            </a:extLst>
          </p:cNvPr>
          <p:cNvSpPr/>
          <p:nvPr/>
        </p:nvSpPr>
        <p:spPr>
          <a:xfrm>
            <a:off x="4799857" y="2605881"/>
            <a:ext cx="340362" cy="7920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" pitchFamily="2" charset="0"/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2B22C426-9CDC-CCF8-BAF3-B50B65CD5770}"/>
              </a:ext>
            </a:extLst>
          </p:cNvPr>
          <p:cNvSpPr/>
          <p:nvPr/>
        </p:nvSpPr>
        <p:spPr>
          <a:xfrm>
            <a:off x="4727849" y="2677889"/>
            <a:ext cx="340362" cy="7920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" pitchFamily="2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F91A2FC-23FE-05F0-41C7-550EADC1C42C}"/>
              </a:ext>
            </a:extLst>
          </p:cNvPr>
          <p:cNvSpPr/>
          <p:nvPr/>
        </p:nvSpPr>
        <p:spPr>
          <a:xfrm>
            <a:off x="6816080" y="1972965"/>
            <a:ext cx="1000311" cy="13080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bIns="46800" rtlCol="0" anchor="ctr"/>
          <a:lstStyle/>
          <a:p>
            <a:pPr algn="ctr"/>
            <a:endParaRPr lang="en-US" sz="1100" dirty="0">
              <a:latin typeface="Times" pitchFamily="2" charset="0"/>
            </a:endParaRPr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12DB63A5-4571-DECF-E070-F58546B8E8C5}"/>
              </a:ext>
            </a:extLst>
          </p:cNvPr>
          <p:cNvSpPr/>
          <p:nvPr/>
        </p:nvSpPr>
        <p:spPr>
          <a:xfrm>
            <a:off x="4439816" y="2389857"/>
            <a:ext cx="216025" cy="21602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latin typeface="Times" pitchFamily="2" charset="0"/>
              </a:rPr>
              <a:t>H</a:t>
            </a:r>
            <a:r>
              <a:rPr lang="en-US" sz="1000" baseline="-25000" dirty="0">
                <a:latin typeface="Times" pitchFamily="2" charset="0"/>
              </a:rPr>
              <a:t>1</a:t>
            </a:r>
            <a:endParaRPr lang="en-US" sz="1000" dirty="0">
              <a:latin typeface="Times" pitchFamily="2" charset="0"/>
            </a:endParaRPr>
          </a:p>
        </p:txBody>
      </p:sp>
      <p:cxnSp>
        <p:nvCxnSpPr>
          <p:cNvPr id="144" name="Connector: Elbow 143">
            <a:extLst>
              <a:ext uri="{FF2B5EF4-FFF2-40B4-BE49-F238E27FC236}">
                <a16:creationId xmlns:a16="http://schemas.microsoft.com/office/drawing/2014/main" id="{C91B8383-E091-389D-6BCD-E176A503967D}"/>
              </a:ext>
            </a:extLst>
          </p:cNvPr>
          <p:cNvCxnSpPr>
            <a:cxnSpLocks/>
            <a:stCxn id="133" idx="4"/>
            <a:endCxn id="184" idx="1"/>
          </p:cNvCxnSpPr>
          <p:nvPr/>
        </p:nvCxnSpPr>
        <p:spPr>
          <a:xfrm rot="16200000" flipH="1">
            <a:off x="4277799" y="2875911"/>
            <a:ext cx="648072" cy="108012"/>
          </a:xfrm>
          <a:prstGeom prst="bentConnector2">
            <a:avLst/>
          </a:prstGeom>
          <a:ln>
            <a:tailEnd type="triangle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720DEA72-42A3-7615-1CFD-AD54915FECF8}"/>
              </a:ext>
            </a:extLst>
          </p:cNvPr>
          <p:cNvCxnSpPr>
            <a:cxnSpLocks/>
            <a:endCxn id="133" idx="0"/>
          </p:cNvCxnSpPr>
          <p:nvPr/>
        </p:nvCxnSpPr>
        <p:spPr>
          <a:xfrm>
            <a:off x="4547829" y="2101825"/>
            <a:ext cx="0" cy="288032"/>
          </a:xfrm>
          <a:prstGeom prst="straightConnector1">
            <a:avLst/>
          </a:prstGeom>
          <a:ln>
            <a:tailEnd type="triangle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4" name="TextBox 153">
            <a:extLst>
              <a:ext uri="{FF2B5EF4-FFF2-40B4-BE49-F238E27FC236}">
                <a16:creationId xmlns:a16="http://schemas.microsoft.com/office/drawing/2014/main" id="{52DAFBB8-5744-EF4C-64AA-8B5F694A442F}"/>
              </a:ext>
            </a:extLst>
          </p:cNvPr>
          <p:cNvSpPr txBox="1"/>
          <p:nvPr/>
        </p:nvSpPr>
        <p:spPr>
          <a:xfrm>
            <a:off x="4367808" y="1988840"/>
            <a:ext cx="100811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lnSpc>
                <a:spcPct val="80000"/>
              </a:lnSpc>
              <a:defRPr sz="1000"/>
            </a:lvl1pPr>
          </a:lstStyle>
          <a:p>
            <a:r>
              <a:rPr lang="en-US" dirty="0">
                <a:latin typeface="Times" pitchFamily="2" charset="0"/>
              </a:rPr>
              <a:t>PUD-VPN [47:30]</a:t>
            </a:r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FDF13E04-6B20-9860-616C-B4835E48CC50}"/>
              </a:ext>
            </a:extLst>
          </p:cNvPr>
          <p:cNvSpPr/>
          <p:nvPr/>
        </p:nvSpPr>
        <p:spPr>
          <a:xfrm>
            <a:off x="7104112" y="2420888"/>
            <a:ext cx="432048" cy="21602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latin typeface="Times" pitchFamily="2" charset="0"/>
              </a:rPr>
              <a:t>Hash</a:t>
            </a:r>
            <a:r>
              <a:rPr lang="en-US" sz="1000" baseline="-25000" dirty="0">
                <a:latin typeface="Times" pitchFamily="2" charset="0"/>
              </a:rPr>
              <a:t>2</a:t>
            </a:r>
            <a:endParaRPr lang="en-US" sz="1000" dirty="0">
              <a:latin typeface="Times" pitchFamily="2" charset="0"/>
            </a:endParaRPr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D3E179C5-6D85-DB6A-B0A0-CC2153FEA369}"/>
              </a:ext>
            </a:extLst>
          </p:cNvPr>
          <p:cNvSpPr/>
          <p:nvPr/>
        </p:nvSpPr>
        <p:spPr>
          <a:xfrm>
            <a:off x="7752184" y="2420888"/>
            <a:ext cx="432048" cy="21602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latin typeface="Times" pitchFamily="2" charset="0"/>
              </a:rPr>
              <a:t>Hash</a:t>
            </a:r>
            <a:r>
              <a:rPr lang="en-US" sz="1000" baseline="-25000" dirty="0">
                <a:latin typeface="Times" pitchFamily="2" charset="0"/>
              </a:rPr>
              <a:t>3</a:t>
            </a:r>
            <a:endParaRPr lang="en-US" sz="1000" dirty="0">
              <a:latin typeface="Times" pitchFamily="2" charset="0"/>
            </a:endParaRPr>
          </a:p>
        </p:txBody>
      </p: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6E9B6105-AFE0-5E9F-CAFD-A0B18F20DC19}"/>
              </a:ext>
            </a:extLst>
          </p:cNvPr>
          <p:cNvCxnSpPr>
            <a:cxnSpLocks/>
            <a:stCxn id="176" idx="2"/>
            <a:endCxn id="167" idx="0"/>
          </p:cNvCxnSpPr>
          <p:nvPr/>
        </p:nvCxnSpPr>
        <p:spPr>
          <a:xfrm>
            <a:off x="7320136" y="2111951"/>
            <a:ext cx="0" cy="308937"/>
          </a:xfrm>
          <a:prstGeom prst="straightConnector1">
            <a:avLst/>
          </a:prstGeom>
          <a:ln>
            <a:tailEnd type="triangle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5E95D4A1-4180-4569-BA3F-F4AFCA29D2C4}"/>
              </a:ext>
            </a:extLst>
          </p:cNvPr>
          <p:cNvCxnSpPr>
            <a:cxnSpLocks/>
            <a:stCxn id="176" idx="2"/>
            <a:endCxn id="168" idx="0"/>
          </p:cNvCxnSpPr>
          <p:nvPr/>
        </p:nvCxnSpPr>
        <p:spPr>
          <a:xfrm>
            <a:off x="7320136" y="2111951"/>
            <a:ext cx="648072" cy="308937"/>
          </a:xfrm>
          <a:prstGeom prst="straightConnector1">
            <a:avLst/>
          </a:prstGeom>
          <a:ln>
            <a:tailEnd type="triangle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6" name="TextBox 175">
            <a:extLst>
              <a:ext uri="{FF2B5EF4-FFF2-40B4-BE49-F238E27FC236}">
                <a16:creationId xmlns:a16="http://schemas.microsoft.com/office/drawing/2014/main" id="{228356C4-1BF4-4EE6-772B-17270F9BC405}"/>
              </a:ext>
            </a:extLst>
          </p:cNvPr>
          <p:cNvSpPr txBox="1"/>
          <p:nvPr/>
        </p:nvSpPr>
        <p:spPr>
          <a:xfrm>
            <a:off x="6816080" y="1988840"/>
            <a:ext cx="100811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lnSpc>
                <a:spcPct val="80000"/>
              </a:lnSpc>
              <a:defRPr sz="1000"/>
            </a:lvl1pPr>
          </a:lstStyle>
          <a:p>
            <a:r>
              <a:rPr lang="en-US" dirty="0">
                <a:latin typeface="Times" pitchFamily="2" charset="0"/>
              </a:rPr>
              <a:t>PTE-VPN [47:12]</a:t>
            </a: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1B61BBD1-8468-091C-F9BE-DEEDDD3EE763}"/>
              </a:ext>
            </a:extLst>
          </p:cNvPr>
          <p:cNvSpPr/>
          <p:nvPr/>
        </p:nvSpPr>
        <p:spPr>
          <a:xfrm>
            <a:off x="7464152" y="2780928"/>
            <a:ext cx="432048" cy="7920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" pitchFamily="2" charset="0"/>
            </a:endParaRP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0FE6EF4D-41A3-6713-841B-E5021EC82AFC}"/>
              </a:ext>
            </a:extLst>
          </p:cNvPr>
          <p:cNvSpPr/>
          <p:nvPr/>
        </p:nvSpPr>
        <p:spPr>
          <a:xfrm>
            <a:off x="7464152" y="3212976"/>
            <a:ext cx="432048" cy="1440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dirty="0">
                <a:latin typeface="Times" pitchFamily="2" charset="0"/>
              </a:rPr>
              <a:t>Miss</a:t>
            </a: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8CE3D76E-DC12-3BD3-EB42-C12D0199B2C0}"/>
              </a:ext>
            </a:extLst>
          </p:cNvPr>
          <p:cNvSpPr/>
          <p:nvPr/>
        </p:nvSpPr>
        <p:spPr>
          <a:xfrm>
            <a:off x="8112224" y="2780928"/>
            <a:ext cx="432048" cy="7920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" pitchFamily="2" charset="0"/>
            </a:endParaRP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84DFD6B9-93D8-70CD-C6C3-F1DDBE2FBF7F}"/>
              </a:ext>
            </a:extLst>
          </p:cNvPr>
          <p:cNvSpPr/>
          <p:nvPr/>
        </p:nvSpPr>
        <p:spPr>
          <a:xfrm>
            <a:off x="4655841" y="2749897"/>
            <a:ext cx="333895" cy="7920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" pitchFamily="2" charset="0"/>
            </a:endParaRP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9F7FE4BB-668F-13FE-EAA0-F015F3DB4860}"/>
              </a:ext>
            </a:extLst>
          </p:cNvPr>
          <p:cNvSpPr/>
          <p:nvPr/>
        </p:nvSpPr>
        <p:spPr>
          <a:xfrm>
            <a:off x="4655841" y="3181945"/>
            <a:ext cx="333895" cy="1440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dirty="0">
                <a:latin typeface="Times" pitchFamily="2" charset="0"/>
              </a:rPr>
              <a:t>Miss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FB3EB7A-41E7-FC01-4273-6547512A8F76}"/>
              </a:ext>
            </a:extLst>
          </p:cNvPr>
          <p:cNvSpPr/>
          <p:nvPr/>
        </p:nvSpPr>
        <p:spPr>
          <a:xfrm>
            <a:off x="8760297" y="2780928"/>
            <a:ext cx="432048" cy="7920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" pitchFamily="2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FA339FD-CFFA-88DE-2520-226E3E086735}"/>
              </a:ext>
            </a:extLst>
          </p:cNvPr>
          <p:cNvSpPr/>
          <p:nvPr/>
        </p:nvSpPr>
        <p:spPr>
          <a:xfrm>
            <a:off x="8760296" y="3068960"/>
            <a:ext cx="432048" cy="14401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latin typeface="Times" pitchFamily="2" charset="0"/>
              </a:rPr>
              <a:t>PA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7B19F42-B23B-4A6D-494C-340C91A89775}"/>
              </a:ext>
            </a:extLst>
          </p:cNvPr>
          <p:cNvSpPr txBox="1"/>
          <p:nvPr/>
        </p:nvSpPr>
        <p:spPr>
          <a:xfrm>
            <a:off x="8688288" y="3630720"/>
            <a:ext cx="576064" cy="2666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1050" dirty="0">
                <a:latin typeface="Times" pitchFamily="2" charset="0"/>
              </a:rPr>
              <a:t>Physical</a:t>
            </a:r>
          </a:p>
          <a:p>
            <a:pPr algn="ctr">
              <a:lnSpc>
                <a:spcPct val="80000"/>
              </a:lnSpc>
            </a:pPr>
            <a:r>
              <a:rPr lang="en-US" sz="1050" dirty="0">
                <a:latin typeface="Times" pitchFamily="2" charset="0"/>
              </a:rPr>
              <a:t>Page</a:t>
            </a:r>
          </a:p>
        </p:txBody>
      </p: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94054B33-AEB4-ABD7-7537-D8BFBD6254F8}"/>
              </a:ext>
            </a:extLst>
          </p:cNvPr>
          <p:cNvCxnSpPr>
            <a:cxnSpLocks/>
          </p:cNvCxnSpPr>
          <p:nvPr/>
        </p:nvCxnSpPr>
        <p:spPr>
          <a:xfrm>
            <a:off x="8544272" y="3068960"/>
            <a:ext cx="52547" cy="504056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CC89B1D-5E39-8026-1B71-761FC5AFE938}"/>
              </a:ext>
            </a:extLst>
          </p:cNvPr>
          <p:cNvCxnSpPr>
            <a:cxnSpLocks/>
          </p:cNvCxnSpPr>
          <p:nvPr/>
        </p:nvCxnSpPr>
        <p:spPr>
          <a:xfrm>
            <a:off x="8596819" y="3573016"/>
            <a:ext cx="163477" cy="0"/>
          </a:xfrm>
          <a:prstGeom prst="straightConnector1">
            <a:avLst/>
          </a:prstGeom>
          <a:ln>
            <a:tailEnd type="triangle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4DAE76DA-DAC7-2D29-ACA3-07B48D552FBA}"/>
              </a:ext>
            </a:extLst>
          </p:cNvPr>
          <p:cNvSpPr txBox="1"/>
          <p:nvPr/>
        </p:nvSpPr>
        <p:spPr>
          <a:xfrm>
            <a:off x="8069019" y="1988840"/>
            <a:ext cx="1267341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80000"/>
              </a:lnSpc>
            </a:pPr>
            <a:r>
              <a:rPr lang="en-US" sz="1000" dirty="0">
                <a:latin typeface="Times" pitchFamily="2" charset="0"/>
              </a:rPr>
              <a:t>Page Offset [11:0]</a:t>
            </a:r>
          </a:p>
        </p:txBody>
      </p: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93165A4B-C90A-1257-6CAF-4E7402186096}"/>
              </a:ext>
            </a:extLst>
          </p:cNvPr>
          <p:cNvCxnSpPr>
            <a:cxnSpLocks/>
            <a:endCxn id="36" idx="1"/>
          </p:cNvCxnSpPr>
          <p:nvPr/>
        </p:nvCxnSpPr>
        <p:spPr>
          <a:xfrm rot="16200000" flipH="1">
            <a:off x="8200107" y="2580779"/>
            <a:ext cx="1008112" cy="112266"/>
          </a:xfrm>
          <a:prstGeom prst="bentConnector2">
            <a:avLst/>
          </a:prstGeom>
          <a:ln>
            <a:tailEnd type="triangle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3B4FF57F-829B-A086-4326-15683834D7C3}"/>
              </a:ext>
            </a:extLst>
          </p:cNvPr>
          <p:cNvSpPr txBox="1"/>
          <p:nvPr/>
        </p:nvSpPr>
        <p:spPr>
          <a:xfrm>
            <a:off x="4511824" y="3789040"/>
            <a:ext cx="814091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50" dirty="0">
                <a:latin typeface="Times" pitchFamily="2" charset="0"/>
              </a:rPr>
              <a:t>PUD (1GB)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356567C-B7EE-C239-39C9-392507291B93}"/>
              </a:ext>
            </a:extLst>
          </p:cNvPr>
          <p:cNvSpPr txBox="1"/>
          <p:nvPr/>
        </p:nvSpPr>
        <p:spPr>
          <a:xfrm>
            <a:off x="7464151" y="3593051"/>
            <a:ext cx="432049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50" dirty="0">
                <a:latin typeface="Times" pitchFamily="2" charset="0"/>
              </a:rPr>
              <a:t>Way 2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515E5B7-633A-8A7A-2A10-B3F2290C7026}"/>
              </a:ext>
            </a:extLst>
          </p:cNvPr>
          <p:cNvSpPr txBox="1"/>
          <p:nvPr/>
        </p:nvSpPr>
        <p:spPr>
          <a:xfrm>
            <a:off x="8112224" y="3593051"/>
            <a:ext cx="432048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50" dirty="0">
                <a:latin typeface="Times" pitchFamily="2" charset="0"/>
              </a:rPr>
              <a:t>Way 3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74FF7D9-C8D6-7F18-7F9A-01D71F66EDD2}"/>
              </a:ext>
            </a:extLst>
          </p:cNvPr>
          <p:cNvSpPr txBox="1"/>
          <p:nvPr/>
        </p:nvSpPr>
        <p:spPr>
          <a:xfrm>
            <a:off x="6816080" y="3789040"/>
            <a:ext cx="1728192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50" dirty="0">
                <a:latin typeface="Times" pitchFamily="2" charset="0"/>
              </a:rPr>
              <a:t>PTE (4KB)</a:t>
            </a:r>
          </a:p>
        </p:txBody>
      </p:sp>
      <p:cxnSp>
        <p:nvCxnSpPr>
          <p:cNvPr id="172" name="Connector: Elbow 171">
            <a:extLst>
              <a:ext uri="{FF2B5EF4-FFF2-40B4-BE49-F238E27FC236}">
                <a16:creationId xmlns:a16="http://schemas.microsoft.com/office/drawing/2014/main" id="{9CED452F-AC55-9016-B79E-D18D0D5952C5}"/>
              </a:ext>
            </a:extLst>
          </p:cNvPr>
          <p:cNvCxnSpPr>
            <a:cxnSpLocks/>
            <a:stCxn id="167" idx="4"/>
            <a:endCxn id="181" idx="1"/>
          </p:cNvCxnSpPr>
          <p:nvPr/>
        </p:nvCxnSpPr>
        <p:spPr>
          <a:xfrm rot="16200000" flipH="1">
            <a:off x="7068108" y="2888940"/>
            <a:ext cx="648072" cy="144016"/>
          </a:xfrm>
          <a:prstGeom prst="bentConnector2">
            <a:avLst/>
          </a:prstGeom>
          <a:ln>
            <a:tailEnd type="triangle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3" name="Connector: Elbow 172">
            <a:extLst>
              <a:ext uri="{FF2B5EF4-FFF2-40B4-BE49-F238E27FC236}">
                <a16:creationId xmlns:a16="http://schemas.microsoft.com/office/drawing/2014/main" id="{599FE88C-A0BE-ED88-A549-00CB20A5F655}"/>
              </a:ext>
            </a:extLst>
          </p:cNvPr>
          <p:cNvCxnSpPr>
            <a:cxnSpLocks/>
            <a:stCxn id="168" idx="4"/>
          </p:cNvCxnSpPr>
          <p:nvPr/>
        </p:nvCxnSpPr>
        <p:spPr>
          <a:xfrm rot="16200000" flipH="1">
            <a:off x="7824192" y="2780928"/>
            <a:ext cx="432048" cy="144016"/>
          </a:xfrm>
          <a:prstGeom prst="bentConnector2">
            <a:avLst/>
          </a:prstGeom>
          <a:ln>
            <a:tailEnd type="triangle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E35F1126-DF46-746B-F6AD-F4F4D71E3ABD}"/>
              </a:ext>
            </a:extLst>
          </p:cNvPr>
          <p:cNvSpPr/>
          <p:nvPr/>
        </p:nvSpPr>
        <p:spPr>
          <a:xfrm>
            <a:off x="5114127" y="1484785"/>
            <a:ext cx="2856794" cy="16897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bIns="46800" rtlCol="0" anchor="ctr"/>
          <a:lstStyle/>
          <a:p>
            <a:pPr algn="ctr"/>
            <a:r>
              <a:rPr lang="en-US" sz="1200">
                <a:latin typeface="Times" pitchFamily="2" charset="0"/>
              </a:rPr>
              <a:t>PTE VPN Tag</a:t>
            </a:r>
            <a:endParaRPr lang="en-US" sz="1200" dirty="0">
              <a:latin typeface="Times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428DE6B-9117-A505-E593-32A24C0043B7}"/>
              </a:ext>
            </a:extLst>
          </p:cNvPr>
          <p:cNvSpPr/>
          <p:nvPr/>
        </p:nvSpPr>
        <p:spPr>
          <a:xfrm>
            <a:off x="4529578" y="1484784"/>
            <a:ext cx="586711" cy="1689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bIns="46800" rtlCol="0" anchor="ctr"/>
          <a:lstStyle/>
          <a:p>
            <a:pPr algn="ctr"/>
            <a:endParaRPr lang="en-US" sz="1200" dirty="0">
              <a:latin typeface="Times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DB2D6D7-D47D-B0B2-AC36-447B9F8C55D8}"/>
              </a:ext>
            </a:extLst>
          </p:cNvPr>
          <p:cNvSpPr txBox="1"/>
          <p:nvPr/>
        </p:nvSpPr>
        <p:spPr>
          <a:xfrm>
            <a:off x="4511824" y="1340768"/>
            <a:ext cx="14401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dirty="0">
                <a:latin typeface="Times" pitchFamily="2" charset="0"/>
              </a:rPr>
              <a:t>63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8B3B92-BC4A-A356-3994-932357791DD2}"/>
              </a:ext>
            </a:extLst>
          </p:cNvPr>
          <p:cNvSpPr txBox="1"/>
          <p:nvPr/>
        </p:nvSpPr>
        <p:spPr>
          <a:xfrm>
            <a:off x="4950895" y="1340768"/>
            <a:ext cx="14401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dirty="0">
                <a:latin typeface="Times" pitchFamily="2" charset="0"/>
              </a:rPr>
              <a:t>48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960DCC-9B42-1A77-536A-A787A7478202}"/>
              </a:ext>
            </a:extLst>
          </p:cNvPr>
          <p:cNvSpPr txBox="1"/>
          <p:nvPr/>
        </p:nvSpPr>
        <p:spPr>
          <a:xfrm>
            <a:off x="5115527" y="1340768"/>
            <a:ext cx="14401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dirty="0">
                <a:latin typeface="Times" pitchFamily="2" charset="0"/>
              </a:rPr>
              <a:t>47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6EECE6A-6C0B-A4E8-B0C6-9A5120A199C2}"/>
              </a:ext>
            </a:extLst>
          </p:cNvPr>
          <p:cNvSpPr txBox="1"/>
          <p:nvPr/>
        </p:nvSpPr>
        <p:spPr>
          <a:xfrm>
            <a:off x="7824060" y="1340768"/>
            <a:ext cx="14401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dirty="0">
                <a:latin typeface="Times" pitchFamily="2" charset="0"/>
              </a:rPr>
              <a:t>12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7BF5DB-E22C-B709-FF71-8C39CDAEEB2E}"/>
              </a:ext>
            </a:extLst>
          </p:cNvPr>
          <p:cNvSpPr txBox="1"/>
          <p:nvPr/>
        </p:nvSpPr>
        <p:spPr>
          <a:xfrm>
            <a:off x="7968076" y="1340768"/>
            <a:ext cx="14401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dirty="0">
                <a:latin typeface="Times" pitchFamily="2" charset="0"/>
              </a:rPr>
              <a:t>11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849259D-F005-4554-928E-D04EC1EE701C}"/>
              </a:ext>
            </a:extLst>
          </p:cNvPr>
          <p:cNvSpPr txBox="1"/>
          <p:nvPr/>
        </p:nvSpPr>
        <p:spPr>
          <a:xfrm>
            <a:off x="9032944" y="1340768"/>
            <a:ext cx="14401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dirty="0">
                <a:latin typeface="Times" pitchFamily="2" charset="0"/>
              </a:rPr>
              <a:t>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717F65A-A7CD-BDA8-E576-E72C341181EE}"/>
              </a:ext>
            </a:extLst>
          </p:cNvPr>
          <p:cNvSpPr txBox="1"/>
          <p:nvPr/>
        </p:nvSpPr>
        <p:spPr>
          <a:xfrm>
            <a:off x="4511824" y="1675547"/>
            <a:ext cx="4305030" cy="1692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100" dirty="0">
                <a:latin typeface="Times" pitchFamily="2" charset="0"/>
              </a:rPr>
              <a:t>Virtual Address (VA) of a 4KB Page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FF8D0D8-CE4E-88D5-6278-66CB5D3F2152}"/>
              </a:ext>
            </a:extLst>
          </p:cNvPr>
          <p:cNvSpPr/>
          <p:nvPr/>
        </p:nvSpPr>
        <p:spPr>
          <a:xfrm>
            <a:off x="7968076" y="1484438"/>
            <a:ext cx="1152128" cy="16897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rIns="0" bIns="46800" rtlCol="0" anchor="ctr"/>
          <a:lstStyle/>
          <a:p>
            <a:pPr algn="ctr"/>
            <a:r>
              <a:rPr lang="en-US" sz="1100" dirty="0">
                <a:latin typeface="Times" pitchFamily="2" charset="0"/>
              </a:rPr>
              <a:t>Page Offset</a:t>
            </a:r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1CDA63C0-7EC6-5834-5EBF-47A3BC17DDA6}"/>
              </a:ext>
            </a:extLst>
          </p:cNvPr>
          <p:cNvSpPr/>
          <p:nvPr/>
        </p:nvSpPr>
        <p:spPr>
          <a:xfrm>
            <a:off x="5600453" y="2309341"/>
            <a:ext cx="216024" cy="21602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latin typeface="Times" pitchFamily="2" charset="0"/>
              </a:rPr>
              <a:t>H</a:t>
            </a:r>
            <a:r>
              <a:rPr lang="en-US" sz="1000" baseline="-25000" dirty="0">
                <a:latin typeface="Times" pitchFamily="2" charset="0"/>
              </a:rPr>
              <a:t>3</a:t>
            </a:r>
            <a:endParaRPr lang="en-US" sz="1000" dirty="0">
              <a:latin typeface="Times" pitchFamily="2" charset="0"/>
            </a:endParaRPr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71C02F26-D489-6FE2-4DCF-CBA7B0A687AB}"/>
              </a:ext>
            </a:extLst>
          </p:cNvPr>
          <p:cNvSpPr/>
          <p:nvPr/>
        </p:nvSpPr>
        <p:spPr>
          <a:xfrm>
            <a:off x="5560195" y="2349599"/>
            <a:ext cx="216024" cy="21602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latin typeface="Times" pitchFamily="2" charset="0"/>
              </a:rPr>
              <a:t>H</a:t>
            </a:r>
            <a:r>
              <a:rPr lang="en-US" sz="1000" baseline="-25000" dirty="0">
                <a:latin typeface="Times" pitchFamily="2" charset="0"/>
              </a:rPr>
              <a:t>2</a:t>
            </a:r>
            <a:endParaRPr lang="en-US" sz="1000" dirty="0">
              <a:latin typeface="Times" pitchFamily="2" charset="0"/>
            </a:endParaRP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C1F750B4-4410-CF82-0889-EF5BC9CBB203}"/>
              </a:ext>
            </a:extLst>
          </p:cNvPr>
          <p:cNvSpPr/>
          <p:nvPr/>
        </p:nvSpPr>
        <p:spPr>
          <a:xfrm>
            <a:off x="5879977" y="2605881"/>
            <a:ext cx="340362" cy="7920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" pitchFamily="2" charset="0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A71D9BAE-1BC2-0A38-3E50-E600D528B41A}"/>
              </a:ext>
            </a:extLst>
          </p:cNvPr>
          <p:cNvSpPr/>
          <p:nvPr/>
        </p:nvSpPr>
        <p:spPr>
          <a:xfrm>
            <a:off x="5807969" y="2677889"/>
            <a:ext cx="340362" cy="7920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" pitchFamily="2" charset="0"/>
            </a:endParaRPr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8AA094EA-6E6F-8972-C9D4-B6B3126905A7}"/>
              </a:ext>
            </a:extLst>
          </p:cNvPr>
          <p:cNvSpPr/>
          <p:nvPr/>
        </p:nvSpPr>
        <p:spPr>
          <a:xfrm>
            <a:off x="5519936" y="2389857"/>
            <a:ext cx="216025" cy="21602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latin typeface="Times" pitchFamily="2" charset="0"/>
              </a:rPr>
              <a:t>H</a:t>
            </a:r>
            <a:r>
              <a:rPr lang="en-US" sz="1000" baseline="-25000" dirty="0">
                <a:latin typeface="Times" pitchFamily="2" charset="0"/>
              </a:rPr>
              <a:t>1</a:t>
            </a:r>
            <a:endParaRPr lang="en-US" sz="1000" dirty="0">
              <a:latin typeface="Times" pitchFamily="2" charset="0"/>
            </a:endParaRPr>
          </a:p>
        </p:txBody>
      </p:sp>
      <p:cxnSp>
        <p:nvCxnSpPr>
          <p:cNvPr id="58" name="Connector: Elbow 57">
            <a:extLst>
              <a:ext uri="{FF2B5EF4-FFF2-40B4-BE49-F238E27FC236}">
                <a16:creationId xmlns:a16="http://schemas.microsoft.com/office/drawing/2014/main" id="{6CA89142-5E10-47D8-8489-B470F9CF9753}"/>
              </a:ext>
            </a:extLst>
          </p:cNvPr>
          <p:cNvCxnSpPr>
            <a:cxnSpLocks/>
            <a:stCxn id="57" idx="4"/>
            <a:endCxn id="64" idx="1"/>
          </p:cNvCxnSpPr>
          <p:nvPr/>
        </p:nvCxnSpPr>
        <p:spPr>
          <a:xfrm rot="16200000" flipH="1">
            <a:off x="5486420" y="2747410"/>
            <a:ext cx="391071" cy="108012"/>
          </a:xfrm>
          <a:prstGeom prst="bentConnector2">
            <a:avLst/>
          </a:prstGeom>
          <a:ln>
            <a:tailEnd type="triangle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C3F2D74E-E548-DE3E-793A-D6BB5A772672}"/>
              </a:ext>
            </a:extLst>
          </p:cNvPr>
          <p:cNvCxnSpPr>
            <a:cxnSpLocks/>
            <a:endCxn id="57" idx="0"/>
          </p:cNvCxnSpPr>
          <p:nvPr/>
        </p:nvCxnSpPr>
        <p:spPr>
          <a:xfrm>
            <a:off x="5627949" y="2101825"/>
            <a:ext cx="0" cy="288032"/>
          </a:xfrm>
          <a:prstGeom prst="straightConnector1">
            <a:avLst/>
          </a:prstGeom>
          <a:ln>
            <a:tailEnd type="triangle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2" name="TextBox 61">
            <a:extLst>
              <a:ext uri="{FF2B5EF4-FFF2-40B4-BE49-F238E27FC236}">
                <a16:creationId xmlns:a16="http://schemas.microsoft.com/office/drawing/2014/main" id="{D7CF8704-9A2B-EB29-370B-973A1B261616}"/>
              </a:ext>
            </a:extLst>
          </p:cNvPr>
          <p:cNvSpPr txBox="1"/>
          <p:nvPr/>
        </p:nvSpPr>
        <p:spPr>
          <a:xfrm>
            <a:off x="5447928" y="1988840"/>
            <a:ext cx="1008112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defPPr>
              <a:defRPr lang="en-US"/>
            </a:defPPr>
            <a:lvl1pPr algn="ctr">
              <a:lnSpc>
                <a:spcPct val="80000"/>
              </a:lnSpc>
              <a:defRPr sz="1000"/>
            </a:lvl1pPr>
          </a:lstStyle>
          <a:p>
            <a:r>
              <a:rPr lang="en-US" dirty="0">
                <a:latin typeface="Times" pitchFamily="2" charset="0"/>
              </a:rPr>
              <a:t>P</a:t>
            </a:r>
            <a:r>
              <a:rPr lang="en-US" altLang="zh-CN" dirty="0">
                <a:latin typeface="Times" pitchFamily="2" charset="0"/>
              </a:rPr>
              <a:t>M</a:t>
            </a:r>
            <a:r>
              <a:rPr lang="en-US" dirty="0">
                <a:latin typeface="Times" pitchFamily="2" charset="0"/>
              </a:rPr>
              <a:t>D-VPN [47:21]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DB677662-99FB-E920-B803-8AE11940FE7B}"/>
              </a:ext>
            </a:extLst>
          </p:cNvPr>
          <p:cNvSpPr/>
          <p:nvPr/>
        </p:nvSpPr>
        <p:spPr>
          <a:xfrm>
            <a:off x="5735961" y="2749897"/>
            <a:ext cx="333895" cy="7920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" pitchFamily="2" charset="0"/>
            </a:endParaRP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E616BCE-E3EC-34BE-7757-4C4960DF45AF}"/>
              </a:ext>
            </a:extLst>
          </p:cNvPr>
          <p:cNvSpPr/>
          <p:nvPr/>
        </p:nvSpPr>
        <p:spPr>
          <a:xfrm>
            <a:off x="5735961" y="2924944"/>
            <a:ext cx="333895" cy="1440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dirty="0">
                <a:latin typeface="Times" pitchFamily="2" charset="0"/>
              </a:rPr>
              <a:t>Miss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27ABCFD-899F-1946-39A7-98ED04D2BEB3}"/>
              </a:ext>
            </a:extLst>
          </p:cNvPr>
          <p:cNvSpPr txBox="1"/>
          <p:nvPr/>
        </p:nvSpPr>
        <p:spPr>
          <a:xfrm>
            <a:off x="5591944" y="3789040"/>
            <a:ext cx="814091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50" dirty="0">
                <a:latin typeface="Times" pitchFamily="2" charset="0"/>
              </a:rPr>
              <a:t>PMD (2MB)</a:t>
            </a: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63CABC84-F2CF-2610-2B8B-2D5520A91E60}"/>
              </a:ext>
            </a:extLst>
          </p:cNvPr>
          <p:cNvSpPr/>
          <p:nvPr/>
        </p:nvSpPr>
        <p:spPr>
          <a:xfrm>
            <a:off x="6456040" y="2420888"/>
            <a:ext cx="432048" cy="21602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latin typeface="Times" pitchFamily="2" charset="0"/>
              </a:rPr>
              <a:t>Hash</a:t>
            </a:r>
            <a:r>
              <a:rPr lang="en-US" sz="1000" baseline="-25000" dirty="0">
                <a:latin typeface="Times" pitchFamily="2" charset="0"/>
              </a:rPr>
              <a:t>1</a:t>
            </a:r>
            <a:endParaRPr lang="en-US" sz="1000" dirty="0">
              <a:latin typeface="Times" pitchFamily="2" charset="0"/>
            </a:endParaRP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3580059C-8807-D015-C099-DC7420E625A6}"/>
              </a:ext>
            </a:extLst>
          </p:cNvPr>
          <p:cNvSpPr/>
          <p:nvPr/>
        </p:nvSpPr>
        <p:spPr>
          <a:xfrm>
            <a:off x="6816079" y="2780928"/>
            <a:ext cx="432049" cy="7920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atin typeface="Times" pitchFamily="2" charset="0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090C687E-DB6A-A28E-83EC-78F2768650FB}"/>
              </a:ext>
            </a:extLst>
          </p:cNvPr>
          <p:cNvSpPr/>
          <p:nvPr/>
        </p:nvSpPr>
        <p:spPr>
          <a:xfrm>
            <a:off x="6816080" y="3212976"/>
            <a:ext cx="432048" cy="1440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dirty="0">
                <a:latin typeface="Times" pitchFamily="2" charset="0"/>
              </a:rPr>
              <a:t>Miss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0ED474BE-D2CA-915B-7F6D-B00486BB9887}"/>
              </a:ext>
            </a:extLst>
          </p:cNvPr>
          <p:cNvSpPr txBox="1"/>
          <p:nvPr/>
        </p:nvSpPr>
        <p:spPr>
          <a:xfrm>
            <a:off x="6816080" y="3593051"/>
            <a:ext cx="432047" cy="16158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50" dirty="0">
                <a:latin typeface="Times" pitchFamily="2" charset="0"/>
              </a:rPr>
              <a:t>Way 1</a:t>
            </a:r>
          </a:p>
        </p:txBody>
      </p:sp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B539E48E-775E-465B-13DE-508688AFA04C}"/>
              </a:ext>
            </a:extLst>
          </p:cNvPr>
          <p:cNvCxnSpPr>
            <a:cxnSpLocks/>
            <a:stCxn id="66" idx="4"/>
            <a:endCxn id="70" idx="1"/>
          </p:cNvCxnSpPr>
          <p:nvPr/>
        </p:nvCxnSpPr>
        <p:spPr>
          <a:xfrm rot="16200000" flipH="1">
            <a:off x="6420036" y="2888940"/>
            <a:ext cx="648072" cy="144016"/>
          </a:xfrm>
          <a:prstGeom prst="bentConnector2">
            <a:avLst/>
          </a:prstGeom>
          <a:ln>
            <a:tailEnd type="triangle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4645D42F-A824-B1B2-B446-54972F47DFE7}"/>
              </a:ext>
            </a:extLst>
          </p:cNvPr>
          <p:cNvCxnSpPr>
            <a:cxnSpLocks/>
            <a:stCxn id="176" idx="2"/>
            <a:endCxn id="66" idx="0"/>
          </p:cNvCxnSpPr>
          <p:nvPr/>
        </p:nvCxnSpPr>
        <p:spPr>
          <a:xfrm flipH="1">
            <a:off x="6672064" y="2111951"/>
            <a:ext cx="648072" cy="308937"/>
          </a:xfrm>
          <a:prstGeom prst="straightConnector1">
            <a:avLst/>
          </a:prstGeom>
          <a:ln>
            <a:tailEnd type="triangle" w="sm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5" name="Rectangle 124">
            <a:extLst>
              <a:ext uri="{FF2B5EF4-FFF2-40B4-BE49-F238E27FC236}">
                <a16:creationId xmlns:a16="http://schemas.microsoft.com/office/drawing/2014/main" id="{429C5B6F-9044-8F96-3BD0-63FDC92ADCC4}"/>
              </a:ext>
            </a:extLst>
          </p:cNvPr>
          <p:cNvSpPr/>
          <p:nvPr/>
        </p:nvSpPr>
        <p:spPr>
          <a:xfrm>
            <a:off x="8112224" y="2996952"/>
            <a:ext cx="432048" cy="14401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dirty="0">
                <a:latin typeface="Times" pitchFamily="2" charset="0"/>
              </a:rPr>
              <a:t>Hit</a:t>
            </a:r>
          </a:p>
        </p:txBody>
      </p:sp>
    </p:spTree>
    <p:extLst>
      <p:ext uri="{BB962C8B-B14F-4D97-AF65-F5344CB8AC3E}">
        <p14:creationId xmlns:p14="http://schemas.microsoft.com/office/powerpoint/2010/main" val="17758251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130E58DA-DF92-89B9-479C-11AE5954EFD4}"/>
              </a:ext>
            </a:extLst>
          </p:cNvPr>
          <p:cNvGrpSpPr/>
          <p:nvPr/>
        </p:nvGrpSpPr>
        <p:grpSpPr>
          <a:xfrm>
            <a:off x="1589276" y="2247819"/>
            <a:ext cx="7093155" cy="1743768"/>
            <a:chOff x="1589276" y="2247819"/>
            <a:chExt cx="7093155" cy="1743768"/>
          </a:xfrm>
        </p:grpSpPr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D8728609-4751-E325-2837-4323DDD9309E}"/>
                </a:ext>
              </a:extLst>
            </p:cNvPr>
            <p:cNvSpPr txBox="1"/>
            <p:nvPr/>
          </p:nvSpPr>
          <p:spPr>
            <a:xfrm>
              <a:off x="3301713" y="2247819"/>
              <a:ext cx="1955135" cy="22972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defPPr>
                <a:defRPr lang="en-US"/>
              </a:defPPr>
              <a:lvl1pPr algn="ctr">
                <a:lnSpc>
                  <a:spcPct val="80000"/>
                </a:lnSpc>
                <a:defRPr sz="1000"/>
              </a:lvl1pPr>
            </a:lstStyle>
            <a:p>
              <a:r>
                <a:rPr lang="en-US" sz="2000" dirty="0">
                  <a:latin typeface="Times" pitchFamily="2" charset="0"/>
                </a:rPr>
                <a:t>VA [47:15]; 33bits</a:t>
              </a:r>
            </a:p>
          </p:txBody>
        </p:sp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6FBA49E-555A-6E87-1668-ECA451907FBB}"/>
                </a:ext>
              </a:extLst>
            </p:cNvPr>
            <p:cNvGrpSpPr/>
            <p:nvPr/>
          </p:nvGrpSpPr>
          <p:grpSpPr>
            <a:xfrm>
              <a:off x="2783632" y="2522040"/>
              <a:ext cx="5898799" cy="344697"/>
              <a:chOff x="2783632" y="2522040"/>
              <a:chExt cx="5898799" cy="344697"/>
            </a:xfrm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145329D9-F8A2-3153-ECBA-ECE842383CE2}"/>
                  </a:ext>
                </a:extLst>
              </p:cNvPr>
              <p:cNvSpPr/>
              <p:nvPr/>
            </p:nvSpPr>
            <p:spPr>
              <a:xfrm>
                <a:off x="2786587" y="2522040"/>
                <a:ext cx="898151" cy="344697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600" dirty="0">
                    <a:latin typeface="Times" pitchFamily="2" charset="0"/>
                  </a:rPr>
                  <a:t> VPN Tag</a:t>
                </a:r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D929B1C1-DFD1-92CD-4FC3-3725024C66DB}"/>
                  </a:ext>
                </a:extLst>
              </p:cNvPr>
              <p:cNvSpPr/>
              <p:nvPr/>
            </p:nvSpPr>
            <p:spPr>
              <a:xfrm>
                <a:off x="3659676" y="2522040"/>
                <a:ext cx="642792" cy="34469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600" dirty="0">
                    <a:latin typeface="Times" pitchFamily="2" charset="0"/>
                  </a:rPr>
                  <a:t>PTE 0</a:t>
                </a:r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86041333-2975-002C-811F-640B527CE557}"/>
                  </a:ext>
                </a:extLst>
              </p:cNvPr>
              <p:cNvSpPr/>
              <p:nvPr/>
            </p:nvSpPr>
            <p:spPr>
              <a:xfrm>
                <a:off x="4279281" y="2522040"/>
                <a:ext cx="642792" cy="34469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600" dirty="0">
                    <a:latin typeface="Times" pitchFamily="2" charset="0"/>
                  </a:rPr>
                  <a:t>PTE 1</a:t>
                </a:r>
              </a:p>
            </p:txBody>
          </p:sp>
          <p:sp>
            <p:nvSpPr>
              <p:cNvPr id="92" name="Rectangle 91">
                <a:extLst>
                  <a:ext uri="{FF2B5EF4-FFF2-40B4-BE49-F238E27FC236}">
                    <a16:creationId xmlns:a16="http://schemas.microsoft.com/office/drawing/2014/main" id="{FF84DDC8-2E6E-058F-67AA-2725D1640F78}"/>
                  </a:ext>
                </a:extLst>
              </p:cNvPr>
              <p:cNvSpPr/>
              <p:nvPr/>
            </p:nvSpPr>
            <p:spPr>
              <a:xfrm>
                <a:off x="4897011" y="2522040"/>
                <a:ext cx="633682" cy="34469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600" dirty="0">
                    <a:latin typeface="Times" pitchFamily="2" charset="0"/>
                  </a:rPr>
                  <a:t>PTE 2</a:t>
                </a:r>
              </a:p>
            </p:txBody>
          </p:sp>
          <p:sp>
            <p:nvSpPr>
              <p:cNvPr id="93" name="Rectangle 92">
                <a:extLst>
                  <a:ext uri="{FF2B5EF4-FFF2-40B4-BE49-F238E27FC236}">
                    <a16:creationId xmlns:a16="http://schemas.microsoft.com/office/drawing/2014/main" id="{9C374D8B-FFAB-7C16-E678-5A397C53E71B}"/>
                  </a:ext>
                </a:extLst>
              </p:cNvPr>
              <p:cNvSpPr/>
              <p:nvPr/>
            </p:nvSpPr>
            <p:spPr>
              <a:xfrm>
                <a:off x="5506814" y="2522040"/>
                <a:ext cx="641609" cy="34469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600" dirty="0">
                    <a:latin typeface="Times" pitchFamily="2" charset="0"/>
                  </a:rPr>
                  <a:t>PTE 3</a:t>
                </a:r>
              </a:p>
            </p:txBody>
          </p:sp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1E210E5F-61F6-0678-149D-9DE155803A14}"/>
                  </a:ext>
                </a:extLst>
              </p:cNvPr>
              <p:cNvSpPr/>
              <p:nvPr/>
            </p:nvSpPr>
            <p:spPr>
              <a:xfrm>
                <a:off x="6129832" y="2522040"/>
                <a:ext cx="690897" cy="34469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600" dirty="0">
                    <a:latin typeface="Times" pitchFamily="2" charset="0"/>
                  </a:rPr>
                  <a:t>PTE 4</a:t>
                </a:r>
              </a:p>
            </p:txBody>
          </p: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23580E49-3D8D-F347-3352-88B44C036A36}"/>
                  </a:ext>
                </a:extLst>
              </p:cNvPr>
              <p:cNvSpPr/>
              <p:nvPr/>
            </p:nvSpPr>
            <p:spPr>
              <a:xfrm>
                <a:off x="6742966" y="2522040"/>
                <a:ext cx="641609" cy="34469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600" dirty="0">
                    <a:latin typeface="Times" pitchFamily="2" charset="0"/>
                  </a:rPr>
                  <a:t>PTE 5</a:t>
                </a:r>
              </a:p>
            </p:txBody>
          </p:sp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6621480A-28BC-6679-6190-4152982BE2BA}"/>
                  </a:ext>
                </a:extLst>
              </p:cNvPr>
              <p:cNvSpPr/>
              <p:nvPr/>
            </p:nvSpPr>
            <p:spPr>
              <a:xfrm>
                <a:off x="7392767" y="2522040"/>
                <a:ext cx="635721" cy="34469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600" dirty="0">
                    <a:latin typeface="Times" pitchFamily="2" charset="0"/>
                  </a:rPr>
                  <a:t>PTE 6</a:t>
                </a:r>
              </a:p>
            </p:txBody>
          </p:sp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968358C5-1AC6-3E0A-DD69-0E9AEEAEE2B7}"/>
                  </a:ext>
                </a:extLst>
              </p:cNvPr>
              <p:cNvSpPr/>
              <p:nvPr/>
            </p:nvSpPr>
            <p:spPr>
              <a:xfrm>
                <a:off x="8028488" y="2522040"/>
                <a:ext cx="650623" cy="344697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600" dirty="0">
                    <a:latin typeface="Times" pitchFamily="2" charset="0"/>
                  </a:rPr>
                  <a:t>PTE 7</a:t>
                </a:r>
              </a:p>
            </p:txBody>
          </p:sp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1521F33B-F10A-C515-DF7E-266F463955BB}"/>
                  </a:ext>
                </a:extLst>
              </p:cNvPr>
              <p:cNvSpPr/>
              <p:nvPr/>
            </p:nvSpPr>
            <p:spPr>
              <a:xfrm>
                <a:off x="2783632" y="2522040"/>
                <a:ext cx="5898799" cy="344696"/>
              </a:xfrm>
              <a:prstGeom prst="rect">
                <a:avLst/>
              </a:prstGeom>
              <a:noFill/>
              <a:ln w="317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</p:grp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EEE6E479-C96D-596D-AA45-93D63D7F91FD}"/>
                </a:ext>
              </a:extLst>
            </p:cNvPr>
            <p:cNvSpPr txBox="1"/>
            <p:nvPr/>
          </p:nvSpPr>
          <p:spPr>
            <a:xfrm>
              <a:off x="1589276" y="2571278"/>
              <a:ext cx="1318334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defPPr>
                <a:defRPr lang="en-US"/>
              </a:defPPr>
              <a:lvl1pPr algn="ctr">
                <a:lnSpc>
                  <a:spcPct val="80000"/>
                </a:lnSpc>
                <a:defRPr sz="1000"/>
              </a:lvl1pPr>
            </a:lstStyle>
            <a:p>
              <a:pPr algn="l"/>
              <a:r>
                <a:rPr lang="en-US" sz="2000" dirty="0">
                  <a:latin typeface="Times" pitchFamily="2" charset="0"/>
                </a:rPr>
                <a:t>Conceptual</a:t>
              </a:r>
            </a:p>
          </p:txBody>
        </p:sp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1EB26318-C45C-F765-D86E-DB5F1AD6AB55}"/>
                </a:ext>
              </a:extLst>
            </p:cNvPr>
            <p:cNvSpPr txBox="1"/>
            <p:nvPr/>
          </p:nvSpPr>
          <p:spPr>
            <a:xfrm>
              <a:off x="1749703" y="3118200"/>
              <a:ext cx="1013891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>
              <a:defPPr>
                <a:defRPr lang="en-US"/>
              </a:defPPr>
              <a:lvl1pPr algn="ctr">
                <a:lnSpc>
                  <a:spcPct val="80000"/>
                </a:lnSpc>
                <a:defRPr sz="1000"/>
              </a:lvl1pPr>
            </a:lstStyle>
            <a:p>
              <a:r>
                <a:rPr lang="en-US" sz="2000" dirty="0">
                  <a:latin typeface="Times" pitchFamily="2" charset="0"/>
                </a:rPr>
                <a:t>Our </a:t>
              </a:r>
              <a:r>
                <a:rPr lang="en-US" sz="2000" dirty="0" err="1">
                  <a:latin typeface="Times" pitchFamily="2" charset="0"/>
                </a:rPr>
                <a:t>Impl</a:t>
              </a:r>
              <a:r>
                <a:rPr lang="en-US" sz="2000" dirty="0">
                  <a:latin typeface="Times" pitchFamily="2" charset="0"/>
                </a:rPr>
                <a:t>.</a:t>
              </a: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2BA3D57C-1619-0E11-06A8-D0EAD710F6F1}"/>
                </a:ext>
              </a:extLst>
            </p:cNvPr>
            <p:cNvGrpSpPr/>
            <p:nvPr/>
          </p:nvGrpSpPr>
          <p:grpSpPr>
            <a:xfrm>
              <a:off x="2783632" y="3068962"/>
              <a:ext cx="5898799" cy="344697"/>
              <a:chOff x="2783632" y="3068962"/>
              <a:chExt cx="5898799" cy="344697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96508C6D-A591-6AD3-F9D7-99878A7FC2CB}"/>
                  </a:ext>
                </a:extLst>
              </p:cNvPr>
              <p:cNvSpPr/>
              <p:nvPr/>
            </p:nvSpPr>
            <p:spPr>
              <a:xfrm>
                <a:off x="2876919" y="3068962"/>
                <a:ext cx="96811" cy="34469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0" rIns="0" bIns="46800" rtlCol="0" anchor="ctr"/>
              <a:lstStyle/>
              <a:p>
                <a:pPr algn="ctr"/>
                <a:endParaRPr lang="en-US" sz="1400" dirty="0">
                  <a:latin typeface="Times" pitchFamily="2" charset="0"/>
                </a:endParaRPr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612555BE-5AE8-2079-82BC-3882E4E43488}"/>
                  </a:ext>
                </a:extLst>
              </p:cNvPr>
              <p:cNvSpPr/>
              <p:nvPr/>
            </p:nvSpPr>
            <p:spPr>
              <a:xfrm>
                <a:off x="3616666" y="3068962"/>
                <a:ext cx="96811" cy="34469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0" rIns="0" bIns="46800" rtlCol="0" anchor="ctr"/>
              <a:lstStyle/>
              <a:p>
                <a:pPr algn="ctr"/>
                <a:endParaRPr lang="en-US" sz="1400" dirty="0">
                  <a:latin typeface="Times" pitchFamily="2" charset="0"/>
                </a:endParaRPr>
              </a:p>
            </p:txBody>
          </p:sp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7EDB9398-E757-B91C-3F06-10F58DF6F2A9}"/>
                  </a:ext>
                </a:extLst>
              </p:cNvPr>
              <p:cNvSpPr/>
              <p:nvPr/>
            </p:nvSpPr>
            <p:spPr>
              <a:xfrm>
                <a:off x="4349601" y="3068962"/>
                <a:ext cx="96811" cy="34469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0" rIns="0" bIns="46800" rtlCol="0" anchor="ctr"/>
              <a:lstStyle/>
              <a:p>
                <a:pPr algn="ctr"/>
                <a:endParaRPr lang="en-US" sz="1400" dirty="0">
                  <a:latin typeface="Times" pitchFamily="2" charset="0"/>
                </a:endParaRPr>
              </a:p>
            </p:txBody>
          </p: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C8C9D021-C8DA-2343-FD40-4727C5B0EE6E}"/>
                  </a:ext>
                </a:extLst>
              </p:cNvPr>
              <p:cNvSpPr/>
              <p:nvPr/>
            </p:nvSpPr>
            <p:spPr>
              <a:xfrm>
                <a:off x="5078958" y="3068962"/>
                <a:ext cx="96811" cy="34469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0" rIns="0" bIns="46800" rtlCol="0" anchor="ctr"/>
              <a:lstStyle/>
              <a:p>
                <a:pPr algn="ctr"/>
                <a:endParaRPr lang="en-US" sz="1400" dirty="0">
                  <a:latin typeface="Times" pitchFamily="2" charset="0"/>
                </a:endParaRPr>
              </a:p>
            </p:txBody>
          </p:sp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36389CB8-9B55-8B8D-87B9-78B14BA0AACD}"/>
                  </a:ext>
                </a:extLst>
              </p:cNvPr>
              <p:cNvSpPr/>
              <p:nvPr/>
            </p:nvSpPr>
            <p:spPr>
              <a:xfrm>
                <a:off x="5817360" y="3068962"/>
                <a:ext cx="96811" cy="34469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0" rIns="0" bIns="46800" rtlCol="0" anchor="ctr"/>
              <a:lstStyle/>
              <a:p>
                <a:pPr algn="ctr"/>
                <a:endParaRPr lang="en-US" sz="1400" dirty="0">
                  <a:latin typeface="Times" pitchFamily="2" charset="0"/>
                </a:endParaRPr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61E6A917-C17C-7EB4-86D9-64C6384DD64B}"/>
                  </a:ext>
                </a:extLst>
              </p:cNvPr>
              <p:cNvSpPr/>
              <p:nvPr/>
            </p:nvSpPr>
            <p:spPr>
              <a:xfrm>
                <a:off x="6558451" y="3068962"/>
                <a:ext cx="96811" cy="34469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0" rIns="0" bIns="46800" rtlCol="0" anchor="ctr"/>
              <a:lstStyle/>
              <a:p>
                <a:pPr algn="ctr"/>
                <a:endParaRPr lang="en-US" sz="1400" dirty="0">
                  <a:latin typeface="Times" pitchFamily="2" charset="0"/>
                </a:endParaRPr>
              </a:p>
            </p:txBody>
          </p:sp>
          <p:sp>
            <p:nvSpPr>
              <p:cNvPr id="81" name="Rectangle 80">
                <a:extLst>
                  <a:ext uri="{FF2B5EF4-FFF2-40B4-BE49-F238E27FC236}">
                    <a16:creationId xmlns:a16="http://schemas.microsoft.com/office/drawing/2014/main" id="{8839D275-D7FE-0CC0-6C9D-1EBA98E5BC23}"/>
                  </a:ext>
                </a:extLst>
              </p:cNvPr>
              <p:cNvSpPr/>
              <p:nvPr/>
            </p:nvSpPr>
            <p:spPr>
              <a:xfrm>
                <a:off x="7295957" y="3068962"/>
                <a:ext cx="96811" cy="344696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0" rIns="0" bIns="46800" rtlCol="0" anchor="ctr"/>
              <a:lstStyle/>
              <a:p>
                <a:pPr algn="ctr"/>
                <a:endParaRPr lang="en-US" sz="1400" dirty="0">
                  <a:latin typeface="Times" pitchFamily="2" charset="0"/>
                </a:endParaRPr>
              </a:p>
            </p:txBody>
          </p:sp>
          <p:sp>
            <p:nvSpPr>
              <p:cNvPr id="83" name="Rectangle 82">
                <a:extLst>
                  <a:ext uri="{FF2B5EF4-FFF2-40B4-BE49-F238E27FC236}">
                    <a16:creationId xmlns:a16="http://schemas.microsoft.com/office/drawing/2014/main" id="{0EF1B96D-A9E3-D77A-2053-FE894BEC3E83}"/>
                  </a:ext>
                </a:extLst>
              </p:cNvPr>
              <p:cNvSpPr/>
              <p:nvPr/>
            </p:nvSpPr>
            <p:spPr>
              <a:xfrm>
                <a:off x="8034360" y="3068962"/>
                <a:ext cx="96811" cy="34469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0" rIns="0" bIns="46800" rtlCol="0" anchor="ctr"/>
              <a:lstStyle/>
              <a:p>
                <a:pPr algn="ctr"/>
                <a:endParaRPr lang="en-US" sz="1400" dirty="0">
                  <a:latin typeface="Times" pitchFamily="2" charset="0"/>
                </a:endParaRPr>
              </a:p>
            </p:txBody>
          </p:sp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4B7D9243-455A-98F1-067E-C9D75E78E467}"/>
                  </a:ext>
                </a:extLst>
              </p:cNvPr>
              <p:cNvSpPr/>
              <p:nvPr/>
            </p:nvSpPr>
            <p:spPr>
              <a:xfrm>
                <a:off x="2783632" y="3068962"/>
                <a:ext cx="5898799" cy="344696"/>
              </a:xfrm>
              <a:prstGeom prst="rect">
                <a:avLst/>
              </a:prstGeom>
              <a:noFill/>
              <a:ln w="317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400"/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4CD88094-7189-A3B4-B404-8FD0A2976307}"/>
                  </a:ext>
                </a:extLst>
              </p:cNvPr>
              <p:cNvSpPr/>
              <p:nvPr/>
            </p:nvSpPr>
            <p:spPr>
              <a:xfrm>
                <a:off x="7205625" y="3068962"/>
                <a:ext cx="738403" cy="344697"/>
              </a:xfrm>
              <a:prstGeom prst="rect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600" dirty="0">
                    <a:latin typeface="Times" pitchFamily="2" charset="0"/>
                  </a:rPr>
                  <a:t>PTE 6</a:t>
                </a:r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29F4C920-4DB2-FBF9-1268-2FFF8FC87CA9}"/>
                  </a:ext>
                </a:extLst>
              </p:cNvPr>
              <p:cNvSpPr/>
              <p:nvPr/>
            </p:nvSpPr>
            <p:spPr>
              <a:xfrm>
                <a:off x="6468119" y="3068962"/>
                <a:ext cx="738403" cy="344697"/>
              </a:xfrm>
              <a:prstGeom prst="rect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600" dirty="0">
                    <a:latin typeface="Times" pitchFamily="2" charset="0"/>
                  </a:rPr>
                  <a:t>PTE 5</a:t>
                </a:r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2C841B95-9D7F-3FDD-0F8B-595E7DDAD31E}"/>
                  </a:ext>
                </a:extLst>
              </p:cNvPr>
              <p:cNvSpPr/>
              <p:nvPr/>
            </p:nvSpPr>
            <p:spPr>
              <a:xfrm>
                <a:off x="5727028" y="3068962"/>
                <a:ext cx="738403" cy="344697"/>
              </a:xfrm>
              <a:prstGeom prst="rect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600" dirty="0">
                    <a:latin typeface="Times" pitchFamily="2" charset="0"/>
                  </a:rPr>
                  <a:t>PTE 4</a:t>
                </a:r>
              </a:p>
            </p:txBody>
          </p:sp>
          <p:sp>
            <p:nvSpPr>
              <p:cNvPr id="66" name="Rectangle 65">
                <a:extLst>
                  <a:ext uri="{FF2B5EF4-FFF2-40B4-BE49-F238E27FC236}">
                    <a16:creationId xmlns:a16="http://schemas.microsoft.com/office/drawing/2014/main" id="{50D822C4-1BC6-D808-019B-82153B4ED893}"/>
                  </a:ext>
                </a:extLst>
              </p:cNvPr>
              <p:cNvSpPr/>
              <p:nvPr/>
            </p:nvSpPr>
            <p:spPr>
              <a:xfrm>
                <a:off x="4988626" y="3068962"/>
                <a:ext cx="738403" cy="344697"/>
              </a:xfrm>
              <a:prstGeom prst="rect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600" dirty="0">
                    <a:latin typeface="Times" pitchFamily="2" charset="0"/>
                  </a:rPr>
                  <a:t>PTE 3</a:t>
                </a:r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1C69FC15-31F1-1FF8-E282-4BED1B1B4450}"/>
                  </a:ext>
                </a:extLst>
              </p:cNvPr>
              <p:cNvSpPr/>
              <p:nvPr/>
            </p:nvSpPr>
            <p:spPr>
              <a:xfrm>
                <a:off x="4259269" y="3068962"/>
                <a:ext cx="738403" cy="344697"/>
              </a:xfrm>
              <a:prstGeom prst="rect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600" dirty="0">
                    <a:latin typeface="Times" pitchFamily="2" charset="0"/>
                  </a:rPr>
                  <a:t>PTE 2</a:t>
                </a:r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E73C58D6-1CAA-99A1-9D7F-73F236323BD4}"/>
                  </a:ext>
                </a:extLst>
              </p:cNvPr>
              <p:cNvSpPr/>
              <p:nvPr/>
            </p:nvSpPr>
            <p:spPr>
              <a:xfrm>
                <a:off x="3526334" y="3068962"/>
                <a:ext cx="738403" cy="344697"/>
              </a:xfrm>
              <a:prstGeom prst="rect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600" dirty="0">
                    <a:latin typeface="Times" pitchFamily="2" charset="0"/>
                  </a:rPr>
                  <a:t>PTE 1</a:t>
                </a:r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27C9A192-353C-E94F-F507-48FB0EF565B0}"/>
                  </a:ext>
                </a:extLst>
              </p:cNvPr>
              <p:cNvSpPr/>
              <p:nvPr/>
            </p:nvSpPr>
            <p:spPr>
              <a:xfrm>
                <a:off x="2786587" y="3068962"/>
                <a:ext cx="738403" cy="344697"/>
              </a:xfrm>
              <a:prstGeom prst="rect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600" dirty="0">
                    <a:latin typeface="Times" pitchFamily="2" charset="0"/>
                  </a:rPr>
                  <a:t>PTE 0</a:t>
                </a:r>
              </a:p>
            </p:txBody>
          </p:sp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210DFCEB-56DC-87D0-28A8-EAA2980DE3BB}"/>
                  </a:ext>
                </a:extLst>
              </p:cNvPr>
              <p:cNvSpPr/>
              <p:nvPr/>
            </p:nvSpPr>
            <p:spPr>
              <a:xfrm>
                <a:off x="7944028" y="3068962"/>
                <a:ext cx="738403" cy="344697"/>
              </a:xfrm>
              <a:prstGeom prst="rect">
                <a:avLst/>
              </a:prstGeom>
              <a:noFill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en-US" sz="1600" dirty="0">
                    <a:latin typeface="Times" pitchFamily="2" charset="0"/>
                  </a:rPr>
                  <a:t>PTE 7</a:t>
                </a: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B3580CFF-983E-F5EA-2D57-5C4B600B9A2A}"/>
                </a:ext>
              </a:extLst>
            </p:cNvPr>
            <p:cNvGrpSpPr/>
            <p:nvPr/>
          </p:nvGrpSpPr>
          <p:grpSpPr>
            <a:xfrm>
              <a:off x="2849664" y="3499144"/>
              <a:ext cx="5546796" cy="492443"/>
              <a:chOff x="2849664" y="3499144"/>
              <a:chExt cx="5546796" cy="492443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D5181DE7-7303-53BA-5E74-5D12D52AF06F}"/>
                  </a:ext>
                </a:extLst>
              </p:cNvPr>
              <p:cNvGrpSpPr/>
              <p:nvPr/>
            </p:nvGrpSpPr>
            <p:grpSpPr>
              <a:xfrm>
                <a:off x="2849664" y="3499144"/>
                <a:ext cx="2720168" cy="492443"/>
                <a:chOff x="2399156" y="3499144"/>
                <a:chExt cx="2720168" cy="492443"/>
              </a:xfrm>
            </p:grpSpPr>
            <p:sp>
              <p:nvSpPr>
                <p:cNvPr id="94" name="TextBox 93">
                  <a:extLst>
                    <a:ext uri="{FF2B5EF4-FFF2-40B4-BE49-F238E27FC236}">
                      <a16:creationId xmlns:a16="http://schemas.microsoft.com/office/drawing/2014/main" id="{DCDFB03C-E73F-DCED-60B3-39F92081237C}"/>
                    </a:ext>
                  </a:extLst>
                </p:cNvPr>
                <p:cNvSpPr txBox="1"/>
                <p:nvPr/>
              </p:nvSpPr>
              <p:spPr>
                <a:xfrm>
                  <a:off x="2426411" y="3499144"/>
                  <a:ext cx="2692913" cy="49244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spAutoFit/>
                </a:bodyPr>
                <a:lstStyle>
                  <a:defPPr>
                    <a:defRPr lang="en-US"/>
                  </a:defPPr>
                  <a:lvl1pPr algn="ctr">
                    <a:lnSpc>
                      <a:spcPct val="80000"/>
                    </a:lnSpc>
                    <a:defRPr sz="1000"/>
                  </a:lvl1pPr>
                </a:lstStyle>
                <a:p>
                  <a:r>
                    <a:rPr lang="en-US" sz="2000" dirty="0">
                      <a:latin typeface="Times" pitchFamily="2" charset="0"/>
                    </a:rPr>
                    <a:t>Partial VPN Tag (5 bits)</a:t>
                  </a:r>
                </a:p>
              </p:txBody>
            </p:sp>
            <p:sp>
              <p:nvSpPr>
                <p:cNvPr id="102" name="Rectangle 101">
                  <a:extLst>
                    <a:ext uri="{FF2B5EF4-FFF2-40B4-BE49-F238E27FC236}">
                      <a16:creationId xmlns:a16="http://schemas.microsoft.com/office/drawing/2014/main" id="{2E4F7947-7227-066D-0BD2-5CE7AFF2C0D1}"/>
                    </a:ext>
                  </a:extLst>
                </p:cNvPr>
                <p:cNvSpPr/>
                <p:nvPr/>
              </p:nvSpPr>
              <p:spPr>
                <a:xfrm>
                  <a:off x="2399156" y="3573016"/>
                  <a:ext cx="96811" cy="344696"/>
                </a:xfrm>
                <a:prstGeom prst="rect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rIns="0" bIns="46800" rtlCol="0" anchor="ctr"/>
                <a:lstStyle/>
                <a:p>
                  <a:pPr algn="ctr"/>
                  <a:endParaRPr lang="en-US" sz="1100" dirty="0">
                    <a:latin typeface="Times" pitchFamily="2" charset="0"/>
                  </a:endParaRPr>
                </a:p>
              </p:txBody>
            </p: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33A80CA4-DF8F-294B-9A5A-8AFC70551321}"/>
                  </a:ext>
                </a:extLst>
              </p:cNvPr>
              <p:cNvGrpSpPr/>
              <p:nvPr/>
            </p:nvGrpSpPr>
            <p:grpSpPr>
              <a:xfrm>
                <a:off x="5827618" y="3499144"/>
                <a:ext cx="2568842" cy="492443"/>
                <a:chOff x="5210387" y="3499144"/>
                <a:chExt cx="2568842" cy="492443"/>
              </a:xfrm>
            </p:grpSpPr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169576AB-F043-1A5A-0138-F9ED64C1E47B}"/>
                    </a:ext>
                  </a:extLst>
                </p:cNvPr>
                <p:cNvSpPr txBox="1"/>
                <p:nvPr/>
              </p:nvSpPr>
              <p:spPr>
                <a:xfrm>
                  <a:off x="5334753" y="3499144"/>
                  <a:ext cx="2444476" cy="49244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spAutoFit/>
                </a:bodyPr>
                <a:lstStyle>
                  <a:defPPr>
                    <a:defRPr lang="en-US"/>
                  </a:defPPr>
                  <a:lvl1pPr algn="ctr">
                    <a:lnSpc>
                      <a:spcPct val="80000"/>
                    </a:lnSpc>
                    <a:defRPr sz="1000"/>
                  </a:lvl1pPr>
                </a:lstStyle>
                <a:p>
                  <a:r>
                    <a:rPr lang="en-US" sz="2000" dirty="0">
                      <a:latin typeface="Times" pitchFamily="2" charset="0"/>
                    </a:rPr>
                    <a:t>Cluster Counter (5 bits)</a:t>
                  </a:r>
                </a:p>
              </p:txBody>
            </p:sp>
            <p:sp>
              <p:nvSpPr>
                <p:cNvPr id="104" name="Rectangle 103">
                  <a:extLst>
                    <a:ext uri="{FF2B5EF4-FFF2-40B4-BE49-F238E27FC236}">
                      <a16:creationId xmlns:a16="http://schemas.microsoft.com/office/drawing/2014/main" id="{B0B44313-4A70-770D-B3AB-D5A3B327D436}"/>
                    </a:ext>
                  </a:extLst>
                </p:cNvPr>
                <p:cNvSpPr/>
                <p:nvPr/>
              </p:nvSpPr>
              <p:spPr>
                <a:xfrm>
                  <a:off x="5210387" y="3573016"/>
                  <a:ext cx="96811" cy="344696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rIns="0" bIns="46800" rtlCol="0" anchor="ctr"/>
                <a:lstStyle/>
                <a:p>
                  <a:pPr algn="ctr"/>
                  <a:endParaRPr lang="en-US" sz="1100" dirty="0">
                    <a:latin typeface="Times" pitchFamily="2" charset="0"/>
                  </a:endParaRPr>
                </a:p>
              </p:txBody>
            </p:sp>
          </p:grpSp>
        </p:grp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F14225C-9EA2-EA10-7E64-B0050204751C}"/>
              </a:ext>
            </a:extLst>
          </p:cNvPr>
          <p:cNvCxnSpPr>
            <a:cxnSpLocks/>
            <a:stCxn id="57" idx="1"/>
          </p:cNvCxnSpPr>
          <p:nvPr/>
        </p:nvCxnSpPr>
        <p:spPr>
          <a:xfrm flipH="1">
            <a:off x="3048000" y="2362683"/>
            <a:ext cx="253713" cy="228117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20189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C1FC951-85BD-B478-636E-4362473D0969}"/>
              </a:ext>
            </a:extLst>
          </p:cNvPr>
          <p:cNvGrpSpPr/>
          <p:nvPr/>
        </p:nvGrpSpPr>
        <p:grpSpPr>
          <a:xfrm>
            <a:off x="2635433" y="1684440"/>
            <a:ext cx="5032667" cy="1968809"/>
            <a:chOff x="2635433" y="1684440"/>
            <a:chExt cx="5032667" cy="1968809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0FB0EDB-1CBC-D727-B865-B13905CF8D89}"/>
                </a:ext>
              </a:extLst>
            </p:cNvPr>
            <p:cNvSpPr/>
            <p:nvPr/>
          </p:nvSpPr>
          <p:spPr>
            <a:xfrm>
              <a:off x="5447933" y="2024844"/>
              <a:ext cx="1080115" cy="263131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19050"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46800" rIns="0" rtlCol="0" anchor="ctr"/>
            <a:lstStyle/>
            <a:p>
              <a:pPr algn="ctr"/>
              <a:r>
                <a:rPr lang="en-US" sz="1400" dirty="0" err="1">
                  <a:latin typeface="Times" pitchFamily="2" charset="0"/>
                </a:rPr>
                <a:t>kECPT</a:t>
              </a:r>
              <a:r>
                <a:rPr lang="en-US" sz="1400" dirty="0">
                  <a:latin typeface="Times" pitchFamily="2" charset="0"/>
                </a:rPr>
                <a:t> PTE</a:t>
              </a:r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AA7D7D3D-F4B6-D666-FC3B-BC75208AE3E7}"/>
                </a:ext>
              </a:extLst>
            </p:cNvPr>
            <p:cNvCxnSpPr>
              <a:cxnSpLocks/>
            </p:cNvCxnSpPr>
            <p:nvPr/>
          </p:nvCxnSpPr>
          <p:spPr>
            <a:xfrm>
              <a:off x="3935537" y="2586828"/>
              <a:ext cx="1523715" cy="416291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0F0A5F7-3A1C-C257-DF53-F96FB29996B2}"/>
                </a:ext>
              </a:extLst>
            </p:cNvPr>
            <p:cNvCxnSpPr>
              <a:cxnSpLocks/>
            </p:cNvCxnSpPr>
            <p:nvPr/>
          </p:nvCxnSpPr>
          <p:spPr>
            <a:xfrm>
              <a:off x="3932243" y="3093624"/>
              <a:ext cx="1535319" cy="39505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A8104389-272F-FCB4-A53E-F57E1B6CB0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32243" y="2031308"/>
              <a:ext cx="1525310" cy="556039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88E7777-1B8F-E3B0-8A7B-2387D57ACB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43580" y="2287975"/>
              <a:ext cx="1497763" cy="79755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69325E24-5E85-1735-9D1A-D0393054E8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35765" y="2420888"/>
              <a:ext cx="1492539" cy="16594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E7C9051F-831C-FD93-55E1-F5561D46E6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14059" y="2701823"/>
              <a:ext cx="1514245" cy="377865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9F967C5-859F-7215-11C0-D403F024C55A}"/>
                </a:ext>
              </a:extLst>
            </p:cNvPr>
            <p:cNvSpPr/>
            <p:nvPr/>
          </p:nvSpPr>
          <p:spPr>
            <a:xfrm>
              <a:off x="5467562" y="2420888"/>
              <a:ext cx="1050444" cy="263131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 w="25400">
              <a:solidFill>
                <a:schemeClr val="dk1"/>
              </a:solidFill>
              <a:prstDash val="sysDot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46800" rIns="0" rtlCol="0" anchor="ctr"/>
            <a:lstStyle/>
            <a:p>
              <a:pPr algn="ctr"/>
              <a:r>
                <a:rPr lang="en-US" sz="1400" dirty="0" err="1">
                  <a:latin typeface="Times" pitchFamily="2" charset="0"/>
                </a:rPr>
                <a:t>kECPT</a:t>
              </a:r>
              <a:r>
                <a:rPr lang="en-US" sz="1400" dirty="0">
                  <a:latin typeface="Times" pitchFamily="2" charset="0"/>
                </a:rPr>
                <a:t> PTE</a:t>
              </a:r>
            </a:p>
          </p:txBody>
        </p:sp>
        <p:cxnSp>
          <p:nvCxnSpPr>
            <p:cNvPr id="34" name="Elbow Connector 33">
              <a:extLst>
                <a:ext uri="{FF2B5EF4-FFF2-40B4-BE49-F238E27FC236}">
                  <a16:creationId xmlns:a16="http://schemas.microsoft.com/office/drawing/2014/main" id="{1F322271-894C-CABD-EE9C-6CFE8F878DCC}"/>
                </a:ext>
              </a:extLst>
            </p:cNvPr>
            <p:cNvCxnSpPr>
              <a:cxnSpLocks/>
              <a:stCxn id="29" idx="3"/>
              <a:endCxn id="20" idx="3"/>
            </p:cNvCxnSpPr>
            <p:nvPr/>
          </p:nvCxnSpPr>
          <p:spPr>
            <a:xfrm flipV="1">
              <a:off x="6518006" y="2156410"/>
              <a:ext cx="10042" cy="396044"/>
            </a:xfrm>
            <a:prstGeom prst="bentConnector3">
              <a:avLst>
                <a:gd name="adj1" fmla="val 2376439"/>
              </a:avLst>
            </a:prstGeom>
            <a:ln w="15875">
              <a:solidFill>
                <a:schemeClr val="tx1"/>
              </a:solidFill>
              <a:prstDash val="solid"/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58594763-AFD4-A048-34DD-8CCB3177FA24}"/>
                </a:ext>
              </a:extLst>
            </p:cNvPr>
            <p:cNvSpPr/>
            <p:nvPr/>
          </p:nvSpPr>
          <p:spPr>
            <a:xfrm>
              <a:off x="2635433" y="1684440"/>
              <a:ext cx="1504045" cy="23154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Times" pitchFamily="2" charset="0"/>
                </a:rPr>
                <a:t>Virtual Memory</a:t>
              </a: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235E7CD4-BA3F-B27C-ADD8-F13B3892700C}"/>
                </a:ext>
              </a:extLst>
            </p:cNvPr>
            <p:cNvSpPr/>
            <p:nvPr/>
          </p:nvSpPr>
          <p:spPr>
            <a:xfrm>
              <a:off x="5232676" y="1684440"/>
              <a:ext cx="1504045" cy="23154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Times" pitchFamily="2" charset="0"/>
                </a:rPr>
                <a:t>Physical Memory</a:t>
              </a: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E9800287-8B7D-D644-6F09-7B4DD195C2BE}"/>
                </a:ext>
              </a:extLst>
            </p:cNvPr>
            <p:cNvSpPr/>
            <p:nvPr/>
          </p:nvSpPr>
          <p:spPr>
            <a:xfrm>
              <a:off x="5448183" y="2996952"/>
              <a:ext cx="1080083" cy="491722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46800" rIns="0" rtlCol="0" anchor="ctr"/>
            <a:lstStyle/>
            <a:p>
              <a:pPr algn="ctr"/>
              <a:r>
                <a:rPr lang="en-US" sz="1400" dirty="0">
                  <a:latin typeface="Times" pitchFamily="2" charset="0"/>
                </a:rPr>
                <a:t>Kernel Code</a:t>
              </a:r>
            </a:p>
            <a:p>
              <a:pPr algn="ctr"/>
              <a:endParaRPr lang="en-US" sz="1400" dirty="0">
                <a:latin typeface="Times" pitchFamily="2" charset="0"/>
              </a:endParaRP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FF9A30D7-8838-A9CB-3E85-D57B0B1ED225}"/>
                </a:ext>
              </a:extLst>
            </p:cNvPr>
            <p:cNvSpPr/>
            <p:nvPr/>
          </p:nvSpPr>
          <p:spPr>
            <a:xfrm>
              <a:off x="5554668" y="3254437"/>
              <a:ext cx="867113" cy="193539"/>
            </a:xfrm>
            <a:prstGeom prst="rect">
              <a:avLst/>
            </a:prstGeom>
            <a:pattFill prst="lgCheck">
              <a:fgClr>
                <a:schemeClr val="accent5">
                  <a:lumMod val="20000"/>
                  <a:lumOff val="80000"/>
                </a:schemeClr>
              </a:fgClr>
              <a:bgClr>
                <a:schemeClr val="bg1"/>
              </a:bgClr>
            </a:patt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46800" rIns="0" rtlCol="0" anchor="ctr"/>
            <a:lstStyle/>
            <a:p>
              <a:pPr algn="ctr"/>
              <a:r>
                <a:rPr lang="en-US" sz="1400" dirty="0">
                  <a:latin typeface="Times" pitchFamily="2" charset="0"/>
                </a:rPr>
                <a:t>Move PTE</a:t>
              </a:r>
            </a:p>
          </p:txBody>
        </p: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B83636A2-C8B8-2AD4-151C-8C808EDBEFC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447911" y="1916832"/>
              <a:ext cx="23" cy="1728192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03CF4A44-0CC5-FD0C-E518-E762D53C8630}"/>
                </a:ext>
              </a:extLst>
            </p:cNvPr>
            <p:cNvSpPr/>
            <p:nvPr/>
          </p:nvSpPr>
          <p:spPr>
            <a:xfrm>
              <a:off x="6800987" y="2189381"/>
              <a:ext cx="867113" cy="303549"/>
            </a:xfrm>
            <a:prstGeom prst="rect">
              <a:avLst/>
            </a:prstGeom>
            <a:pattFill prst="lgCheck">
              <a:fgClr>
                <a:schemeClr val="accent2">
                  <a:lumMod val="20000"/>
                  <a:lumOff val="8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46800" rIns="0" rtlCol="0" anchor="ctr"/>
            <a:lstStyle/>
            <a:p>
              <a:pPr algn="ctr"/>
              <a:r>
                <a:rPr lang="en-US" sz="1400" dirty="0">
                  <a:latin typeface="Times" pitchFamily="2" charset="0"/>
                </a:rPr>
                <a:t>Move PTE</a:t>
              </a: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5EF7ADDD-68FB-E65D-B3DC-26489726E46F}"/>
                </a:ext>
              </a:extLst>
            </p:cNvPr>
            <p:cNvSpPr/>
            <p:nvPr/>
          </p:nvSpPr>
          <p:spPr>
            <a:xfrm>
              <a:off x="2856908" y="2593811"/>
              <a:ext cx="1080083" cy="49172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46800" rIns="0" bIns="46800" rtlCol="0" anchor="ctr"/>
            <a:lstStyle/>
            <a:p>
              <a:pPr algn="ctr"/>
              <a:r>
                <a:rPr lang="en-US" sz="1400" dirty="0">
                  <a:latin typeface="Times" pitchFamily="2" charset="0"/>
                </a:rPr>
                <a:t>Kernel Code</a:t>
              </a:r>
            </a:p>
            <a:p>
              <a:pPr algn="ctr"/>
              <a:endParaRPr lang="en-US" sz="1400" dirty="0">
                <a:latin typeface="Times" pitchFamily="2" charset="0"/>
              </a:endParaRP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A3BAB96F-1B5E-DDE4-FF6F-E7E26541B36A}"/>
                </a:ext>
              </a:extLst>
            </p:cNvPr>
            <p:cNvSpPr/>
            <p:nvPr/>
          </p:nvSpPr>
          <p:spPr>
            <a:xfrm>
              <a:off x="2963393" y="2851296"/>
              <a:ext cx="867113" cy="193539"/>
            </a:xfrm>
            <a:prstGeom prst="rect">
              <a:avLst/>
            </a:prstGeom>
            <a:pattFill prst="lgCheck">
              <a:fgClr>
                <a:schemeClr val="accent2">
                  <a:lumMod val="20000"/>
                  <a:lumOff val="80000"/>
                </a:schemeClr>
              </a:fgClr>
              <a:bgClr>
                <a:schemeClr val="bg1"/>
              </a:bgClr>
            </a:patt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46800" rIns="0" rtlCol="0" anchor="ctr"/>
            <a:lstStyle/>
            <a:p>
              <a:pPr algn="ctr"/>
              <a:r>
                <a:rPr lang="en-US" sz="1400" dirty="0">
                  <a:latin typeface="Times" pitchFamily="2" charset="0"/>
                </a:rPr>
                <a:t>Move PTE</a:t>
              </a:r>
            </a:p>
          </p:txBody>
        </p: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DF966D60-C36B-3484-1425-96746A45A11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31277" y="1923078"/>
              <a:ext cx="23" cy="1728192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4C486B58-1536-1331-4A19-A74F5ED5A5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55640" y="1918811"/>
              <a:ext cx="23" cy="1728192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0A74AD8D-014C-52EA-CF1C-F5D85A3D6D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9006" y="1925057"/>
              <a:ext cx="23" cy="1728192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EC03F164-5A59-8D5D-928B-96A70A4DC26D}"/>
              </a:ext>
            </a:extLst>
          </p:cNvPr>
          <p:cNvSpPr txBox="1"/>
          <p:nvPr/>
        </p:nvSpPr>
        <p:spPr>
          <a:xfrm>
            <a:off x="2848396" y="436970"/>
            <a:ext cx="1313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/>
              <a:t>paradox.pdf</a:t>
            </a:r>
          </a:p>
        </p:txBody>
      </p:sp>
    </p:spTree>
    <p:extLst>
      <p:ext uri="{BB962C8B-B14F-4D97-AF65-F5344CB8AC3E}">
        <p14:creationId xmlns:p14="http://schemas.microsoft.com/office/powerpoint/2010/main" val="6940307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5685F947-2C78-E87E-6031-8F5549537C56}"/>
              </a:ext>
            </a:extLst>
          </p:cNvPr>
          <p:cNvGrpSpPr/>
          <p:nvPr/>
        </p:nvGrpSpPr>
        <p:grpSpPr>
          <a:xfrm>
            <a:off x="2775442" y="1899645"/>
            <a:ext cx="4793008" cy="1589029"/>
            <a:chOff x="2775442" y="1899645"/>
            <a:chExt cx="4793008" cy="1589029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AA7D7D3D-F4B6-D666-FC3B-BC75208AE3E7}"/>
                </a:ext>
              </a:extLst>
            </p:cNvPr>
            <p:cNvCxnSpPr>
              <a:cxnSpLocks/>
            </p:cNvCxnSpPr>
            <p:nvPr/>
          </p:nvCxnSpPr>
          <p:spPr>
            <a:xfrm>
              <a:off x="3935537" y="2586828"/>
              <a:ext cx="1518754" cy="373845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60F0A5F7-3A1C-C257-DF53-F96FB29996B2}"/>
                </a:ext>
              </a:extLst>
            </p:cNvPr>
            <p:cNvCxnSpPr>
              <a:cxnSpLocks/>
            </p:cNvCxnSpPr>
            <p:nvPr/>
          </p:nvCxnSpPr>
          <p:spPr>
            <a:xfrm>
              <a:off x="3937958" y="3010619"/>
              <a:ext cx="1516333" cy="366345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A8104389-272F-FCB4-A53E-F57E1B6CB00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32243" y="2230414"/>
              <a:ext cx="1509100" cy="356933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388E7777-1B8F-E3B0-8A7B-2387D57ACB0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29332" y="2486533"/>
              <a:ext cx="1521613" cy="524086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69325E24-5E85-1735-9D1A-D0393054E8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35765" y="2561615"/>
              <a:ext cx="1518526" cy="25213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E7C9051F-831C-FD93-55E1-F5561D46E64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933645" y="2818232"/>
              <a:ext cx="1514266" cy="192387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3" name="Rectangle 82">
              <a:extLst>
                <a:ext uri="{FF2B5EF4-FFF2-40B4-BE49-F238E27FC236}">
                  <a16:creationId xmlns:a16="http://schemas.microsoft.com/office/drawing/2014/main" id="{58594763-AFD4-A048-34DD-8CCB3177FA24}"/>
                </a:ext>
              </a:extLst>
            </p:cNvPr>
            <p:cNvSpPr/>
            <p:nvPr/>
          </p:nvSpPr>
          <p:spPr>
            <a:xfrm>
              <a:off x="2775442" y="1899645"/>
              <a:ext cx="1243013" cy="23154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dirty="0">
                  <a:latin typeface="Times" pitchFamily="2" charset="0"/>
                </a:rPr>
                <a:t>Virtual Memory</a:t>
              </a:r>
            </a:p>
          </p:txBody>
        </p:sp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235E7CD4-BA3F-B27C-ADD8-F13B3892700C}"/>
                </a:ext>
              </a:extLst>
            </p:cNvPr>
            <p:cNvSpPr/>
            <p:nvPr/>
          </p:nvSpPr>
          <p:spPr>
            <a:xfrm>
              <a:off x="5301041" y="1908589"/>
              <a:ext cx="1367314" cy="231541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1400" dirty="0">
                  <a:latin typeface="Times" pitchFamily="2" charset="0"/>
                </a:rPr>
                <a:t>Physical Memory</a:t>
              </a: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03CF4A44-0CC5-FD0C-E518-E762D53C8630}"/>
                </a:ext>
              </a:extLst>
            </p:cNvPr>
            <p:cNvSpPr/>
            <p:nvPr/>
          </p:nvSpPr>
          <p:spPr>
            <a:xfrm>
              <a:off x="6780165" y="2419945"/>
              <a:ext cx="788285" cy="204955"/>
            </a:xfrm>
            <a:prstGeom prst="rect">
              <a:avLst/>
            </a:prstGeom>
            <a:pattFill prst="lgCheck">
              <a:fgClr>
                <a:schemeClr val="accent2">
                  <a:lumMod val="20000"/>
                  <a:lumOff val="8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tIns="36000" rIns="0" bIns="54000" rtlCol="0" anchor="ctr"/>
            <a:lstStyle/>
            <a:p>
              <a:pPr algn="ctr"/>
              <a:r>
                <a:rPr lang="en-US" sz="1400" dirty="0">
                  <a:latin typeface="Times" pitchFamily="2" charset="0"/>
                </a:rPr>
                <a:t>Move PTE</a:t>
              </a: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5EF7ADDD-68FB-E65D-B3DC-26489726E46F}"/>
                </a:ext>
              </a:extLst>
            </p:cNvPr>
            <p:cNvSpPr/>
            <p:nvPr/>
          </p:nvSpPr>
          <p:spPr>
            <a:xfrm>
              <a:off x="2856908" y="2593811"/>
              <a:ext cx="1080083" cy="4176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en-US" sz="1400" dirty="0">
                  <a:latin typeface="Times" pitchFamily="2" charset="0"/>
                </a:rPr>
                <a:t>Kernel Code</a:t>
              </a:r>
            </a:p>
            <a:p>
              <a:pPr algn="ctr"/>
              <a:endParaRPr lang="en-US" sz="1400" dirty="0">
                <a:latin typeface="Times" pitchFamily="2" charset="0"/>
              </a:endParaRP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A3BAB96F-1B5E-DDE4-FF6F-E7E26541B36A}"/>
                </a:ext>
              </a:extLst>
            </p:cNvPr>
            <p:cNvSpPr/>
            <p:nvPr/>
          </p:nvSpPr>
          <p:spPr>
            <a:xfrm>
              <a:off x="2963393" y="2802611"/>
              <a:ext cx="867113" cy="180000"/>
            </a:xfrm>
            <a:prstGeom prst="rect">
              <a:avLst/>
            </a:prstGeom>
            <a:pattFill prst="lgCheck">
              <a:fgClr>
                <a:schemeClr val="accent2">
                  <a:lumMod val="20000"/>
                  <a:lumOff val="80000"/>
                </a:schemeClr>
              </a:fgClr>
              <a:bgClr>
                <a:schemeClr val="bg1"/>
              </a:bgClr>
            </a:pattFill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lIns="0" tIns="36000" rIns="0" bIns="54000" rtlCol="0" anchor="ctr"/>
            <a:lstStyle/>
            <a:p>
              <a:pPr algn="ctr"/>
              <a:r>
                <a:rPr lang="en-US" sz="1400" dirty="0">
                  <a:latin typeface="Times" pitchFamily="2" charset="0"/>
                </a:rPr>
                <a:t>Move PTE</a:t>
              </a: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C6B5677F-147C-3396-D438-F780FF3B6E7B}"/>
                </a:ext>
              </a:extLst>
            </p:cNvPr>
            <p:cNvGrpSpPr/>
            <p:nvPr/>
          </p:nvGrpSpPr>
          <p:grpSpPr>
            <a:xfrm>
              <a:off x="5447911" y="2132855"/>
              <a:ext cx="1083389" cy="1354274"/>
              <a:chOff x="5447911" y="2132855"/>
              <a:chExt cx="1083389" cy="1354274"/>
            </a:xfrm>
          </p:grpSpPr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50FB0EDB-1CBC-D727-B865-B13905CF8D89}"/>
                  </a:ext>
                </a:extLst>
              </p:cNvPr>
              <p:cNvSpPr/>
              <p:nvPr/>
            </p:nvSpPr>
            <p:spPr>
              <a:xfrm>
                <a:off x="5447933" y="2223402"/>
                <a:ext cx="1080115" cy="263131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19050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 err="1">
                    <a:latin typeface="Times" pitchFamily="2" charset="0"/>
                  </a:rPr>
                  <a:t>kECPT</a:t>
                </a:r>
                <a:r>
                  <a:rPr lang="en-US" sz="1400" dirty="0">
                    <a:latin typeface="Times" pitchFamily="2" charset="0"/>
                  </a:rPr>
                  <a:t> PTE</a:t>
                </a:r>
              </a:p>
            </p:txBody>
          </p:sp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69F967C5-859F-7215-11C0-D403F024C55A}"/>
                  </a:ext>
                </a:extLst>
              </p:cNvPr>
              <p:cNvSpPr/>
              <p:nvPr/>
            </p:nvSpPr>
            <p:spPr>
              <a:xfrm>
                <a:off x="5467562" y="2558313"/>
                <a:ext cx="1050444" cy="263131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25400">
                <a:solidFill>
                  <a:schemeClr val="dk1"/>
                </a:solidFill>
                <a:prstDash val="sysDot"/>
              </a:ln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lIns="0" tIns="36000" rIns="0" rtlCol="0" anchor="ctr"/>
              <a:lstStyle/>
              <a:p>
                <a:pPr algn="ctr"/>
                <a:r>
                  <a:rPr lang="en-US" sz="1400" dirty="0" err="1">
                    <a:latin typeface="Times" pitchFamily="2" charset="0"/>
                  </a:rPr>
                  <a:t>kECPT</a:t>
                </a:r>
                <a:r>
                  <a:rPr lang="en-US" sz="1400" dirty="0">
                    <a:latin typeface="Times" pitchFamily="2" charset="0"/>
                  </a:rPr>
                  <a:t> PTE</a:t>
                </a:r>
              </a:p>
            </p:txBody>
          </p:sp>
          <p:cxnSp>
            <p:nvCxnSpPr>
              <p:cNvPr id="34" name="Elbow Connector 33">
                <a:extLst>
                  <a:ext uri="{FF2B5EF4-FFF2-40B4-BE49-F238E27FC236}">
                    <a16:creationId xmlns:a16="http://schemas.microsoft.com/office/drawing/2014/main" id="{1F322271-894C-CABD-EE9C-6CFE8F878DCC}"/>
                  </a:ext>
                </a:extLst>
              </p:cNvPr>
              <p:cNvCxnSpPr>
                <a:cxnSpLocks/>
                <a:stCxn id="29" idx="3"/>
                <a:endCxn id="20" idx="3"/>
              </p:cNvCxnSpPr>
              <p:nvPr/>
            </p:nvCxnSpPr>
            <p:spPr>
              <a:xfrm flipV="1">
                <a:off x="6518006" y="2354968"/>
                <a:ext cx="10042" cy="334911"/>
              </a:xfrm>
              <a:prstGeom prst="bentConnector3">
                <a:avLst>
                  <a:gd name="adj1" fmla="val 2376439"/>
                </a:avLst>
              </a:prstGeom>
              <a:ln w="15875">
                <a:solidFill>
                  <a:schemeClr val="tx1"/>
                </a:solidFill>
                <a:prstDash val="solid"/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6A6B0D36-C1CF-F745-738A-3BE6565A63D9}"/>
                  </a:ext>
                </a:extLst>
              </p:cNvPr>
              <p:cNvGrpSpPr/>
              <p:nvPr/>
            </p:nvGrpSpPr>
            <p:grpSpPr>
              <a:xfrm>
                <a:off x="5448183" y="2960673"/>
                <a:ext cx="1080083" cy="416291"/>
                <a:chOff x="5448183" y="3072382"/>
                <a:chExt cx="1080083" cy="416291"/>
              </a:xfrm>
            </p:grpSpPr>
            <p:sp>
              <p:nvSpPr>
                <p:cNvPr id="88" name="Rectangle 87">
                  <a:extLst>
                    <a:ext uri="{FF2B5EF4-FFF2-40B4-BE49-F238E27FC236}">
                      <a16:creationId xmlns:a16="http://schemas.microsoft.com/office/drawing/2014/main" id="{E9800287-8B7D-D644-6F09-7B4DD195C2BE}"/>
                    </a:ext>
                  </a:extLst>
                </p:cNvPr>
                <p:cNvSpPr/>
                <p:nvPr/>
              </p:nvSpPr>
              <p:spPr>
                <a:xfrm>
                  <a:off x="5448183" y="3072382"/>
                  <a:ext cx="1080083" cy="416291"/>
                </a:xfrm>
                <a:prstGeom prst="rect">
                  <a:avLst/>
                </a:prstGeom>
                <a:solidFill>
                  <a:schemeClr val="accent5">
                    <a:lumMod val="20000"/>
                    <a:lumOff val="80000"/>
                  </a:schemeClr>
                </a:solid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lIns="0" tIns="0" rIns="0" bIns="0" rtlCol="0" anchor="ctr"/>
                <a:lstStyle/>
                <a:p>
                  <a:pPr algn="ctr"/>
                  <a:r>
                    <a:rPr lang="en-US" sz="1400" dirty="0">
                      <a:latin typeface="Times" pitchFamily="2" charset="0"/>
                    </a:rPr>
                    <a:t>Kernel Code</a:t>
                  </a:r>
                </a:p>
                <a:p>
                  <a:pPr algn="ctr"/>
                  <a:endParaRPr lang="en-US" sz="1400" dirty="0">
                    <a:latin typeface="Times" pitchFamily="2" charset="0"/>
                  </a:endParaRPr>
                </a:p>
              </p:txBody>
            </p:sp>
            <p:sp>
              <p:nvSpPr>
                <p:cNvPr id="89" name="Rectangle 88">
                  <a:extLst>
                    <a:ext uri="{FF2B5EF4-FFF2-40B4-BE49-F238E27FC236}">
                      <a16:creationId xmlns:a16="http://schemas.microsoft.com/office/drawing/2014/main" id="{FF9A30D7-8838-A9CB-3E85-D57B0B1ED225}"/>
                    </a:ext>
                  </a:extLst>
                </p:cNvPr>
                <p:cNvSpPr/>
                <p:nvPr/>
              </p:nvSpPr>
              <p:spPr>
                <a:xfrm>
                  <a:off x="5554668" y="3280527"/>
                  <a:ext cx="867113" cy="181407"/>
                </a:xfrm>
                <a:prstGeom prst="rect">
                  <a:avLst/>
                </a:prstGeom>
                <a:pattFill prst="lgCheck">
                  <a:fgClr>
                    <a:schemeClr val="accent5">
                      <a:lumMod val="20000"/>
                      <a:lumOff val="80000"/>
                    </a:schemeClr>
                  </a:fgClr>
                  <a:bgClr>
                    <a:schemeClr val="bg1"/>
                  </a:bgClr>
                </a:pattFill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lIns="0" tIns="36000" rIns="0" bIns="54000" rtlCol="0" anchor="ctr"/>
                <a:lstStyle/>
                <a:p>
                  <a:pPr algn="ctr"/>
                  <a:r>
                    <a:rPr lang="en-US" sz="1400" dirty="0">
                      <a:latin typeface="Times" pitchFamily="2" charset="0"/>
                    </a:rPr>
                    <a:t>Move PTE</a:t>
                  </a:r>
                </a:p>
              </p:txBody>
            </p:sp>
          </p:grp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B83636A2-C8B8-2AD4-151C-8C808EDBEFC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447911" y="2132855"/>
                <a:ext cx="23" cy="1349397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DF966D60-C36B-3484-1425-96746A45A11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531277" y="2137732"/>
                <a:ext cx="23" cy="1349397"/>
              </a:xfrm>
              <a:prstGeom prst="line">
                <a:avLst/>
              </a:prstGeom>
              <a:ln w="222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4C486B58-1536-1331-4A19-A74F5ED5A56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855640" y="2134400"/>
              <a:ext cx="23" cy="1349397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0A74AD8D-014C-52EA-CF1C-F5D85A3D6D4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939006" y="2139277"/>
              <a:ext cx="23" cy="1349397"/>
            </a:xfrm>
            <a:prstGeom prst="line">
              <a:avLst/>
            </a:prstGeom>
            <a:ln w="222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9C6B9FC9-792F-0719-927D-5A1C70EE7E0E}"/>
              </a:ext>
            </a:extLst>
          </p:cNvPr>
          <p:cNvSpPr txBox="1"/>
          <p:nvPr/>
        </p:nvSpPr>
        <p:spPr>
          <a:xfrm>
            <a:off x="1820708" y="469338"/>
            <a:ext cx="4286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KR" dirty="0"/>
              <a:t>Modified 2024-04-19: paradox-compact.pdf</a:t>
            </a:r>
          </a:p>
        </p:txBody>
      </p:sp>
    </p:spTree>
    <p:extLst>
      <p:ext uri="{BB962C8B-B14F-4D97-AF65-F5344CB8AC3E}">
        <p14:creationId xmlns:p14="http://schemas.microsoft.com/office/powerpoint/2010/main" val="3756448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076AD32-1AAE-C5F4-8A3C-28B4BB59DD63}"/>
              </a:ext>
            </a:extLst>
          </p:cNvPr>
          <p:cNvSpPr/>
          <p:nvPr/>
        </p:nvSpPr>
        <p:spPr>
          <a:xfrm>
            <a:off x="1055441" y="548681"/>
            <a:ext cx="864096" cy="3600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Times" pitchFamily="2" charset="0"/>
              </a:rPr>
              <a:t>L</a:t>
            </a:r>
            <a:r>
              <a:rPr lang="en-US" sz="1200" baseline="-25000" dirty="0">
                <a:latin typeface="Times" pitchFamily="2" charset="0"/>
              </a:rPr>
              <a:t>4</a:t>
            </a:r>
            <a:r>
              <a:rPr lang="en-US" sz="1200" dirty="0">
                <a:latin typeface="Times" pitchFamily="2" charset="0"/>
              </a:rPr>
              <a:t> (PGD)</a:t>
            </a:r>
          </a:p>
          <a:p>
            <a:pPr algn="ctr"/>
            <a:r>
              <a:rPr lang="en-US" sz="1200" dirty="0">
                <a:latin typeface="Times" pitchFamily="2" charset="0"/>
              </a:rPr>
              <a:t>Offset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93427C4-BBD0-4892-3A29-4B4B54B71A69}"/>
              </a:ext>
            </a:extLst>
          </p:cNvPr>
          <p:cNvSpPr/>
          <p:nvPr/>
        </p:nvSpPr>
        <p:spPr>
          <a:xfrm>
            <a:off x="1919536" y="548680"/>
            <a:ext cx="864096" cy="3600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Times" pitchFamily="2" charset="0"/>
              </a:rPr>
              <a:t>L</a:t>
            </a:r>
            <a:r>
              <a:rPr lang="en-US" sz="1200" baseline="-25000" dirty="0">
                <a:latin typeface="Times" pitchFamily="2" charset="0"/>
              </a:rPr>
              <a:t>3</a:t>
            </a:r>
            <a:r>
              <a:rPr lang="en-US" sz="1200" dirty="0">
                <a:latin typeface="Times" pitchFamily="2" charset="0"/>
              </a:rPr>
              <a:t> (PUD)</a:t>
            </a:r>
          </a:p>
          <a:p>
            <a:pPr algn="ctr"/>
            <a:r>
              <a:rPr lang="en-US" sz="1200" dirty="0">
                <a:latin typeface="Times" pitchFamily="2" charset="0"/>
              </a:rPr>
              <a:t>Offset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0A9401-B7D5-B83D-B3AA-02061BFFCFDC}"/>
              </a:ext>
            </a:extLst>
          </p:cNvPr>
          <p:cNvSpPr/>
          <p:nvPr/>
        </p:nvSpPr>
        <p:spPr>
          <a:xfrm>
            <a:off x="2783632" y="548680"/>
            <a:ext cx="864096" cy="3600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Times" pitchFamily="2" charset="0"/>
              </a:rPr>
              <a:t>L</a:t>
            </a:r>
            <a:r>
              <a:rPr lang="en-US" sz="1200" baseline="-25000" dirty="0">
                <a:latin typeface="Times" pitchFamily="2" charset="0"/>
              </a:rPr>
              <a:t>2</a:t>
            </a:r>
            <a:r>
              <a:rPr lang="en-US" sz="1200" dirty="0">
                <a:latin typeface="Times" pitchFamily="2" charset="0"/>
              </a:rPr>
              <a:t> (PMD)</a:t>
            </a:r>
          </a:p>
          <a:p>
            <a:pPr algn="ctr"/>
            <a:r>
              <a:rPr lang="en-US" sz="1200" dirty="0">
                <a:latin typeface="Times" pitchFamily="2" charset="0"/>
              </a:rPr>
              <a:t>Offset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93661FC-C893-F8D2-48BD-B72F5CC4D148}"/>
              </a:ext>
            </a:extLst>
          </p:cNvPr>
          <p:cNvSpPr/>
          <p:nvPr/>
        </p:nvSpPr>
        <p:spPr>
          <a:xfrm>
            <a:off x="3647728" y="548680"/>
            <a:ext cx="864096" cy="3600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Times" pitchFamily="2" charset="0"/>
              </a:rPr>
              <a:t>L</a:t>
            </a:r>
            <a:r>
              <a:rPr lang="en-US" sz="1200" baseline="-25000" dirty="0">
                <a:latin typeface="Times" pitchFamily="2" charset="0"/>
              </a:rPr>
              <a:t>1</a:t>
            </a:r>
            <a:r>
              <a:rPr lang="en-US" sz="1200" dirty="0">
                <a:latin typeface="Times" pitchFamily="2" charset="0"/>
              </a:rPr>
              <a:t> (PTE)</a:t>
            </a:r>
          </a:p>
          <a:p>
            <a:pPr algn="ctr"/>
            <a:r>
              <a:rPr lang="en-US" sz="1200" dirty="0">
                <a:latin typeface="Times" pitchFamily="2" charset="0"/>
              </a:rPr>
              <a:t>Offset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4D315B1-B14C-5CD0-D89B-B5D029485127}"/>
              </a:ext>
            </a:extLst>
          </p:cNvPr>
          <p:cNvSpPr/>
          <p:nvPr/>
        </p:nvSpPr>
        <p:spPr>
          <a:xfrm>
            <a:off x="4511824" y="548680"/>
            <a:ext cx="864096" cy="3600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Times" pitchFamily="2" charset="0"/>
              </a:rPr>
              <a:t>Page Offset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1E58F6-AB74-5503-C52D-E056A6527C71}"/>
              </a:ext>
            </a:extLst>
          </p:cNvPr>
          <p:cNvSpPr/>
          <p:nvPr/>
        </p:nvSpPr>
        <p:spPr>
          <a:xfrm>
            <a:off x="335360" y="548680"/>
            <a:ext cx="720080" cy="36004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1200" dirty="0">
              <a:latin typeface="Times" pitchFamily="2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78571F-5BAC-3DA1-4770-BA6FED943B45}"/>
              </a:ext>
            </a:extLst>
          </p:cNvPr>
          <p:cNvSpPr txBox="1"/>
          <p:nvPr/>
        </p:nvSpPr>
        <p:spPr>
          <a:xfrm>
            <a:off x="263352" y="404664"/>
            <a:ext cx="14401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dirty="0">
                <a:latin typeface="Times" pitchFamily="2" charset="0"/>
              </a:rPr>
              <a:t>63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5E3B33-BF84-15A8-6E30-E7F265DC7C33}"/>
              </a:ext>
            </a:extLst>
          </p:cNvPr>
          <p:cNvSpPr txBox="1"/>
          <p:nvPr/>
        </p:nvSpPr>
        <p:spPr>
          <a:xfrm>
            <a:off x="911424" y="404664"/>
            <a:ext cx="14401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dirty="0">
                <a:latin typeface="Times" pitchFamily="2" charset="0"/>
              </a:rPr>
              <a:t>48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EB214D4-C4B8-8A11-EC72-A1525A1218DA}"/>
              </a:ext>
            </a:extLst>
          </p:cNvPr>
          <p:cNvSpPr txBox="1"/>
          <p:nvPr/>
        </p:nvSpPr>
        <p:spPr>
          <a:xfrm>
            <a:off x="1055440" y="404664"/>
            <a:ext cx="14401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dirty="0">
                <a:latin typeface="Times" pitchFamily="2" charset="0"/>
              </a:rPr>
              <a:t>47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61C193-ED40-7C93-B045-51734A206DC9}"/>
              </a:ext>
            </a:extLst>
          </p:cNvPr>
          <p:cNvSpPr txBox="1"/>
          <p:nvPr/>
        </p:nvSpPr>
        <p:spPr>
          <a:xfrm>
            <a:off x="1775520" y="404664"/>
            <a:ext cx="14401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dirty="0">
                <a:latin typeface="Times" pitchFamily="2" charset="0"/>
              </a:rPr>
              <a:t>39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C62928C-6C0A-69BE-E679-F847D4130C44}"/>
              </a:ext>
            </a:extLst>
          </p:cNvPr>
          <p:cNvSpPr txBox="1"/>
          <p:nvPr/>
        </p:nvSpPr>
        <p:spPr>
          <a:xfrm>
            <a:off x="1919536" y="404664"/>
            <a:ext cx="14401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dirty="0">
                <a:latin typeface="Times" pitchFamily="2" charset="0"/>
              </a:rPr>
              <a:t>38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5495CD3-34FC-8698-B46C-56BC868F2BF3}"/>
              </a:ext>
            </a:extLst>
          </p:cNvPr>
          <p:cNvSpPr txBox="1"/>
          <p:nvPr/>
        </p:nvSpPr>
        <p:spPr>
          <a:xfrm>
            <a:off x="2639616" y="404664"/>
            <a:ext cx="14401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dirty="0">
                <a:latin typeface="Times" pitchFamily="2" charset="0"/>
              </a:rPr>
              <a:t>30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44CCFC6-E49E-A13A-A812-FA2F643F49CB}"/>
              </a:ext>
            </a:extLst>
          </p:cNvPr>
          <p:cNvSpPr txBox="1"/>
          <p:nvPr/>
        </p:nvSpPr>
        <p:spPr>
          <a:xfrm>
            <a:off x="2783632" y="404664"/>
            <a:ext cx="14401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dirty="0">
                <a:latin typeface="Times" pitchFamily="2" charset="0"/>
              </a:rPr>
              <a:t>29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BE552A9-A94C-D9B0-50B2-41C967BC7282}"/>
              </a:ext>
            </a:extLst>
          </p:cNvPr>
          <p:cNvSpPr txBox="1"/>
          <p:nvPr/>
        </p:nvSpPr>
        <p:spPr>
          <a:xfrm>
            <a:off x="3503712" y="404664"/>
            <a:ext cx="14401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dirty="0">
                <a:latin typeface="Times" pitchFamily="2" charset="0"/>
              </a:rPr>
              <a:t>21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D3B446A-C8C4-65DF-E66D-1B44B019DE6E}"/>
              </a:ext>
            </a:extLst>
          </p:cNvPr>
          <p:cNvSpPr txBox="1"/>
          <p:nvPr/>
        </p:nvSpPr>
        <p:spPr>
          <a:xfrm>
            <a:off x="3647728" y="404664"/>
            <a:ext cx="14401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dirty="0">
                <a:latin typeface="Times" pitchFamily="2" charset="0"/>
              </a:rPr>
              <a:t>20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B91830C-A884-698A-59A7-61461DB44598}"/>
              </a:ext>
            </a:extLst>
          </p:cNvPr>
          <p:cNvSpPr txBox="1"/>
          <p:nvPr/>
        </p:nvSpPr>
        <p:spPr>
          <a:xfrm>
            <a:off x="4367808" y="404664"/>
            <a:ext cx="14401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dirty="0">
                <a:latin typeface="Times" pitchFamily="2" charset="0"/>
              </a:rPr>
              <a:t>12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570E4E4-70C9-8BD9-7B63-21F5B2E8F7F9}"/>
              </a:ext>
            </a:extLst>
          </p:cNvPr>
          <p:cNvSpPr txBox="1"/>
          <p:nvPr/>
        </p:nvSpPr>
        <p:spPr>
          <a:xfrm>
            <a:off x="4511824" y="404664"/>
            <a:ext cx="14401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dirty="0">
                <a:latin typeface="Times" pitchFamily="2" charset="0"/>
              </a:rPr>
              <a:t>11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5E14325-F5C2-B88D-4B28-070D57CA0195}"/>
              </a:ext>
            </a:extLst>
          </p:cNvPr>
          <p:cNvSpPr txBox="1"/>
          <p:nvPr/>
        </p:nvSpPr>
        <p:spPr>
          <a:xfrm>
            <a:off x="5303912" y="404664"/>
            <a:ext cx="144016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dirty="0">
                <a:latin typeface="Times" pitchFamily="2" charset="0"/>
              </a:rPr>
              <a:t>0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58B585E-C71F-86D8-42B3-D576E4B1F40D}"/>
              </a:ext>
            </a:extLst>
          </p:cNvPr>
          <p:cNvSpPr/>
          <p:nvPr/>
        </p:nvSpPr>
        <p:spPr>
          <a:xfrm>
            <a:off x="1343472" y="1052736"/>
            <a:ext cx="504056" cy="7920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BBA29BB-74FA-241E-F004-8CF490479A1C}"/>
              </a:ext>
            </a:extLst>
          </p:cNvPr>
          <p:cNvSpPr/>
          <p:nvPr/>
        </p:nvSpPr>
        <p:spPr>
          <a:xfrm>
            <a:off x="1343472" y="1124744"/>
            <a:ext cx="504056" cy="1440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latin typeface="Times" pitchFamily="2" charset="0"/>
              </a:rPr>
              <a:t>PGD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C7893D79-05E2-EA79-154E-9BEDA023A123}"/>
              </a:ext>
            </a:extLst>
          </p:cNvPr>
          <p:cNvSpPr/>
          <p:nvPr/>
        </p:nvSpPr>
        <p:spPr>
          <a:xfrm>
            <a:off x="2207568" y="1052736"/>
            <a:ext cx="504056" cy="7920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105A0E1-A413-921F-C119-7FFC75A4CB72}"/>
              </a:ext>
            </a:extLst>
          </p:cNvPr>
          <p:cNvSpPr/>
          <p:nvPr/>
        </p:nvSpPr>
        <p:spPr>
          <a:xfrm>
            <a:off x="3071664" y="1052736"/>
            <a:ext cx="504056" cy="7920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2ABA907-588D-BB75-2B3A-8428D44FF398}"/>
              </a:ext>
            </a:extLst>
          </p:cNvPr>
          <p:cNvSpPr/>
          <p:nvPr/>
        </p:nvSpPr>
        <p:spPr>
          <a:xfrm>
            <a:off x="3935760" y="1052736"/>
            <a:ext cx="504056" cy="7920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7D8558D-A15A-F13E-B6E3-DDC57052A3E8}"/>
              </a:ext>
            </a:extLst>
          </p:cNvPr>
          <p:cNvSpPr/>
          <p:nvPr/>
        </p:nvSpPr>
        <p:spPr>
          <a:xfrm>
            <a:off x="4799856" y="1038424"/>
            <a:ext cx="504056" cy="806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DCB6D75E-E6B3-CDAB-D9A1-2F8DB66C06B2}"/>
              </a:ext>
            </a:extLst>
          </p:cNvPr>
          <p:cNvSpPr/>
          <p:nvPr/>
        </p:nvSpPr>
        <p:spPr>
          <a:xfrm>
            <a:off x="4799856" y="1268760"/>
            <a:ext cx="504056" cy="1440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latin typeface="Times" pitchFamily="2" charset="0"/>
              </a:rPr>
              <a:t>PA</a:t>
            </a:r>
          </a:p>
        </p:txBody>
      </p:sp>
      <p:cxnSp>
        <p:nvCxnSpPr>
          <p:cNvPr id="38" name="Connector: Elbow 37">
            <a:extLst>
              <a:ext uri="{FF2B5EF4-FFF2-40B4-BE49-F238E27FC236}">
                <a16:creationId xmlns:a16="http://schemas.microsoft.com/office/drawing/2014/main" id="{EE826261-730B-4BF9-2DA6-9DF3FE5F35BB}"/>
              </a:ext>
            </a:extLst>
          </p:cNvPr>
          <p:cNvCxnSpPr>
            <a:cxnSpLocks/>
            <a:endCxn id="24" idx="1"/>
          </p:cNvCxnSpPr>
          <p:nvPr/>
        </p:nvCxnSpPr>
        <p:spPr>
          <a:xfrm rot="16200000" flipH="1">
            <a:off x="1127448" y="980728"/>
            <a:ext cx="288032" cy="14401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Rectangle 55">
            <a:extLst>
              <a:ext uri="{FF2B5EF4-FFF2-40B4-BE49-F238E27FC236}">
                <a16:creationId xmlns:a16="http://schemas.microsoft.com/office/drawing/2014/main" id="{484A03EB-65B7-4BCC-0439-108AB925D321}"/>
              </a:ext>
            </a:extLst>
          </p:cNvPr>
          <p:cNvSpPr/>
          <p:nvPr/>
        </p:nvSpPr>
        <p:spPr>
          <a:xfrm>
            <a:off x="2207568" y="1484784"/>
            <a:ext cx="504056" cy="1440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latin typeface="Times" pitchFamily="2" charset="0"/>
              </a:rPr>
              <a:t>PUD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36541BC8-6113-8DAC-6D5C-DDE673BD5A28}"/>
              </a:ext>
            </a:extLst>
          </p:cNvPr>
          <p:cNvSpPr/>
          <p:nvPr/>
        </p:nvSpPr>
        <p:spPr>
          <a:xfrm>
            <a:off x="3071664" y="1268760"/>
            <a:ext cx="504056" cy="1440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latin typeface="Times" pitchFamily="2" charset="0"/>
              </a:rPr>
              <a:t>PMD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F8C7CBE6-82AF-774C-2FE0-3B994D5D6121}"/>
              </a:ext>
            </a:extLst>
          </p:cNvPr>
          <p:cNvSpPr/>
          <p:nvPr/>
        </p:nvSpPr>
        <p:spPr>
          <a:xfrm>
            <a:off x="3935760" y="1628800"/>
            <a:ext cx="504056" cy="1440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latin typeface="Times" pitchFamily="2" charset="0"/>
              </a:rPr>
              <a:t>PTE</a:t>
            </a:r>
          </a:p>
        </p:txBody>
      </p:sp>
      <p:cxnSp>
        <p:nvCxnSpPr>
          <p:cNvPr id="69" name="Connector: Elbow 68">
            <a:extLst>
              <a:ext uri="{FF2B5EF4-FFF2-40B4-BE49-F238E27FC236}">
                <a16:creationId xmlns:a16="http://schemas.microsoft.com/office/drawing/2014/main" id="{77B06AE1-9623-5AF0-473A-9FE17D1E0FBC}"/>
              </a:ext>
            </a:extLst>
          </p:cNvPr>
          <p:cNvCxnSpPr>
            <a:cxnSpLocks/>
            <a:stCxn id="24" idx="3"/>
          </p:cNvCxnSpPr>
          <p:nvPr/>
        </p:nvCxnSpPr>
        <p:spPr>
          <a:xfrm>
            <a:off x="1847528" y="1196752"/>
            <a:ext cx="144016" cy="648072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Connector: Elbow 69">
            <a:extLst>
              <a:ext uri="{FF2B5EF4-FFF2-40B4-BE49-F238E27FC236}">
                <a16:creationId xmlns:a16="http://schemas.microsoft.com/office/drawing/2014/main" id="{ADD6CC0F-C442-BC31-160D-321B0E835DE1}"/>
              </a:ext>
            </a:extLst>
          </p:cNvPr>
          <p:cNvCxnSpPr>
            <a:cxnSpLocks/>
            <a:stCxn id="56" idx="3"/>
          </p:cNvCxnSpPr>
          <p:nvPr/>
        </p:nvCxnSpPr>
        <p:spPr>
          <a:xfrm>
            <a:off x="2711624" y="1556792"/>
            <a:ext cx="144016" cy="288032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3" name="Connector: Elbow 72">
            <a:extLst>
              <a:ext uri="{FF2B5EF4-FFF2-40B4-BE49-F238E27FC236}">
                <a16:creationId xmlns:a16="http://schemas.microsoft.com/office/drawing/2014/main" id="{6619308C-2317-B621-B95A-60DA7A54715C}"/>
              </a:ext>
            </a:extLst>
          </p:cNvPr>
          <p:cNvCxnSpPr>
            <a:cxnSpLocks/>
            <a:stCxn id="57" idx="3"/>
          </p:cNvCxnSpPr>
          <p:nvPr/>
        </p:nvCxnSpPr>
        <p:spPr>
          <a:xfrm>
            <a:off x="3575720" y="1340768"/>
            <a:ext cx="144016" cy="504056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Connector: Elbow 75">
            <a:extLst>
              <a:ext uri="{FF2B5EF4-FFF2-40B4-BE49-F238E27FC236}">
                <a16:creationId xmlns:a16="http://schemas.microsoft.com/office/drawing/2014/main" id="{F41837B0-44B3-9F29-34CA-6D1DB06D278F}"/>
              </a:ext>
            </a:extLst>
          </p:cNvPr>
          <p:cNvCxnSpPr>
            <a:cxnSpLocks/>
            <a:stCxn id="58" idx="3"/>
          </p:cNvCxnSpPr>
          <p:nvPr/>
        </p:nvCxnSpPr>
        <p:spPr>
          <a:xfrm>
            <a:off x="4439816" y="1700808"/>
            <a:ext cx="144016" cy="144016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AB939F75-B55F-09E5-B817-A9FA53DDB332}"/>
              </a:ext>
            </a:extLst>
          </p:cNvPr>
          <p:cNvCxnSpPr/>
          <p:nvPr/>
        </p:nvCxnSpPr>
        <p:spPr>
          <a:xfrm>
            <a:off x="1991544" y="1844824"/>
            <a:ext cx="2160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D059CD2E-7D11-E01B-D910-ECE20D7520C3}"/>
              </a:ext>
            </a:extLst>
          </p:cNvPr>
          <p:cNvCxnSpPr/>
          <p:nvPr/>
        </p:nvCxnSpPr>
        <p:spPr>
          <a:xfrm>
            <a:off x="2855640" y="1844824"/>
            <a:ext cx="2160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4ECD858E-E222-2786-DD0C-A506BBE8B096}"/>
              </a:ext>
            </a:extLst>
          </p:cNvPr>
          <p:cNvCxnSpPr/>
          <p:nvPr/>
        </p:nvCxnSpPr>
        <p:spPr>
          <a:xfrm>
            <a:off x="3719736" y="1844824"/>
            <a:ext cx="2160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636A38C1-D351-2E2B-DA44-09E2FE38A9F0}"/>
              </a:ext>
            </a:extLst>
          </p:cNvPr>
          <p:cNvCxnSpPr/>
          <p:nvPr/>
        </p:nvCxnSpPr>
        <p:spPr>
          <a:xfrm>
            <a:off x="4583832" y="1844824"/>
            <a:ext cx="2160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7A8453B8-B2ED-1D1C-015E-863AD2A56522}"/>
              </a:ext>
            </a:extLst>
          </p:cNvPr>
          <p:cNvCxnSpPr/>
          <p:nvPr/>
        </p:nvCxnSpPr>
        <p:spPr>
          <a:xfrm>
            <a:off x="1127448" y="1844824"/>
            <a:ext cx="2160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91B4B531-D11E-CC6F-CBF8-6C28ABDE8EE9}"/>
              </a:ext>
            </a:extLst>
          </p:cNvPr>
          <p:cNvSpPr/>
          <p:nvPr/>
        </p:nvSpPr>
        <p:spPr>
          <a:xfrm>
            <a:off x="479376" y="1340768"/>
            <a:ext cx="504056" cy="1440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latin typeface="Times" pitchFamily="2" charset="0"/>
              </a:rPr>
              <a:t>CR3</a:t>
            </a:r>
          </a:p>
        </p:txBody>
      </p:sp>
      <p:cxnSp>
        <p:nvCxnSpPr>
          <p:cNvPr id="90" name="Connector: Elbow 89">
            <a:extLst>
              <a:ext uri="{FF2B5EF4-FFF2-40B4-BE49-F238E27FC236}">
                <a16:creationId xmlns:a16="http://schemas.microsoft.com/office/drawing/2014/main" id="{C97FFB63-8E26-E0E2-F0C5-C0FC2C0F197F}"/>
              </a:ext>
            </a:extLst>
          </p:cNvPr>
          <p:cNvCxnSpPr>
            <a:cxnSpLocks/>
            <a:stCxn id="89" idx="3"/>
          </p:cNvCxnSpPr>
          <p:nvPr/>
        </p:nvCxnSpPr>
        <p:spPr>
          <a:xfrm>
            <a:off x="983432" y="1412776"/>
            <a:ext cx="144016" cy="432048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3" name="Connector: Elbow 92">
            <a:extLst>
              <a:ext uri="{FF2B5EF4-FFF2-40B4-BE49-F238E27FC236}">
                <a16:creationId xmlns:a16="http://schemas.microsoft.com/office/drawing/2014/main" id="{050BC6CC-74C2-CF4F-A36C-3C97642B2562}"/>
              </a:ext>
            </a:extLst>
          </p:cNvPr>
          <p:cNvCxnSpPr>
            <a:cxnSpLocks/>
            <a:endCxn id="56" idx="1"/>
          </p:cNvCxnSpPr>
          <p:nvPr/>
        </p:nvCxnSpPr>
        <p:spPr>
          <a:xfrm rot="16200000" flipH="1">
            <a:off x="1811524" y="1160748"/>
            <a:ext cx="648072" cy="14401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7" name="Connector: Elbow 96">
            <a:extLst>
              <a:ext uri="{FF2B5EF4-FFF2-40B4-BE49-F238E27FC236}">
                <a16:creationId xmlns:a16="http://schemas.microsoft.com/office/drawing/2014/main" id="{B0258AAE-B08C-3907-3346-A952B709F89F}"/>
              </a:ext>
            </a:extLst>
          </p:cNvPr>
          <p:cNvCxnSpPr>
            <a:cxnSpLocks/>
            <a:endCxn id="57" idx="1"/>
          </p:cNvCxnSpPr>
          <p:nvPr/>
        </p:nvCxnSpPr>
        <p:spPr>
          <a:xfrm rot="16200000" flipH="1">
            <a:off x="2783632" y="1052736"/>
            <a:ext cx="432048" cy="14401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9" name="Connector: Elbow 98">
            <a:extLst>
              <a:ext uri="{FF2B5EF4-FFF2-40B4-BE49-F238E27FC236}">
                <a16:creationId xmlns:a16="http://schemas.microsoft.com/office/drawing/2014/main" id="{8D27B205-B792-BCDC-E444-07171E9539AE}"/>
              </a:ext>
            </a:extLst>
          </p:cNvPr>
          <p:cNvCxnSpPr>
            <a:cxnSpLocks/>
            <a:endCxn id="58" idx="1"/>
          </p:cNvCxnSpPr>
          <p:nvPr/>
        </p:nvCxnSpPr>
        <p:spPr>
          <a:xfrm rot="16200000" flipH="1">
            <a:off x="3467708" y="1232756"/>
            <a:ext cx="792088" cy="14401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1" name="Connector: Elbow 100">
            <a:extLst>
              <a:ext uri="{FF2B5EF4-FFF2-40B4-BE49-F238E27FC236}">
                <a16:creationId xmlns:a16="http://schemas.microsoft.com/office/drawing/2014/main" id="{FBBA6205-E7CF-09E7-8952-F77E25B8E0E4}"/>
              </a:ext>
            </a:extLst>
          </p:cNvPr>
          <p:cNvCxnSpPr>
            <a:cxnSpLocks/>
            <a:endCxn id="34" idx="1"/>
          </p:cNvCxnSpPr>
          <p:nvPr/>
        </p:nvCxnSpPr>
        <p:spPr>
          <a:xfrm rot="16200000" flipH="1">
            <a:off x="4511824" y="1052736"/>
            <a:ext cx="432048" cy="14401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ED645A82-7D78-05C8-1188-3C4346E8268A}"/>
              </a:ext>
            </a:extLst>
          </p:cNvPr>
          <p:cNvSpPr txBox="1"/>
          <p:nvPr/>
        </p:nvSpPr>
        <p:spPr>
          <a:xfrm>
            <a:off x="1415480" y="1916832"/>
            <a:ext cx="36004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dirty="0">
                <a:latin typeface="Times" pitchFamily="2" charset="0"/>
              </a:rPr>
              <a:t>PGD</a:t>
            </a:r>
          </a:p>
          <a:p>
            <a:pPr algn="ctr"/>
            <a:r>
              <a:rPr lang="en-US" sz="1000" dirty="0">
                <a:latin typeface="Times" pitchFamily="2" charset="0"/>
              </a:rPr>
              <a:t>Table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C27175DC-60FA-6081-3F81-F233CC7CEF5F}"/>
              </a:ext>
            </a:extLst>
          </p:cNvPr>
          <p:cNvSpPr txBox="1"/>
          <p:nvPr/>
        </p:nvSpPr>
        <p:spPr>
          <a:xfrm>
            <a:off x="2279576" y="1916832"/>
            <a:ext cx="36004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dirty="0">
                <a:latin typeface="Times" pitchFamily="2" charset="0"/>
              </a:rPr>
              <a:t>PUD</a:t>
            </a:r>
          </a:p>
          <a:p>
            <a:pPr algn="ctr"/>
            <a:r>
              <a:rPr lang="en-US" sz="1000" dirty="0">
                <a:latin typeface="Times" pitchFamily="2" charset="0"/>
              </a:rPr>
              <a:t>Table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F92A380C-0AFE-BF81-0E51-7588B418D032}"/>
              </a:ext>
            </a:extLst>
          </p:cNvPr>
          <p:cNvSpPr txBox="1"/>
          <p:nvPr/>
        </p:nvSpPr>
        <p:spPr>
          <a:xfrm>
            <a:off x="3143672" y="1916832"/>
            <a:ext cx="36004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dirty="0">
                <a:latin typeface="Times" pitchFamily="2" charset="0"/>
              </a:rPr>
              <a:t>PMD</a:t>
            </a:r>
          </a:p>
          <a:p>
            <a:pPr algn="ctr"/>
            <a:r>
              <a:rPr lang="en-US" sz="1000" dirty="0">
                <a:latin typeface="Times" pitchFamily="2" charset="0"/>
              </a:rPr>
              <a:t>Table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F2604EFF-98C0-E4BD-74DE-8DC91465AF7C}"/>
              </a:ext>
            </a:extLst>
          </p:cNvPr>
          <p:cNvSpPr txBox="1"/>
          <p:nvPr/>
        </p:nvSpPr>
        <p:spPr>
          <a:xfrm>
            <a:off x="4007768" y="1916832"/>
            <a:ext cx="360040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dirty="0">
                <a:latin typeface="Times" pitchFamily="2" charset="0"/>
              </a:rPr>
              <a:t>PTE</a:t>
            </a:r>
          </a:p>
          <a:p>
            <a:pPr algn="ctr"/>
            <a:r>
              <a:rPr lang="en-US" sz="1000" dirty="0">
                <a:latin typeface="Times" pitchFamily="2" charset="0"/>
              </a:rPr>
              <a:t>Table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1C773098-D8DB-57C2-8AA7-CCF0F79E92BE}"/>
              </a:ext>
            </a:extLst>
          </p:cNvPr>
          <p:cNvSpPr txBox="1"/>
          <p:nvPr/>
        </p:nvSpPr>
        <p:spPr>
          <a:xfrm>
            <a:off x="4799856" y="1916832"/>
            <a:ext cx="50405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dirty="0">
                <a:latin typeface="Times" pitchFamily="2" charset="0"/>
              </a:rPr>
              <a:t>Physical</a:t>
            </a:r>
          </a:p>
          <a:p>
            <a:pPr algn="ctr"/>
            <a:r>
              <a:rPr lang="en-US" sz="1000" dirty="0">
                <a:latin typeface="Times" pitchFamily="2" charset="0"/>
              </a:rPr>
              <a:t>Page</a:t>
            </a:r>
          </a:p>
        </p:txBody>
      </p:sp>
      <p:sp>
        <p:nvSpPr>
          <p:cNvPr id="108" name="TextBox 107">
            <a:extLst>
              <a:ext uri="{FF2B5EF4-FFF2-40B4-BE49-F238E27FC236}">
                <a16:creationId xmlns:a16="http://schemas.microsoft.com/office/drawing/2014/main" id="{72DBA9BD-5C8C-2E27-EE00-476489E796F7}"/>
              </a:ext>
            </a:extLst>
          </p:cNvPr>
          <p:cNvSpPr txBox="1"/>
          <p:nvPr/>
        </p:nvSpPr>
        <p:spPr>
          <a:xfrm>
            <a:off x="2279576" y="188640"/>
            <a:ext cx="1008112" cy="1538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dirty="0">
                <a:latin typeface="Times" pitchFamily="2" charset="0"/>
              </a:rPr>
              <a:t>Virtual Address</a:t>
            </a:r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84DFD6B9-93D8-70CD-C6C3-F1DDBE2FBF7F}"/>
              </a:ext>
            </a:extLst>
          </p:cNvPr>
          <p:cNvSpPr/>
          <p:nvPr/>
        </p:nvSpPr>
        <p:spPr>
          <a:xfrm>
            <a:off x="6600056" y="1340768"/>
            <a:ext cx="504056" cy="7920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Oval 132">
            <a:extLst>
              <a:ext uri="{FF2B5EF4-FFF2-40B4-BE49-F238E27FC236}">
                <a16:creationId xmlns:a16="http://schemas.microsoft.com/office/drawing/2014/main" id="{12DB63A5-4571-DECF-E070-F58546B8E8C5}"/>
              </a:ext>
            </a:extLst>
          </p:cNvPr>
          <p:cNvSpPr/>
          <p:nvPr/>
        </p:nvSpPr>
        <p:spPr>
          <a:xfrm>
            <a:off x="6240016" y="980728"/>
            <a:ext cx="432048" cy="21602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latin typeface="Times" pitchFamily="2" charset="0"/>
              </a:rPr>
              <a:t>Hash</a:t>
            </a:r>
            <a:r>
              <a:rPr lang="en-US" sz="1000" baseline="-25000" dirty="0">
                <a:latin typeface="Times" pitchFamily="2" charset="0"/>
              </a:rPr>
              <a:t>1</a:t>
            </a:r>
            <a:endParaRPr lang="en-US" sz="1000" dirty="0">
              <a:latin typeface="Times" pitchFamily="2" charset="0"/>
            </a:endParaRPr>
          </a:p>
        </p:txBody>
      </p:sp>
      <p:sp>
        <p:nvSpPr>
          <p:cNvPr id="134" name="Oval 133">
            <a:extLst>
              <a:ext uri="{FF2B5EF4-FFF2-40B4-BE49-F238E27FC236}">
                <a16:creationId xmlns:a16="http://schemas.microsoft.com/office/drawing/2014/main" id="{CD5CE8E7-E15A-1CE0-B2FC-C5913007BD9D}"/>
              </a:ext>
            </a:extLst>
          </p:cNvPr>
          <p:cNvSpPr/>
          <p:nvPr/>
        </p:nvSpPr>
        <p:spPr>
          <a:xfrm>
            <a:off x="7032104" y="980728"/>
            <a:ext cx="432048" cy="21602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latin typeface="Times" pitchFamily="2" charset="0"/>
              </a:rPr>
              <a:t>Hash</a:t>
            </a:r>
            <a:r>
              <a:rPr lang="en-US" sz="1000" baseline="-25000" dirty="0">
                <a:latin typeface="Times" pitchFamily="2" charset="0"/>
              </a:rPr>
              <a:t>2</a:t>
            </a:r>
            <a:endParaRPr lang="en-US" sz="1000" dirty="0">
              <a:latin typeface="Times" pitchFamily="2" charset="0"/>
            </a:endParaRP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2B22C426-9CDC-CCF8-BAF3-B50B65CD5770}"/>
              </a:ext>
            </a:extLst>
          </p:cNvPr>
          <p:cNvSpPr/>
          <p:nvPr/>
        </p:nvSpPr>
        <p:spPr>
          <a:xfrm>
            <a:off x="7392144" y="1340768"/>
            <a:ext cx="504056" cy="7920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4" name="Connector: Elbow 143">
            <a:extLst>
              <a:ext uri="{FF2B5EF4-FFF2-40B4-BE49-F238E27FC236}">
                <a16:creationId xmlns:a16="http://schemas.microsoft.com/office/drawing/2014/main" id="{C91B8383-E091-389D-6BCD-E176A503967D}"/>
              </a:ext>
            </a:extLst>
          </p:cNvPr>
          <p:cNvCxnSpPr>
            <a:cxnSpLocks/>
            <a:stCxn id="133" idx="4"/>
            <a:endCxn id="184" idx="1"/>
          </p:cNvCxnSpPr>
          <p:nvPr/>
        </p:nvCxnSpPr>
        <p:spPr>
          <a:xfrm rot="16200000" flipH="1">
            <a:off x="6204012" y="1448780"/>
            <a:ext cx="648072" cy="14401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5" name="Connector: Elbow 144">
            <a:extLst>
              <a:ext uri="{FF2B5EF4-FFF2-40B4-BE49-F238E27FC236}">
                <a16:creationId xmlns:a16="http://schemas.microsoft.com/office/drawing/2014/main" id="{434ACA3F-C0F1-239A-49D6-631F3DF4055E}"/>
              </a:ext>
            </a:extLst>
          </p:cNvPr>
          <p:cNvCxnSpPr>
            <a:cxnSpLocks/>
            <a:stCxn id="134" idx="4"/>
            <a:endCxn id="185" idx="1"/>
          </p:cNvCxnSpPr>
          <p:nvPr/>
        </p:nvCxnSpPr>
        <p:spPr>
          <a:xfrm rot="16200000" flipH="1">
            <a:off x="7104112" y="1340768"/>
            <a:ext cx="432048" cy="14401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720DEA72-42A3-7615-1CFD-AD54915FECF8}"/>
              </a:ext>
            </a:extLst>
          </p:cNvPr>
          <p:cNvCxnSpPr>
            <a:endCxn id="133" idx="0"/>
          </p:cNvCxnSpPr>
          <p:nvPr/>
        </p:nvCxnSpPr>
        <p:spPr>
          <a:xfrm flipH="1">
            <a:off x="6456040" y="764704"/>
            <a:ext cx="432048" cy="216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05D69BAA-2DD0-51D9-5AF1-05B43C6CAFC1}"/>
              </a:ext>
            </a:extLst>
          </p:cNvPr>
          <p:cNvCxnSpPr>
            <a:cxnSpLocks/>
            <a:endCxn id="134" idx="0"/>
          </p:cNvCxnSpPr>
          <p:nvPr/>
        </p:nvCxnSpPr>
        <p:spPr>
          <a:xfrm>
            <a:off x="6888088" y="764704"/>
            <a:ext cx="360040" cy="216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4" name="TextBox 153">
            <a:extLst>
              <a:ext uri="{FF2B5EF4-FFF2-40B4-BE49-F238E27FC236}">
                <a16:creationId xmlns:a16="http://schemas.microsoft.com/office/drawing/2014/main" id="{52DAFBB8-5744-EF4C-64AA-8B5F694A442F}"/>
              </a:ext>
            </a:extLst>
          </p:cNvPr>
          <p:cNvSpPr txBox="1"/>
          <p:nvPr/>
        </p:nvSpPr>
        <p:spPr>
          <a:xfrm>
            <a:off x="6384032" y="476672"/>
            <a:ext cx="100811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dirty="0">
                <a:latin typeface="Times" pitchFamily="2" charset="0"/>
              </a:rPr>
              <a:t>PUD VPN Tag</a:t>
            </a:r>
          </a:p>
          <a:p>
            <a:pPr algn="ctr"/>
            <a:r>
              <a:rPr lang="en-US" sz="1000" dirty="0">
                <a:latin typeface="Times" pitchFamily="2" charset="0"/>
              </a:rPr>
              <a:t>VA[47:30]</a:t>
            </a:r>
          </a:p>
        </p:txBody>
      </p:sp>
      <p:sp>
        <p:nvSpPr>
          <p:cNvPr id="155" name="Rectangle 154">
            <a:extLst>
              <a:ext uri="{FF2B5EF4-FFF2-40B4-BE49-F238E27FC236}">
                <a16:creationId xmlns:a16="http://schemas.microsoft.com/office/drawing/2014/main" id="{0137A1AD-1B7D-8427-90A0-D3B3CCD9D628}"/>
              </a:ext>
            </a:extLst>
          </p:cNvPr>
          <p:cNvSpPr/>
          <p:nvPr/>
        </p:nvSpPr>
        <p:spPr>
          <a:xfrm>
            <a:off x="8184232" y="1340768"/>
            <a:ext cx="504056" cy="7920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Oval 155">
            <a:extLst>
              <a:ext uri="{FF2B5EF4-FFF2-40B4-BE49-F238E27FC236}">
                <a16:creationId xmlns:a16="http://schemas.microsoft.com/office/drawing/2014/main" id="{91C329F4-481B-C1E4-6345-2839B40C6588}"/>
              </a:ext>
            </a:extLst>
          </p:cNvPr>
          <p:cNvSpPr/>
          <p:nvPr/>
        </p:nvSpPr>
        <p:spPr>
          <a:xfrm>
            <a:off x="7824192" y="980728"/>
            <a:ext cx="432048" cy="21602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latin typeface="Times" pitchFamily="2" charset="0"/>
              </a:rPr>
              <a:t>Hash</a:t>
            </a:r>
            <a:r>
              <a:rPr lang="en-US" sz="1000" baseline="-25000" dirty="0">
                <a:latin typeface="Times" pitchFamily="2" charset="0"/>
              </a:rPr>
              <a:t>1</a:t>
            </a:r>
            <a:endParaRPr lang="en-US" sz="1000" dirty="0">
              <a:latin typeface="Times" pitchFamily="2" charset="0"/>
            </a:endParaRPr>
          </a:p>
        </p:txBody>
      </p:sp>
      <p:sp>
        <p:nvSpPr>
          <p:cNvPr id="157" name="Oval 156">
            <a:extLst>
              <a:ext uri="{FF2B5EF4-FFF2-40B4-BE49-F238E27FC236}">
                <a16:creationId xmlns:a16="http://schemas.microsoft.com/office/drawing/2014/main" id="{A12EAA8D-41F7-95D2-3DA2-870D81D252AF}"/>
              </a:ext>
            </a:extLst>
          </p:cNvPr>
          <p:cNvSpPr/>
          <p:nvPr/>
        </p:nvSpPr>
        <p:spPr>
          <a:xfrm>
            <a:off x="8616280" y="980728"/>
            <a:ext cx="432048" cy="21602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latin typeface="Times" pitchFamily="2" charset="0"/>
              </a:rPr>
              <a:t>Hash</a:t>
            </a:r>
            <a:r>
              <a:rPr lang="en-US" sz="1000" baseline="-25000" dirty="0">
                <a:latin typeface="Times" pitchFamily="2" charset="0"/>
              </a:rPr>
              <a:t>2</a:t>
            </a:r>
            <a:endParaRPr lang="en-US" sz="1000" dirty="0">
              <a:latin typeface="Times" pitchFamily="2" charset="0"/>
            </a:endParaRPr>
          </a:p>
        </p:txBody>
      </p:sp>
      <p:sp>
        <p:nvSpPr>
          <p:cNvPr id="159" name="Rectangle 158">
            <a:extLst>
              <a:ext uri="{FF2B5EF4-FFF2-40B4-BE49-F238E27FC236}">
                <a16:creationId xmlns:a16="http://schemas.microsoft.com/office/drawing/2014/main" id="{D5EC83E9-E91B-1EFC-1F84-2E6CB216F78D}"/>
              </a:ext>
            </a:extLst>
          </p:cNvPr>
          <p:cNvSpPr/>
          <p:nvPr/>
        </p:nvSpPr>
        <p:spPr>
          <a:xfrm>
            <a:off x="8976320" y="1340768"/>
            <a:ext cx="504056" cy="7920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0" name="Rectangle 159">
            <a:extLst>
              <a:ext uri="{FF2B5EF4-FFF2-40B4-BE49-F238E27FC236}">
                <a16:creationId xmlns:a16="http://schemas.microsoft.com/office/drawing/2014/main" id="{F692CD80-1229-E5E2-5648-1E02E454EAAB}"/>
              </a:ext>
            </a:extLst>
          </p:cNvPr>
          <p:cNvSpPr/>
          <p:nvPr/>
        </p:nvSpPr>
        <p:spPr>
          <a:xfrm>
            <a:off x="8976320" y="1556792"/>
            <a:ext cx="504056" cy="1440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dirty="0">
                <a:latin typeface="Times" pitchFamily="2" charset="0"/>
              </a:rPr>
              <a:t>Miss</a:t>
            </a:r>
          </a:p>
        </p:txBody>
      </p:sp>
      <p:cxnSp>
        <p:nvCxnSpPr>
          <p:cNvPr id="161" name="Connector: Elbow 160">
            <a:extLst>
              <a:ext uri="{FF2B5EF4-FFF2-40B4-BE49-F238E27FC236}">
                <a16:creationId xmlns:a16="http://schemas.microsoft.com/office/drawing/2014/main" id="{24C9EEEC-DF8E-A5D7-075C-BBDFAFF052D9}"/>
              </a:ext>
            </a:extLst>
          </p:cNvPr>
          <p:cNvCxnSpPr>
            <a:cxnSpLocks/>
            <a:stCxn id="156" idx="4"/>
          </p:cNvCxnSpPr>
          <p:nvPr/>
        </p:nvCxnSpPr>
        <p:spPr>
          <a:xfrm rot="16200000" flipH="1">
            <a:off x="7810500" y="1426468"/>
            <a:ext cx="603448" cy="14401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2" name="Connector: Elbow 161">
            <a:extLst>
              <a:ext uri="{FF2B5EF4-FFF2-40B4-BE49-F238E27FC236}">
                <a16:creationId xmlns:a16="http://schemas.microsoft.com/office/drawing/2014/main" id="{A7F4723F-E234-FFBD-4366-69527B29C7A5}"/>
              </a:ext>
            </a:extLst>
          </p:cNvPr>
          <p:cNvCxnSpPr>
            <a:cxnSpLocks/>
            <a:stCxn id="157" idx="4"/>
            <a:endCxn id="160" idx="1"/>
          </p:cNvCxnSpPr>
          <p:nvPr/>
        </p:nvCxnSpPr>
        <p:spPr>
          <a:xfrm rot="16200000" flipH="1">
            <a:off x="8688288" y="1340768"/>
            <a:ext cx="432048" cy="14401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3" name="Straight Arrow Connector 162">
            <a:extLst>
              <a:ext uri="{FF2B5EF4-FFF2-40B4-BE49-F238E27FC236}">
                <a16:creationId xmlns:a16="http://schemas.microsoft.com/office/drawing/2014/main" id="{FCCC199B-6ABF-96A2-5B64-A72FD2037191}"/>
              </a:ext>
            </a:extLst>
          </p:cNvPr>
          <p:cNvCxnSpPr>
            <a:endCxn id="156" idx="0"/>
          </p:cNvCxnSpPr>
          <p:nvPr/>
        </p:nvCxnSpPr>
        <p:spPr>
          <a:xfrm flipH="1">
            <a:off x="8040216" y="764704"/>
            <a:ext cx="432048" cy="216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8889C4DF-2477-B20A-A0A7-297F05E34815}"/>
              </a:ext>
            </a:extLst>
          </p:cNvPr>
          <p:cNvCxnSpPr>
            <a:cxnSpLocks/>
            <a:endCxn id="157" idx="0"/>
          </p:cNvCxnSpPr>
          <p:nvPr/>
        </p:nvCxnSpPr>
        <p:spPr>
          <a:xfrm>
            <a:off x="8472264" y="764704"/>
            <a:ext cx="360040" cy="216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5" name="TextBox 164">
            <a:extLst>
              <a:ext uri="{FF2B5EF4-FFF2-40B4-BE49-F238E27FC236}">
                <a16:creationId xmlns:a16="http://schemas.microsoft.com/office/drawing/2014/main" id="{1235E94F-09B1-826B-3574-7ABF074C73CE}"/>
              </a:ext>
            </a:extLst>
          </p:cNvPr>
          <p:cNvSpPr txBox="1"/>
          <p:nvPr/>
        </p:nvSpPr>
        <p:spPr>
          <a:xfrm>
            <a:off x="7968208" y="476672"/>
            <a:ext cx="100811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dirty="0">
                <a:latin typeface="Times" pitchFamily="2" charset="0"/>
              </a:rPr>
              <a:t>PMD VPN Tag</a:t>
            </a:r>
          </a:p>
          <a:p>
            <a:pPr algn="ctr"/>
            <a:r>
              <a:rPr lang="en-US" sz="1000" dirty="0">
                <a:latin typeface="Times" pitchFamily="2" charset="0"/>
              </a:rPr>
              <a:t>VA[47:21]</a:t>
            </a: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1B61BBD1-8468-091C-F9BE-DEEDDD3EE763}"/>
              </a:ext>
            </a:extLst>
          </p:cNvPr>
          <p:cNvSpPr/>
          <p:nvPr/>
        </p:nvSpPr>
        <p:spPr>
          <a:xfrm>
            <a:off x="9768408" y="1340768"/>
            <a:ext cx="504056" cy="7920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Oval 166">
            <a:extLst>
              <a:ext uri="{FF2B5EF4-FFF2-40B4-BE49-F238E27FC236}">
                <a16:creationId xmlns:a16="http://schemas.microsoft.com/office/drawing/2014/main" id="{FDF13E04-6B20-9860-616C-B4835E48CC50}"/>
              </a:ext>
            </a:extLst>
          </p:cNvPr>
          <p:cNvSpPr/>
          <p:nvPr/>
        </p:nvSpPr>
        <p:spPr>
          <a:xfrm>
            <a:off x="9408368" y="980728"/>
            <a:ext cx="432048" cy="21602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latin typeface="Times" pitchFamily="2" charset="0"/>
              </a:rPr>
              <a:t>Hash</a:t>
            </a:r>
            <a:r>
              <a:rPr lang="en-US" sz="1000" baseline="-25000" dirty="0">
                <a:latin typeface="Times" pitchFamily="2" charset="0"/>
              </a:rPr>
              <a:t>1</a:t>
            </a:r>
            <a:endParaRPr lang="en-US" sz="1000" dirty="0">
              <a:latin typeface="Times" pitchFamily="2" charset="0"/>
            </a:endParaRPr>
          </a:p>
        </p:txBody>
      </p:sp>
      <p:sp>
        <p:nvSpPr>
          <p:cNvPr id="168" name="Oval 167">
            <a:extLst>
              <a:ext uri="{FF2B5EF4-FFF2-40B4-BE49-F238E27FC236}">
                <a16:creationId xmlns:a16="http://schemas.microsoft.com/office/drawing/2014/main" id="{D3E179C5-6D85-DB6A-B0A0-CC2153FEA369}"/>
              </a:ext>
            </a:extLst>
          </p:cNvPr>
          <p:cNvSpPr/>
          <p:nvPr/>
        </p:nvSpPr>
        <p:spPr>
          <a:xfrm>
            <a:off x="10200456" y="980728"/>
            <a:ext cx="432048" cy="216024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1000" dirty="0">
                <a:latin typeface="Times" pitchFamily="2" charset="0"/>
              </a:rPr>
              <a:t>Hash</a:t>
            </a:r>
            <a:r>
              <a:rPr lang="en-US" sz="1000" baseline="-25000" dirty="0">
                <a:latin typeface="Times" pitchFamily="2" charset="0"/>
              </a:rPr>
              <a:t>2</a:t>
            </a:r>
            <a:endParaRPr lang="en-US" sz="1000" dirty="0">
              <a:latin typeface="Times" pitchFamily="2" charset="0"/>
            </a:endParaRPr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8CE3D76E-DC12-3BD3-EB42-C12D0199B2C0}"/>
              </a:ext>
            </a:extLst>
          </p:cNvPr>
          <p:cNvSpPr/>
          <p:nvPr/>
        </p:nvSpPr>
        <p:spPr>
          <a:xfrm>
            <a:off x="10560496" y="1340768"/>
            <a:ext cx="504056" cy="79208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2" name="Connector: Elbow 171">
            <a:extLst>
              <a:ext uri="{FF2B5EF4-FFF2-40B4-BE49-F238E27FC236}">
                <a16:creationId xmlns:a16="http://schemas.microsoft.com/office/drawing/2014/main" id="{9CED452F-AC55-9016-B79E-D18D0D5952C5}"/>
              </a:ext>
            </a:extLst>
          </p:cNvPr>
          <p:cNvCxnSpPr>
            <a:cxnSpLocks/>
            <a:stCxn id="167" idx="4"/>
            <a:endCxn id="181" idx="1"/>
          </p:cNvCxnSpPr>
          <p:nvPr/>
        </p:nvCxnSpPr>
        <p:spPr>
          <a:xfrm rot="16200000" flipH="1">
            <a:off x="9372364" y="1448780"/>
            <a:ext cx="648072" cy="14401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3" name="Connector: Elbow 172">
            <a:extLst>
              <a:ext uri="{FF2B5EF4-FFF2-40B4-BE49-F238E27FC236}">
                <a16:creationId xmlns:a16="http://schemas.microsoft.com/office/drawing/2014/main" id="{599FE88C-A0BE-ED88-A549-00CB20A5F655}"/>
              </a:ext>
            </a:extLst>
          </p:cNvPr>
          <p:cNvCxnSpPr>
            <a:cxnSpLocks/>
            <a:stCxn id="168" idx="4"/>
            <a:endCxn id="182" idx="1"/>
          </p:cNvCxnSpPr>
          <p:nvPr/>
        </p:nvCxnSpPr>
        <p:spPr>
          <a:xfrm rot="16200000" flipH="1">
            <a:off x="10272464" y="1340768"/>
            <a:ext cx="432048" cy="14401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6E9B6105-AFE0-5E9F-CAFD-A0B18F20DC19}"/>
              </a:ext>
            </a:extLst>
          </p:cNvPr>
          <p:cNvCxnSpPr>
            <a:endCxn id="167" idx="0"/>
          </p:cNvCxnSpPr>
          <p:nvPr/>
        </p:nvCxnSpPr>
        <p:spPr>
          <a:xfrm flipH="1">
            <a:off x="9624392" y="764704"/>
            <a:ext cx="432048" cy="216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5E95D4A1-4180-4569-BA3F-F4AFCA29D2C4}"/>
              </a:ext>
            </a:extLst>
          </p:cNvPr>
          <p:cNvCxnSpPr>
            <a:cxnSpLocks/>
            <a:endCxn id="168" idx="0"/>
          </p:cNvCxnSpPr>
          <p:nvPr/>
        </p:nvCxnSpPr>
        <p:spPr>
          <a:xfrm>
            <a:off x="10056440" y="764704"/>
            <a:ext cx="360040" cy="2160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6" name="TextBox 175">
            <a:extLst>
              <a:ext uri="{FF2B5EF4-FFF2-40B4-BE49-F238E27FC236}">
                <a16:creationId xmlns:a16="http://schemas.microsoft.com/office/drawing/2014/main" id="{228356C4-1BF4-4EE6-772B-17270F9BC405}"/>
              </a:ext>
            </a:extLst>
          </p:cNvPr>
          <p:cNvSpPr txBox="1"/>
          <p:nvPr/>
        </p:nvSpPr>
        <p:spPr>
          <a:xfrm>
            <a:off x="9552384" y="476672"/>
            <a:ext cx="1008112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dirty="0">
                <a:latin typeface="Times" pitchFamily="2" charset="0"/>
              </a:rPr>
              <a:t>PTE VPN Tag</a:t>
            </a:r>
          </a:p>
          <a:p>
            <a:pPr algn="ctr"/>
            <a:r>
              <a:rPr lang="en-US" sz="1000" dirty="0">
                <a:latin typeface="Times" pitchFamily="2" charset="0"/>
              </a:rPr>
              <a:t>VA[47:12]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2A82A04F-300B-888F-3A39-A476E0C60B3C}"/>
              </a:ext>
            </a:extLst>
          </p:cNvPr>
          <p:cNvSpPr txBox="1"/>
          <p:nvPr/>
        </p:nvSpPr>
        <p:spPr>
          <a:xfrm>
            <a:off x="6600056" y="2204864"/>
            <a:ext cx="1296144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dirty="0">
                <a:latin typeface="Times" pitchFamily="2" charset="0"/>
              </a:rPr>
              <a:t>Way 1              Way 2</a:t>
            </a:r>
          </a:p>
          <a:p>
            <a:pPr algn="ctr"/>
            <a:r>
              <a:rPr lang="en-US" sz="1000" dirty="0">
                <a:latin typeface="Times" pitchFamily="2" charset="0"/>
              </a:rPr>
              <a:t>PUD (1</a:t>
            </a:r>
            <a:r>
              <a:rPr lang="en-US" altLang="zh-CN" sz="1000" dirty="0">
                <a:latin typeface="Times" pitchFamily="2" charset="0"/>
              </a:rPr>
              <a:t>G</a:t>
            </a:r>
            <a:r>
              <a:rPr lang="en-US" sz="1000" dirty="0">
                <a:latin typeface="Times" pitchFamily="2" charset="0"/>
              </a:rPr>
              <a:t>B)</a:t>
            </a:r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B47B30B2-63F4-6D98-2C55-284AA6F6EED7}"/>
              </a:ext>
            </a:extLst>
          </p:cNvPr>
          <p:cNvSpPr txBox="1"/>
          <p:nvPr/>
        </p:nvSpPr>
        <p:spPr>
          <a:xfrm>
            <a:off x="8184232" y="2204864"/>
            <a:ext cx="1296144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dirty="0">
                <a:latin typeface="Times" pitchFamily="2" charset="0"/>
              </a:rPr>
              <a:t>Way 1              Way 2</a:t>
            </a:r>
          </a:p>
          <a:p>
            <a:pPr algn="ctr"/>
            <a:r>
              <a:rPr lang="en-US" sz="1000" dirty="0">
                <a:latin typeface="Times" pitchFamily="2" charset="0"/>
              </a:rPr>
              <a:t>PMD (2MB)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D1284AA4-CFA0-021D-09FB-3D972EFE8B38}"/>
              </a:ext>
            </a:extLst>
          </p:cNvPr>
          <p:cNvSpPr txBox="1"/>
          <p:nvPr/>
        </p:nvSpPr>
        <p:spPr>
          <a:xfrm>
            <a:off x="9768408" y="2204864"/>
            <a:ext cx="1296144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dirty="0">
                <a:latin typeface="Times" pitchFamily="2" charset="0"/>
              </a:rPr>
              <a:t>Way 1              Way 2</a:t>
            </a:r>
          </a:p>
          <a:p>
            <a:pPr algn="ctr"/>
            <a:r>
              <a:rPr lang="en-US" sz="1000" dirty="0">
                <a:latin typeface="Times" pitchFamily="2" charset="0"/>
              </a:rPr>
              <a:t>PTE (4KB)</a:t>
            </a: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0FE6EF4D-41A3-6713-841B-E5021EC82AFC}"/>
              </a:ext>
            </a:extLst>
          </p:cNvPr>
          <p:cNvSpPr/>
          <p:nvPr/>
        </p:nvSpPr>
        <p:spPr>
          <a:xfrm>
            <a:off x="9768408" y="1772816"/>
            <a:ext cx="504056" cy="1440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dirty="0">
                <a:latin typeface="Times" pitchFamily="2" charset="0"/>
              </a:rPr>
              <a:t>Miss</a:t>
            </a:r>
          </a:p>
        </p:txBody>
      </p:sp>
      <p:sp>
        <p:nvSpPr>
          <p:cNvPr id="182" name="Rectangle 181">
            <a:extLst>
              <a:ext uri="{FF2B5EF4-FFF2-40B4-BE49-F238E27FC236}">
                <a16:creationId xmlns:a16="http://schemas.microsoft.com/office/drawing/2014/main" id="{A101DA9D-B25B-6D37-1744-1FDDB461EE0B}"/>
              </a:ext>
            </a:extLst>
          </p:cNvPr>
          <p:cNvSpPr/>
          <p:nvPr/>
        </p:nvSpPr>
        <p:spPr>
          <a:xfrm>
            <a:off x="10560496" y="1556792"/>
            <a:ext cx="504056" cy="1440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dirty="0">
                <a:latin typeface="Times" pitchFamily="2" charset="0"/>
              </a:rPr>
              <a:t>Hit</a:t>
            </a:r>
          </a:p>
        </p:txBody>
      </p:sp>
      <p:sp>
        <p:nvSpPr>
          <p:cNvPr id="184" name="Rectangle 183">
            <a:extLst>
              <a:ext uri="{FF2B5EF4-FFF2-40B4-BE49-F238E27FC236}">
                <a16:creationId xmlns:a16="http://schemas.microsoft.com/office/drawing/2014/main" id="{9F7FE4BB-668F-13FE-EAA0-F015F3DB4860}"/>
              </a:ext>
            </a:extLst>
          </p:cNvPr>
          <p:cNvSpPr/>
          <p:nvPr/>
        </p:nvSpPr>
        <p:spPr>
          <a:xfrm>
            <a:off x="6600056" y="1772816"/>
            <a:ext cx="504056" cy="1440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dirty="0">
                <a:latin typeface="Times" pitchFamily="2" charset="0"/>
              </a:rPr>
              <a:t>Miss</a:t>
            </a:r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CB77FFF9-AA8E-0CD9-C250-86155F02A6AA}"/>
              </a:ext>
            </a:extLst>
          </p:cNvPr>
          <p:cNvSpPr/>
          <p:nvPr/>
        </p:nvSpPr>
        <p:spPr>
          <a:xfrm>
            <a:off x="7392144" y="1556792"/>
            <a:ext cx="504056" cy="1440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dirty="0">
                <a:latin typeface="Times" pitchFamily="2" charset="0"/>
              </a:rPr>
              <a:t>Miss</a:t>
            </a:r>
          </a:p>
        </p:txBody>
      </p:sp>
      <p:sp>
        <p:nvSpPr>
          <p:cNvPr id="193" name="Rectangle 192">
            <a:extLst>
              <a:ext uri="{FF2B5EF4-FFF2-40B4-BE49-F238E27FC236}">
                <a16:creationId xmlns:a16="http://schemas.microsoft.com/office/drawing/2014/main" id="{92358BF3-5198-0741-5EC6-0D43A3176CA9}"/>
              </a:ext>
            </a:extLst>
          </p:cNvPr>
          <p:cNvSpPr/>
          <p:nvPr/>
        </p:nvSpPr>
        <p:spPr>
          <a:xfrm>
            <a:off x="8184232" y="1772816"/>
            <a:ext cx="504056" cy="1440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sz="1100" dirty="0">
                <a:latin typeface="Times" pitchFamily="2" charset="0"/>
              </a:rPr>
              <a:t>Miss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FB3EB7A-41E7-FC01-4273-6547512A8F76}"/>
              </a:ext>
            </a:extLst>
          </p:cNvPr>
          <p:cNvSpPr/>
          <p:nvPr/>
        </p:nvSpPr>
        <p:spPr>
          <a:xfrm>
            <a:off x="11424592" y="1340768"/>
            <a:ext cx="504056" cy="8064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3FA339FD-CFFA-88DE-2520-226E3E086735}"/>
              </a:ext>
            </a:extLst>
          </p:cNvPr>
          <p:cNvSpPr/>
          <p:nvPr/>
        </p:nvSpPr>
        <p:spPr>
          <a:xfrm>
            <a:off x="11424592" y="1628800"/>
            <a:ext cx="504056" cy="1440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latin typeface="Times" pitchFamily="2" charset="0"/>
              </a:rPr>
              <a:t>PA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7B19F42-B23B-4A6D-494C-340C91A89775}"/>
              </a:ext>
            </a:extLst>
          </p:cNvPr>
          <p:cNvSpPr txBox="1"/>
          <p:nvPr/>
        </p:nvSpPr>
        <p:spPr>
          <a:xfrm>
            <a:off x="11424592" y="2204864"/>
            <a:ext cx="504056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dirty="0">
                <a:latin typeface="Times" pitchFamily="2" charset="0"/>
              </a:rPr>
              <a:t>Physical</a:t>
            </a:r>
          </a:p>
          <a:p>
            <a:pPr algn="ctr"/>
            <a:r>
              <a:rPr lang="en-US" sz="1000" dirty="0">
                <a:latin typeface="Times" pitchFamily="2" charset="0"/>
              </a:rPr>
              <a:t>Page</a:t>
            </a:r>
          </a:p>
        </p:txBody>
      </p:sp>
      <p:cxnSp>
        <p:nvCxnSpPr>
          <p:cNvPr id="39" name="Connector: Elbow 38">
            <a:extLst>
              <a:ext uri="{FF2B5EF4-FFF2-40B4-BE49-F238E27FC236}">
                <a16:creationId xmlns:a16="http://schemas.microsoft.com/office/drawing/2014/main" id="{94054B33-AEB4-ABD7-7537-D8BFBD6254F8}"/>
              </a:ext>
            </a:extLst>
          </p:cNvPr>
          <p:cNvCxnSpPr>
            <a:cxnSpLocks/>
            <a:stCxn id="182" idx="3"/>
          </p:cNvCxnSpPr>
          <p:nvPr/>
        </p:nvCxnSpPr>
        <p:spPr>
          <a:xfrm>
            <a:off x="11064552" y="1628800"/>
            <a:ext cx="144016" cy="504056"/>
          </a:xfrm>
          <a:prstGeom prst="bentConnector2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CC89B1D-5E39-8026-1B71-761FC5AFE938}"/>
              </a:ext>
            </a:extLst>
          </p:cNvPr>
          <p:cNvCxnSpPr>
            <a:cxnSpLocks/>
          </p:cNvCxnSpPr>
          <p:nvPr/>
        </p:nvCxnSpPr>
        <p:spPr>
          <a:xfrm>
            <a:off x="11208568" y="2132856"/>
            <a:ext cx="2160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4DAE76DA-DAC7-2D29-ACA3-07B48D552FBA}"/>
              </a:ext>
            </a:extLst>
          </p:cNvPr>
          <p:cNvSpPr txBox="1"/>
          <p:nvPr/>
        </p:nvSpPr>
        <p:spPr>
          <a:xfrm>
            <a:off x="10704512" y="476672"/>
            <a:ext cx="1152128" cy="46166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000" dirty="0">
                <a:latin typeface="Times" pitchFamily="2" charset="0"/>
              </a:rPr>
              <a:t>Page Offset</a:t>
            </a:r>
          </a:p>
          <a:p>
            <a:pPr algn="ctr"/>
            <a:r>
              <a:rPr lang="en-US" sz="1000" dirty="0">
                <a:latin typeface="Times" pitchFamily="2" charset="0"/>
              </a:rPr>
              <a:t>VA[12:0]</a:t>
            </a:r>
          </a:p>
          <a:p>
            <a:pPr algn="ctr"/>
            <a:r>
              <a:rPr lang="en-US" sz="1000" dirty="0">
                <a:latin typeface="Times" pitchFamily="2" charset="0"/>
              </a:rPr>
              <a:t>(Page size dependent)</a:t>
            </a:r>
          </a:p>
        </p:txBody>
      </p:sp>
      <p:cxnSp>
        <p:nvCxnSpPr>
          <p:cNvPr id="46" name="Connector: Elbow 45">
            <a:extLst>
              <a:ext uri="{FF2B5EF4-FFF2-40B4-BE49-F238E27FC236}">
                <a16:creationId xmlns:a16="http://schemas.microsoft.com/office/drawing/2014/main" id="{93165A4B-C90A-1257-6CAF-4E7402186096}"/>
              </a:ext>
            </a:extLst>
          </p:cNvPr>
          <p:cNvCxnSpPr>
            <a:cxnSpLocks/>
            <a:stCxn id="45" idx="2"/>
            <a:endCxn id="36" idx="1"/>
          </p:cNvCxnSpPr>
          <p:nvPr/>
        </p:nvCxnSpPr>
        <p:spPr>
          <a:xfrm rot="16200000" flipH="1">
            <a:off x="10971349" y="1247564"/>
            <a:ext cx="762471" cy="14401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0061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2844</TotalTime>
  <Words>472</Words>
  <Application>Microsoft Office PowerPoint</Application>
  <PresentationFormat>Widescreen</PresentationFormat>
  <Paragraphs>244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Times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 Zhang</dc:creator>
  <cp:lastModifiedBy>Chai, Siyuan</cp:lastModifiedBy>
  <cp:revision>38</cp:revision>
  <dcterms:created xsi:type="dcterms:W3CDTF">2023-05-13T08:26:12Z</dcterms:created>
  <dcterms:modified xsi:type="dcterms:W3CDTF">2025-04-20T21:46:04Z</dcterms:modified>
</cp:coreProperties>
</file>