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8" r:id="rId3"/>
    <p:sldId id="264" r:id="rId4"/>
    <p:sldId id="259" r:id="rId5"/>
    <p:sldId id="260" r:id="rId6"/>
    <p:sldId id="267" r:id="rId7"/>
    <p:sldId id="266" r:id="rId8"/>
    <p:sldId id="265" r:id="rId9"/>
    <p:sldId id="263" r:id="rId10"/>
    <p:sldId id="262" r:id="rId11"/>
    <p:sldId id="261" r:id="rId12"/>
    <p:sldId id="256" r:id="rId13"/>
    <p:sldId id="257" r:id="rId1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14712D-5403-6D44-9DD6-A1BB9B3D3239}">
          <p14:sldIdLst>
            <p14:sldId id="268"/>
            <p14:sldId id="258"/>
            <p14:sldId id="264"/>
            <p14:sldId id="259"/>
          </p14:sldIdLst>
        </p14:section>
        <p14:section name="Archive" id="{69D713A5-65AA-244D-BA13-99B19AFE77A3}">
          <p14:sldIdLst>
            <p14:sldId id="260"/>
            <p14:sldId id="267"/>
            <p14:sldId id="266"/>
            <p14:sldId id="265"/>
            <p14:sldId id="263"/>
            <p14:sldId id="262"/>
            <p14:sldId id="261"/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/>
    <p:restoredTop sz="94831"/>
  </p:normalViewPr>
  <p:slideViewPr>
    <p:cSldViewPr snapToGrid="0">
      <p:cViewPr>
        <p:scale>
          <a:sx n="140" d="100"/>
          <a:sy n="140" d="100"/>
        </p:scale>
        <p:origin x="48" y="37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D5A86-F2E4-8F0E-17B3-706D73D7A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E0800-2F40-C875-8DB4-6773D4028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9D816-F438-CFFF-9E32-643F824B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6D240-9A57-91A2-BAF0-D17FBDB2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9C949-BEF2-1DCC-AC95-649856E61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4911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ABC4-DFF9-E62E-1F0A-97A30B5E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3DD5B-D4BD-905F-A303-2046E799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F10E0-2EEA-AB1C-B513-612A0E85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54F9-6908-A4A4-7E34-994A7408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9C603-6F24-EC4C-C5C7-A1091786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5013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30EB-F9E5-0107-ECA2-9B9F3A73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4C0E6-4582-21B9-D43F-7A8DE0F7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8D91-1A94-5AB0-282A-081383024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242FE-3405-AB8A-9C53-F909A402E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89DE4-C034-F480-E0F7-F2D3E4DD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635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D3F2-F57F-0EDB-CE82-081B892F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AB53C-B1C7-8370-6233-7F7E9B91C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9683B-7C0D-C600-5B8E-4AD153869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E9D8C-3D92-F33A-8C15-3C5B279D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0BD99-6FC2-6562-62CD-1CFD0D15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714E4-ED3A-498B-6AEF-6886160F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2011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F5DFE-4A39-0C14-E225-7B081227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83908-C1D4-E7AB-2937-61EFD4A9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739DC-132C-EBEC-D8EA-4BB10BA55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12D32-0192-D21C-1E85-617F03BE6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562A6-D1AA-9CDD-0AEF-95F9A2592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0D312-5FCC-C568-657F-6775C74A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03421-D05D-0BFF-ECC3-BBB8A716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209DA-7DC6-4C99-A8E2-1286745D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910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1C2E-C29A-86FF-19AD-45ABDEBB0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46819-35CC-A4C7-9E82-735B9030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DD42B-9CB7-62E1-24A6-E4F9D45A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D6493-E556-B05D-1428-C99BFFF5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0328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4A482-C0F9-9F11-06B7-8563A9E8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E8021-B7F7-727C-58E4-632066FE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88A92-0054-A005-B010-FCA70E96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186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EC4D-BF94-4B4D-832F-F8C8FDD0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FB1D-2AFC-3DA8-27E3-9FBFAFB26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4E867-249B-BD1D-7F9A-19DDE0E8A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164A5-1B1F-04A6-5C2E-470AC22D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95B9E-1EBB-0C94-AF33-710FA977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D0235-0F88-A271-9ED5-22AA6E22B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76568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44943-3930-197E-45CC-6A7D03A9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19505-EF2E-6B07-8790-C2D872481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03B4-510B-DA87-2161-F4A04DB9F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5CD6-63EA-8FD9-20FB-CA3DCE5CB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B929C-2405-AF37-6D89-90CA5484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9EB34-1057-9134-BCBC-8E5C7703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6486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3F3E-C13C-F687-865E-55E00A84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A0A99-608B-8E1C-A1E8-5B7C07667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7CA77-D4B4-862A-2A88-4D7E7D1F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FF70B-985F-3004-8F66-1F5BE7CA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496B0-804C-3B19-A786-D772253F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9921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64A54-2EF2-CA9E-1F3F-C42CDE2E3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A9339-6100-2ED2-62DE-4B9797881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E7CBF-0241-05BE-0457-20FEF160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CF19-4D8A-B7C4-7113-8BE2A35F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18D6-689B-8A4E-9FAA-5582A670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9638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4DC32B-BC9B-53A5-A11E-A4829BF2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7E0AD-9E7E-B995-6B15-BFAE914B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C9043-6DBF-8CAD-EF1A-2FC238BCD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7D297-A28A-7842-A37C-7935B928699C}" type="datetimeFigureOut">
              <a:rPr lang="en-KR" smtClean="0"/>
              <a:t>12/10/24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1BE5C-23BA-48F1-644F-1DCDC1200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DD90B-DF43-E47B-39BD-1E16E9396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E0671-292B-3B48-B084-E75B1C346A0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5002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F8AD-4828-3540-0A4A-7BDB1E6A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11BCCA1-0876-3B8B-4668-10C05E125CCE}"/>
              </a:ext>
            </a:extLst>
          </p:cNvPr>
          <p:cNvSpPr txBox="1"/>
          <p:nvPr/>
        </p:nvSpPr>
        <p:spPr>
          <a:xfrm>
            <a:off x="176011" y="108196"/>
            <a:ext cx="568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 (updated 2024-12-10)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3E946A-179A-2FF1-E043-CB399E81B2C8}"/>
              </a:ext>
            </a:extLst>
          </p:cNvPr>
          <p:cNvGrpSpPr/>
          <p:nvPr/>
        </p:nvGrpSpPr>
        <p:grpSpPr>
          <a:xfrm>
            <a:off x="2391289" y="1956057"/>
            <a:ext cx="6169380" cy="2945886"/>
            <a:chOff x="2391289" y="1956057"/>
            <a:chExt cx="6169380" cy="294588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01E91E-5A1B-D894-C045-79C7B00C4710}"/>
                </a:ext>
              </a:extLst>
            </p:cNvPr>
            <p:cNvSpPr/>
            <p:nvPr/>
          </p:nvSpPr>
          <p:spPr>
            <a:xfrm>
              <a:off x="3289215" y="1956057"/>
              <a:ext cx="5271454" cy="183678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 dirty="0">
                <a:latin typeface="Times" pitchFamily="2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4CC49F7-4B36-92E3-F101-14961BB0AE7F}"/>
                </a:ext>
              </a:extLst>
            </p:cNvPr>
            <p:cNvSpPr/>
            <p:nvPr/>
          </p:nvSpPr>
          <p:spPr>
            <a:xfrm>
              <a:off x="3289214" y="3867872"/>
              <a:ext cx="5269488" cy="76454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C32C179-71F1-F26B-31F8-D250C167DF6B}"/>
                </a:ext>
              </a:extLst>
            </p:cNvPr>
            <p:cNvSpPr/>
            <p:nvPr/>
          </p:nvSpPr>
          <p:spPr>
            <a:xfrm>
              <a:off x="5335120" y="2187230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D710DF4-9C5E-4F8B-B36B-50066D76B112}"/>
                </a:ext>
              </a:extLst>
            </p:cNvPr>
            <p:cNvSpPr/>
            <p:nvPr/>
          </p:nvSpPr>
          <p:spPr>
            <a:xfrm>
              <a:off x="7149479" y="2187230"/>
              <a:ext cx="1300548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System Calls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read,fsync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92C0568-CFDE-7187-F382-68F76824D231}"/>
                </a:ext>
              </a:extLst>
            </p:cNvPr>
            <p:cNvSpPr/>
            <p:nvPr/>
          </p:nvSpPr>
          <p:spPr>
            <a:xfrm>
              <a:off x="7205785" y="2732077"/>
              <a:ext cx="1187938" cy="38818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  <a:latin typeface="Times" pitchFamily="2" charset="0"/>
                </a:rPr>
                <a:t>VFS</a:t>
              </a:r>
              <a:endParaRPr lang="en-KR" b="1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0FF47E3-3A6C-1011-7809-565970047105}"/>
                </a:ext>
              </a:extLst>
            </p:cNvPr>
            <p:cNvSpPr/>
            <p:nvPr/>
          </p:nvSpPr>
          <p:spPr>
            <a:xfrm>
              <a:off x="5268077" y="2732077"/>
              <a:ext cx="1707749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2225" cmpd="thickThin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rgbClr val="C00000"/>
                  </a:solidFill>
                  <a:latin typeface="Times" pitchFamily="2" charset="0"/>
                </a:rPr>
                <a:t>EMT</a:t>
              </a:r>
              <a:endParaRPr lang="en-KR" b="1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E03848D-529E-392C-3884-B46CAEA4087C}"/>
                </a:ext>
              </a:extLst>
            </p:cNvPr>
            <p:cNvSpPr txBox="1"/>
            <p:nvPr/>
          </p:nvSpPr>
          <p:spPr>
            <a:xfrm>
              <a:off x="3301858" y="4477920"/>
              <a:ext cx="708527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400" dirty="0">
                  <a:solidFill>
                    <a:schemeClr val="tx1"/>
                  </a:solidFill>
                  <a:latin typeface="Times" pitchFamily="2" charset="0"/>
                </a:rPr>
                <a:t>Hardware</a:t>
              </a:r>
              <a:endParaRPr lang="en-KR" sz="1600" dirty="0">
                <a:solidFill>
                  <a:schemeClr val="tx1"/>
                </a:solidFill>
                <a:latin typeface="Times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CB96772-3FC3-0E4F-F193-C98943411CEC}"/>
                </a:ext>
              </a:extLst>
            </p:cNvPr>
            <p:cNvSpPr txBox="1"/>
            <p:nvPr/>
          </p:nvSpPr>
          <p:spPr>
            <a:xfrm>
              <a:off x="2464228" y="2098810"/>
              <a:ext cx="837089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Neutral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C96C0EB-DBFA-9303-AE5A-CC658FE6A23B}"/>
                </a:ext>
              </a:extLst>
            </p:cNvPr>
            <p:cNvSpPr txBox="1"/>
            <p:nvPr/>
          </p:nvSpPr>
          <p:spPr>
            <a:xfrm>
              <a:off x="3300884" y="1975858"/>
              <a:ext cx="1292020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400" dirty="0">
                  <a:latin typeface="Times" pitchFamily="2" charset="0"/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B6B1138-7D37-F060-1AC0-2E5337330D40}"/>
                </a:ext>
              </a:extLst>
            </p:cNvPr>
            <p:cNvSpPr txBox="1"/>
            <p:nvPr/>
          </p:nvSpPr>
          <p:spPr>
            <a:xfrm>
              <a:off x="2433771" y="3238263"/>
              <a:ext cx="898003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Specific</a:t>
              </a:r>
              <a:endParaRPr lang="en-US" sz="1700" dirty="0">
                <a:latin typeface="Time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894DD8E-CCF1-4A69-6FB6-7239D56AF986}"/>
                </a:ext>
              </a:extLst>
            </p:cNvPr>
            <p:cNvSpPr txBox="1"/>
            <p:nvPr/>
          </p:nvSpPr>
          <p:spPr>
            <a:xfrm>
              <a:off x="2391289" y="3847414"/>
              <a:ext cx="982962" cy="709481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Data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Structure</a:t>
              </a:r>
              <a:endParaRPr lang="en-KR" sz="1700" dirty="0">
                <a:latin typeface="Times" pitchFamily="2" charset="0"/>
              </a:endParaRP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(Logic)</a:t>
              </a:r>
              <a:endParaRPr lang="en-KR" sz="1700" dirty="0">
                <a:latin typeface="Times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18354A7-E2DC-0A3C-B4B8-759588CF5781}"/>
                </a:ext>
              </a:extLst>
            </p:cNvPr>
            <p:cNvSpPr txBox="1"/>
            <p:nvPr/>
          </p:nvSpPr>
          <p:spPr>
            <a:xfrm>
              <a:off x="2404916" y="2657449"/>
              <a:ext cx="955711" cy="53744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20EFEBD-3A68-5D49-F418-5BC318B14A5D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2624970"/>
              <a:ext cx="6105695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4FBA456-C139-CD21-6296-FFD3AA8EA0B3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3197838"/>
              <a:ext cx="6105695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00898062-19A9-C0E6-C8CD-176AE949C07A}"/>
                </a:ext>
              </a:extLst>
            </p:cNvPr>
            <p:cNvSpPr/>
            <p:nvPr/>
          </p:nvSpPr>
          <p:spPr>
            <a:xfrm>
              <a:off x="3370174" y="2187230"/>
              <a:ext cx="1710941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4C0B27C-39BD-AB37-B1B2-5CDA064D0D49}"/>
                </a:ext>
              </a:extLst>
            </p:cNvPr>
            <p:cNvSpPr/>
            <p:nvPr/>
          </p:nvSpPr>
          <p:spPr>
            <a:xfrm>
              <a:off x="3360129" y="2187230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E93D879-60A2-1B96-F58F-577D99EDC20C}"/>
                </a:ext>
              </a:extLst>
            </p:cNvPr>
            <p:cNvSpPr/>
            <p:nvPr/>
          </p:nvSpPr>
          <p:spPr>
            <a:xfrm>
              <a:off x="3360129" y="3937601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2509696-CA8B-2875-F6E6-84472EE7E2E1}"/>
                </a:ext>
              </a:extLst>
            </p:cNvPr>
            <p:cNvSpPr/>
            <p:nvPr/>
          </p:nvSpPr>
          <p:spPr>
            <a:xfrm>
              <a:off x="3360129" y="3274927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Page Table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D9DC468-470C-7DA7-444F-2C5F5F5DBDCA}"/>
                </a:ext>
              </a:extLst>
            </p:cNvPr>
            <p:cNvSpPr/>
            <p:nvPr/>
          </p:nvSpPr>
          <p:spPr>
            <a:xfrm>
              <a:off x="3438812" y="2732077"/>
              <a:ext cx="1573663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No Interface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D536D28-7011-90E0-EA55-1A6A3DDE4471}"/>
                </a:ext>
              </a:extLst>
            </p:cNvPr>
            <p:cNvSpPr txBox="1"/>
            <p:nvPr/>
          </p:nvSpPr>
          <p:spPr>
            <a:xfrm>
              <a:off x="3975461" y="4189834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ECC70077-4CA1-53A0-A2CB-B3844E306F55}"/>
                </a:ext>
              </a:extLst>
            </p:cNvPr>
            <p:cNvSpPr/>
            <p:nvPr/>
          </p:nvSpPr>
          <p:spPr>
            <a:xfrm>
              <a:off x="5208611" y="3238264"/>
              <a:ext cx="1832149" cy="1195960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AAC5810A-392A-766E-D049-D9EF40D99FDC}"/>
                </a:ext>
              </a:extLst>
            </p:cNvPr>
            <p:cNvSpPr/>
            <p:nvPr/>
          </p:nvSpPr>
          <p:spPr>
            <a:xfrm>
              <a:off x="7169687" y="3238264"/>
              <a:ext cx="1270500" cy="1195960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Times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A3950062-2094-5DA2-D38D-196B3C06174F}"/>
                </a:ext>
              </a:extLst>
            </p:cNvPr>
            <p:cNvSpPr/>
            <p:nvPr/>
          </p:nvSpPr>
          <p:spPr>
            <a:xfrm>
              <a:off x="7213779" y="3274927"/>
              <a:ext cx="1182316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3296DD6-8F67-46C4-E070-A376B3DA86AB}"/>
                </a:ext>
              </a:extLst>
            </p:cNvPr>
            <p:cNvSpPr/>
            <p:nvPr/>
          </p:nvSpPr>
          <p:spPr>
            <a:xfrm>
              <a:off x="7236428" y="3903098"/>
              <a:ext cx="1074833" cy="2155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On-disk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AB55A77-7196-9AC3-FC0D-E9FE5062E05D}"/>
                </a:ext>
              </a:extLst>
            </p:cNvPr>
            <p:cNvSpPr/>
            <p:nvPr/>
          </p:nvSpPr>
          <p:spPr>
            <a:xfrm>
              <a:off x="5268078" y="3937601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AFBF50-C831-8D0F-BB26-37B3D39076AC}"/>
                </a:ext>
              </a:extLst>
            </p:cNvPr>
            <p:cNvSpPr/>
            <p:nvPr/>
          </p:nvSpPr>
          <p:spPr>
            <a:xfrm>
              <a:off x="5268078" y="3296951"/>
              <a:ext cx="1707749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2225" cmpd="thickThin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  <a:latin typeface="Times" pitchFamily="2" charset="0"/>
                </a:rPr>
                <a:t>MMU Driver</a:t>
              </a:r>
              <a:endParaRPr lang="en-KR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3794616-B1FE-0F61-A806-210462A6BC6B}"/>
                </a:ext>
              </a:extLst>
            </p:cNvPr>
            <p:cNvSpPr txBox="1"/>
            <p:nvPr/>
          </p:nvSpPr>
          <p:spPr>
            <a:xfrm>
              <a:off x="5293290" y="3549706"/>
              <a:ext cx="366383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D3EA731-E7B6-E379-9875-8F9056C71216}"/>
                </a:ext>
              </a:extLst>
            </p:cNvPr>
            <p:cNvSpPr txBox="1"/>
            <p:nvPr/>
          </p:nvSpPr>
          <p:spPr>
            <a:xfrm>
              <a:off x="5695141" y="3549706"/>
              <a:ext cx="359997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04A7BC7-2BAE-107F-492B-2109F1375140}"/>
                </a:ext>
              </a:extLst>
            </p:cNvPr>
            <p:cNvSpPr txBox="1"/>
            <p:nvPr/>
          </p:nvSpPr>
          <p:spPr>
            <a:xfrm>
              <a:off x="6090606" y="3549569"/>
              <a:ext cx="282786" cy="151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FPT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5CE5450-8654-E08B-3068-53665EA36F50}"/>
                </a:ext>
              </a:extLst>
            </p:cNvPr>
            <p:cNvSpPr txBox="1"/>
            <p:nvPr/>
          </p:nvSpPr>
          <p:spPr>
            <a:xfrm>
              <a:off x="5288399" y="4188032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FD68FD0-8C5B-61B3-8BE4-20B45685A36D}"/>
                </a:ext>
              </a:extLst>
            </p:cNvPr>
            <p:cNvSpPr txBox="1"/>
            <p:nvPr/>
          </p:nvSpPr>
          <p:spPr>
            <a:xfrm>
              <a:off x="5780741" y="4188032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FC515DD-083A-2367-FF2B-A5B7375A2082}"/>
                </a:ext>
              </a:extLst>
            </p:cNvPr>
            <p:cNvSpPr txBox="1"/>
            <p:nvPr/>
          </p:nvSpPr>
          <p:spPr>
            <a:xfrm>
              <a:off x="7264183" y="3549706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Ext4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1E69DD9-B228-172A-B6DC-422C56CC34BB}"/>
                </a:ext>
              </a:extLst>
            </p:cNvPr>
            <p:cNvSpPr txBox="1"/>
            <p:nvPr/>
          </p:nvSpPr>
          <p:spPr>
            <a:xfrm>
              <a:off x="7771054" y="3549706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Btrfs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CB36D5B-B78E-D37A-0E52-ADBB1EDCED0F}"/>
                </a:ext>
              </a:extLst>
            </p:cNvPr>
            <p:cNvSpPr txBox="1"/>
            <p:nvPr/>
          </p:nvSpPr>
          <p:spPr>
            <a:xfrm>
              <a:off x="6641041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6815763-294B-1C56-5212-F932277BF11B}"/>
                </a:ext>
              </a:extLst>
            </p:cNvPr>
            <p:cNvSpPr txBox="1"/>
            <p:nvPr/>
          </p:nvSpPr>
          <p:spPr>
            <a:xfrm>
              <a:off x="6744622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5A5B228-560D-CF85-3121-C8CB439FD318}"/>
                </a:ext>
              </a:extLst>
            </p:cNvPr>
            <p:cNvSpPr txBox="1"/>
            <p:nvPr/>
          </p:nvSpPr>
          <p:spPr>
            <a:xfrm>
              <a:off x="7281808" y="4189834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Extent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5A91A3A-8EEA-701B-7AEE-703A1AF341EE}"/>
                </a:ext>
              </a:extLst>
            </p:cNvPr>
            <p:cNvSpPr txBox="1"/>
            <p:nvPr/>
          </p:nvSpPr>
          <p:spPr>
            <a:xfrm>
              <a:off x="7771054" y="4189834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B-tree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B51AFDE-3468-3633-14CC-4AB3E6DBA2A8}"/>
                </a:ext>
              </a:extLst>
            </p:cNvPr>
            <p:cNvSpPr txBox="1"/>
            <p:nvPr/>
          </p:nvSpPr>
          <p:spPr>
            <a:xfrm>
              <a:off x="8151431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1359059-0619-6CD2-7F25-C6BC3273DFFD}"/>
                </a:ext>
              </a:extLst>
            </p:cNvPr>
            <p:cNvSpPr txBox="1"/>
            <p:nvPr/>
          </p:nvSpPr>
          <p:spPr>
            <a:xfrm>
              <a:off x="8156259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4CF43B4-6B4F-0796-DA39-95374E92C126}"/>
                </a:ext>
              </a:extLst>
            </p:cNvPr>
            <p:cNvSpPr txBox="1"/>
            <p:nvPr/>
          </p:nvSpPr>
          <p:spPr>
            <a:xfrm>
              <a:off x="3594027" y="4692014"/>
              <a:ext cx="1263231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Vanilla</a:t>
              </a:r>
              <a:r>
                <a:rPr lang="en-KR" dirty="0">
                  <a:latin typeface="Times" pitchFamily="2" charset="0"/>
                </a:rPr>
                <a:t> 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845F359-37A0-6180-25D9-D56D73855312}"/>
                </a:ext>
              </a:extLst>
            </p:cNvPr>
            <p:cNvSpPr txBox="1"/>
            <p:nvPr/>
          </p:nvSpPr>
          <p:spPr>
            <a:xfrm>
              <a:off x="5507644" y="4692014"/>
              <a:ext cx="1094530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>
                  <a:latin typeface="Times" pitchFamily="2" charset="0"/>
                </a:rPr>
                <a:t>EMT</a:t>
              </a:r>
              <a:r>
                <a:rPr lang="en-US" dirty="0">
                  <a:latin typeface="Times" pitchFamily="2" charset="0"/>
                </a:rPr>
                <a:t>-Linux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AEF302B-4A8C-B319-8F12-19A5B84F5664}"/>
                </a:ext>
              </a:extLst>
            </p:cNvPr>
            <p:cNvSpPr txBox="1"/>
            <p:nvPr/>
          </p:nvSpPr>
          <p:spPr>
            <a:xfrm>
              <a:off x="7123025" y="4692014"/>
              <a:ext cx="1301638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VFS Interface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D5FD793D-90D0-33A6-C2B2-CE7C2082E197}"/>
                </a:ext>
              </a:extLst>
            </p:cNvPr>
            <p:cNvSpPr/>
            <p:nvPr/>
          </p:nvSpPr>
          <p:spPr>
            <a:xfrm>
              <a:off x="7753600" y="197909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dirty="0">
                  <a:solidFill>
                    <a:schemeClr val="accent5">
                      <a:lumMod val="75000"/>
                    </a:schemeClr>
                  </a:solidFill>
                  <a:latin typeface="Times" pitchFamily="2" charset="0"/>
                </a:rPr>
                <a:t>Coupled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A53B0A3F-A09E-0468-FD82-B41126E99F15}"/>
                </a:ext>
              </a:extLst>
            </p:cNvPr>
            <p:cNvSpPr/>
            <p:nvPr/>
          </p:nvSpPr>
          <p:spPr>
            <a:xfrm>
              <a:off x="6481749" y="1993406"/>
              <a:ext cx="1196716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2225" cmpd="thickThin">
              <a:solidFill>
                <a:schemeClr val="dk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dirty="0">
                  <a:solidFill>
                    <a:srgbClr val="C00000"/>
                  </a:solidFill>
                  <a:latin typeface="Times" pitchFamily="2" charset="0"/>
                </a:rPr>
                <a:t>Proposed layer</a:t>
              </a:r>
              <a:endParaRPr lang="en-KR" sz="1400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2BEB163-B4D2-B81D-61F2-F6CD2F5F1247}"/>
                </a:ext>
              </a:extLst>
            </p:cNvPr>
            <p:cNvSpPr txBox="1"/>
            <p:nvPr/>
          </p:nvSpPr>
          <p:spPr>
            <a:xfrm>
              <a:off x="6273083" y="4188032"/>
              <a:ext cx="431181" cy="1532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FPT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5171C3A-DD85-1A32-444F-0E8DBA872C63}"/>
                </a:ext>
              </a:extLst>
            </p:cNvPr>
            <p:cNvSpPr txBox="1"/>
            <p:nvPr/>
          </p:nvSpPr>
          <p:spPr>
            <a:xfrm>
              <a:off x="6408860" y="3548775"/>
              <a:ext cx="409696" cy="1519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Hybrid</a:t>
              </a:r>
              <a:endParaRPr lang="en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9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DBDBC1D-9235-BBD0-1999-D149640C244C}"/>
              </a:ext>
            </a:extLst>
          </p:cNvPr>
          <p:cNvSpPr txBox="1"/>
          <p:nvPr/>
        </p:nvSpPr>
        <p:spPr>
          <a:xfrm>
            <a:off x="228689" y="208000"/>
            <a:ext cx="4463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EMT interface internal (Updated 2024-03-31)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1849B-1E05-2F21-E5AC-EF036922E11F}"/>
              </a:ext>
            </a:extLst>
          </p:cNvPr>
          <p:cNvGrpSpPr/>
          <p:nvPr/>
        </p:nvGrpSpPr>
        <p:grpSpPr>
          <a:xfrm>
            <a:off x="4066351" y="2156548"/>
            <a:ext cx="3455672" cy="2829520"/>
            <a:chOff x="4066351" y="2156548"/>
            <a:chExt cx="3455672" cy="282952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E7E0EBA-4DA1-20E7-FFCD-82052775A6FD}"/>
                </a:ext>
              </a:extLst>
            </p:cNvPr>
            <p:cNvSpPr/>
            <p:nvPr/>
          </p:nvSpPr>
          <p:spPr>
            <a:xfrm>
              <a:off x="4066351" y="2156548"/>
              <a:ext cx="3455672" cy="282952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1"/>
            <a:lstStyle/>
            <a:p>
              <a:pPr>
                <a:lnSpc>
                  <a:spcPct val="75000"/>
                </a:lnSpc>
              </a:pPr>
              <a:endParaRPr lang="en-KR" sz="2000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168E5D75-A114-B4AE-FE84-802BF569B850}"/>
                </a:ext>
              </a:extLst>
            </p:cNvPr>
            <p:cNvSpPr/>
            <p:nvPr/>
          </p:nvSpPr>
          <p:spPr>
            <a:xfrm>
              <a:off x="5835917" y="2559528"/>
              <a:ext cx="1553584" cy="2325009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000" dirty="0">
                  <a:solidFill>
                    <a:schemeClr val="tx1"/>
                  </a:solidFill>
                </a:rPr>
                <a:t>Optimizations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63F8A1-ECD5-BFBF-CA4F-AEE7A4032B96}"/>
                </a:ext>
              </a:extLst>
            </p:cNvPr>
            <p:cNvSpPr txBox="1"/>
            <p:nvPr/>
          </p:nvSpPr>
          <p:spPr>
            <a:xfrm>
              <a:off x="6433814" y="4537507"/>
              <a:ext cx="357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dirty="0"/>
                <a:t>...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5DE9798-0A29-AF2F-9072-F8BD2B8B33A3}"/>
                </a:ext>
              </a:extLst>
            </p:cNvPr>
            <p:cNvSpPr/>
            <p:nvPr/>
          </p:nvSpPr>
          <p:spPr>
            <a:xfrm>
              <a:off x="6105109" y="2961435"/>
              <a:ext cx="1015201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iterator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F5157B4-91B8-FFA7-CE44-B417500D7B8C}"/>
                </a:ext>
              </a:extLst>
            </p:cNvPr>
            <p:cNvSpPr/>
            <p:nvPr/>
          </p:nvSpPr>
          <p:spPr>
            <a:xfrm>
              <a:off x="6105109" y="3541796"/>
              <a:ext cx="1015201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lock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F723595-6F06-AD74-DC30-A3A32AC08E48}"/>
                </a:ext>
              </a:extLst>
            </p:cNvPr>
            <p:cNvSpPr/>
            <p:nvPr/>
          </p:nvSpPr>
          <p:spPr>
            <a:xfrm>
              <a:off x="6105108" y="4118336"/>
              <a:ext cx="1015202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KR" dirty="0">
                  <a:solidFill>
                    <a:schemeClr val="tx1"/>
                  </a:solidFill>
                </a:rPr>
                <a:t>Page table count</a:t>
              </a: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1D34D66-3BF6-690D-3395-725FF00298FA}"/>
                </a:ext>
              </a:extLst>
            </p:cNvPr>
            <p:cNvSpPr/>
            <p:nvPr/>
          </p:nvSpPr>
          <p:spPr>
            <a:xfrm>
              <a:off x="4198874" y="2570677"/>
              <a:ext cx="1504106" cy="2325009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000" dirty="0">
                  <a:solidFill>
                    <a:schemeClr val="tx1"/>
                  </a:solidFill>
                </a:rPr>
                <a:t>Primitives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4101745-1A45-AC9A-89D7-E162EE316D49}"/>
                </a:ext>
              </a:extLst>
            </p:cNvPr>
            <p:cNvSpPr/>
            <p:nvPr/>
          </p:nvSpPr>
          <p:spPr>
            <a:xfrm>
              <a:off x="4401784" y="2972585"/>
              <a:ext cx="1098287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structure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6EA06C4-C70F-3997-E457-02B076E93DD9}"/>
                </a:ext>
              </a:extLst>
            </p:cNvPr>
            <p:cNvSpPr/>
            <p:nvPr/>
          </p:nvSpPr>
          <p:spPr>
            <a:xfrm>
              <a:off x="4401784" y="3566441"/>
              <a:ext cx="1098287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PTE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access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4CD973C-7793-CEF9-FA8A-896C74A4412A}"/>
                </a:ext>
              </a:extLst>
            </p:cNvPr>
            <p:cNvSpPr/>
            <p:nvPr/>
          </p:nvSpPr>
          <p:spPr>
            <a:xfrm>
              <a:off x="4401784" y="4129486"/>
              <a:ext cx="1098287" cy="50596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Hardware operation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429189C-5DB5-753A-9EA1-6FE83059FEF8}"/>
                </a:ext>
              </a:extLst>
            </p:cNvPr>
            <p:cNvSpPr/>
            <p:nvPr/>
          </p:nvSpPr>
          <p:spPr>
            <a:xfrm>
              <a:off x="5963722" y="2211668"/>
              <a:ext cx="1500527" cy="2359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i="1" dirty="0">
                  <a:solidFill>
                    <a:schemeClr val="tx1"/>
                  </a:solidFill>
                </a:rPr>
                <a:t>Functional group</a:t>
              </a:r>
              <a:endParaRPr lang="en-K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8B24B23-08BC-82CB-8573-534221F4EBE6}"/>
                </a:ext>
              </a:extLst>
            </p:cNvPr>
            <p:cNvSpPr txBox="1"/>
            <p:nvPr/>
          </p:nvSpPr>
          <p:spPr>
            <a:xfrm>
              <a:off x="4129865" y="2234045"/>
              <a:ext cx="1725522" cy="2649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US" sz="2200" b="1" dirty="0">
                  <a:solidFill>
                    <a:srgbClr val="C00000"/>
                  </a:solidFill>
                </a:rPr>
                <a:t>EMT interface</a:t>
              </a:r>
              <a:endParaRPr lang="en-KR" sz="2200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600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DBDBC1D-9235-BBD0-1999-D149640C244C}"/>
              </a:ext>
            </a:extLst>
          </p:cNvPr>
          <p:cNvSpPr txBox="1"/>
          <p:nvPr/>
        </p:nvSpPr>
        <p:spPr>
          <a:xfrm>
            <a:off x="228689" y="208000"/>
            <a:ext cx="4884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EMT interface abstractions (Updated 2024-04-09)</a:t>
            </a:r>
          </a:p>
        </p:txBody>
      </p: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804596E2-4351-35D4-9155-8411A1B573FC}"/>
              </a:ext>
            </a:extLst>
          </p:cNvPr>
          <p:cNvGrpSpPr/>
          <p:nvPr/>
        </p:nvGrpSpPr>
        <p:grpSpPr>
          <a:xfrm>
            <a:off x="1448948" y="1605845"/>
            <a:ext cx="3442728" cy="3818267"/>
            <a:chOff x="7185514" y="1545460"/>
            <a:chExt cx="3442728" cy="3818267"/>
          </a:xfrm>
        </p:grpSpPr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1E098301-E88D-A979-D3EF-9EABEE6E92FF}"/>
                </a:ext>
              </a:extLst>
            </p:cNvPr>
            <p:cNvGrpSpPr/>
            <p:nvPr/>
          </p:nvGrpSpPr>
          <p:grpSpPr>
            <a:xfrm>
              <a:off x="7965217" y="1545460"/>
              <a:ext cx="2278887" cy="1796989"/>
              <a:chOff x="5223218" y="4097896"/>
              <a:chExt cx="2278887" cy="1796989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908EB55-2612-5BBA-0532-6B3360CA9509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698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7819E2F3-9528-BF1D-8A88-1FD4E51BEEB1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ECPT</a:t>
                </a:r>
              </a:p>
            </p:txBody>
          </p:sp>
          <p:grpSp>
            <p:nvGrpSpPr>
              <p:cNvPr id="409" name="Group 408">
                <a:extLst>
                  <a:ext uri="{FF2B5EF4-FFF2-40B4-BE49-F238E27FC236}">
                    <a16:creationId xmlns:a16="http://schemas.microsoft.com/office/drawing/2014/main" id="{C71DD86F-5B39-2261-8B54-693D14ACFF82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420" name="Rounded Rectangle 419">
                  <a:extLst>
                    <a:ext uri="{FF2B5EF4-FFF2-40B4-BE49-F238E27FC236}">
                      <a16:creationId xmlns:a16="http://schemas.microsoft.com/office/drawing/2014/main" id="{D4AA00B0-DE8C-FF06-F9CD-4A7BBAA7E3F6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1" name="Rectangle 420">
                  <a:extLst>
                    <a:ext uri="{FF2B5EF4-FFF2-40B4-BE49-F238E27FC236}">
                      <a16:creationId xmlns:a16="http://schemas.microsoft.com/office/drawing/2014/main" id="{C6EBC9A2-04C8-A43A-85A8-88EFF302EE82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22" name="Rectangle 421">
                  <a:extLst>
                    <a:ext uri="{FF2B5EF4-FFF2-40B4-BE49-F238E27FC236}">
                      <a16:creationId xmlns:a16="http://schemas.microsoft.com/office/drawing/2014/main" id="{FBD6EB2E-4B2A-3337-6C88-589EB0242BCB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3" name="Rectangle 422">
                  <a:extLst>
                    <a:ext uri="{FF2B5EF4-FFF2-40B4-BE49-F238E27FC236}">
                      <a16:creationId xmlns:a16="http://schemas.microsoft.com/office/drawing/2014/main" id="{C74B536A-56E1-AA87-24AC-2FCF68C1D0EF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FE245AC4-C29A-BB62-B31D-92AA0F330B8B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416" name="Rounded Rectangle 415">
                  <a:extLst>
                    <a:ext uri="{FF2B5EF4-FFF2-40B4-BE49-F238E27FC236}">
                      <a16:creationId xmlns:a16="http://schemas.microsoft.com/office/drawing/2014/main" id="{CAB469A1-EB25-E5FE-6314-D11D679C0004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id="{3D9A34A7-BD7E-7462-8850-FA9E9CE3C7A5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18" name="Rectangle 417">
                  <a:extLst>
                    <a:ext uri="{FF2B5EF4-FFF2-40B4-BE49-F238E27FC236}">
                      <a16:creationId xmlns:a16="http://schemas.microsoft.com/office/drawing/2014/main" id="{029DB032-1FCD-4C33-89DD-6B78A1230E50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9" name="Rectangle 418">
                  <a:extLst>
                    <a:ext uri="{FF2B5EF4-FFF2-40B4-BE49-F238E27FC236}">
                      <a16:creationId xmlns:a16="http://schemas.microsoft.com/office/drawing/2014/main" id="{64D9CFCF-EB8C-DDB0-2CDD-BFB6A3DBC898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2504C85B-7CAB-5C82-CF1F-8AF0D4C625CB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412" name="Rounded Rectangle 411">
                  <a:extLst>
                    <a:ext uri="{FF2B5EF4-FFF2-40B4-BE49-F238E27FC236}">
                      <a16:creationId xmlns:a16="http://schemas.microsoft.com/office/drawing/2014/main" id="{1B20B2BB-6D36-F0A5-1E85-B407FD386C70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413" name="Rectangle 412">
                  <a:extLst>
                    <a:ext uri="{FF2B5EF4-FFF2-40B4-BE49-F238E27FC236}">
                      <a16:creationId xmlns:a16="http://schemas.microsoft.com/office/drawing/2014/main" id="{2996688F-00FB-9A5F-22A9-442C79D253FD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14" name="Rectangle 413">
                  <a:extLst>
                    <a:ext uri="{FF2B5EF4-FFF2-40B4-BE49-F238E27FC236}">
                      <a16:creationId xmlns:a16="http://schemas.microsoft.com/office/drawing/2014/main" id="{FFC9E40A-62FE-FD65-9CA8-D57E677D10E3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5" name="Rectangle 414">
                  <a:extLst>
                    <a:ext uri="{FF2B5EF4-FFF2-40B4-BE49-F238E27FC236}">
                      <a16:creationId xmlns:a16="http://schemas.microsoft.com/office/drawing/2014/main" id="{A3FF3D78-1FE3-A3E7-7176-CD2E3A8449EE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DD6B09C7-1852-E55E-2C1D-7DBBF9EDCFE9}"/>
                </a:ext>
              </a:extLst>
            </p:cNvPr>
            <p:cNvGrpSpPr/>
            <p:nvPr/>
          </p:nvGrpSpPr>
          <p:grpSpPr>
            <a:xfrm>
              <a:off x="7576871" y="1861186"/>
              <a:ext cx="2278887" cy="1790757"/>
              <a:chOff x="5223218" y="4097896"/>
              <a:chExt cx="2278887" cy="1790757"/>
            </a:xfrm>
          </p:grpSpPr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17C5E388-2622-2619-2459-2F6917805EDA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07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94B7D937-5A3A-3797-B1E6-1B261CF0E957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Radix Tree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D297EF45-BE5D-9B6A-FFA8-C72F997254D7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403" name="Rounded Rectangle 402">
                  <a:extLst>
                    <a:ext uri="{FF2B5EF4-FFF2-40B4-BE49-F238E27FC236}">
                      <a16:creationId xmlns:a16="http://schemas.microsoft.com/office/drawing/2014/main" id="{ACFD21C8-2320-EA96-1FBD-B12E7BE0770B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4" name="Rectangle 403">
                  <a:extLst>
                    <a:ext uri="{FF2B5EF4-FFF2-40B4-BE49-F238E27FC236}">
                      <a16:creationId xmlns:a16="http://schemas.microsoft.com/office/drawing/2014/main" id="{DB72B734-1504-5CD8-D921-6CB8CE56B363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8B4CE1CF-29EF-753F-661A-7244AADFDA04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38966742-24DD-057D-7B78-2F6EDFB3C89D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E6DAF5F9-1EF5-45BE-1DD0-CA91BF465372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99" name="Rounded Rectangle 398">
                  <a:extLst>
                    <a:ext uri="{FF2B5EF4-FFF2-40B4-BE49-F238E27FC236}">
                      <a16:creationId xmlns:a16="http://schemas.microsoft.com/office/drawing/2014/main" id="{87CBB920-085F-BC7D-06D7-B73985CAAB23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483F7B98-E3AB-515E-0AEA-B944A722CF0A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879876EB-87D8-A26D-2337-7815DD3DA92C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A8B3750A-802D-773C-8933-14B1D424D7B0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07EFC2B1-F0A6-08FF-09C7-73E2F8A55EB8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95" name="Rounded Rectangle 394">
                  <a:extLst>
                    <a:ext uri="{FF2B5EF4-FFF2-40B4-BE49-F238E27FC236}">
                      <a16:creationId xmlns:a16="http://schemas.microsoft.com/office/drawing/2014/main" id="{D7C3BCCC-FDD0-DA91-4295-C5DA5A0DDA13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4BCAC091-00A2-7516-82FC-AB37B98502BC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97" name="Rectangle 396">
                  <a:extLst>
                    <a:ext uri="{FF2B5EF4-FFF2-40B4-BE49-F238E27FC236}">
                      <a16:creationId xmlns:a16="http://schemas.microsoft.com/office/drawing/2014/main" id="{3A1A0F12-F23B-25DB-D1B4-F5A44D937612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8" name="Rectangle 397">
                  <a:extLst>
                    <a:ext uri="{FF2B5EF4-FFF2-40B4-BE49-F238E27FC236}">
                      <a16:creationId xmlns:a16="http://schemas.microsoft.com/office/drawing/2014/main" id="{2AAD218B-2589-0CDF-2783-F4FDA69F954C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3CD1C59D-FD18-2EB1-06D6-2F2746826209}"/>
                </a:ext>
              </a:extLst>
            </p:cNvPr>
            <p:cNvSpPr txBox="1"/>
            <p:nvPr/>
          </p:nvSpPr>
          <p:spPr>
            <a:xfrm>
              <a:off x="10244104" y="2246179"/>
              <a:ext cx="357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dirty="0"/>
                <a:t>...</a:t>
              </a: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C6D14CCA-D62C-E3BE-8F97-C19C66C3C977}"/>
                </a:ext>
              </a:extLst>
            </p:cNvPr>
            <p:cNvGrpSpPr/>
            <p:nvPr/>
          </p:nvGrpSpPr>
          <p:grpSpPr>
            <a:xfrm>
              <a:off x="7188525" y="2176913"/>
              <a:ext cx="2278887" cy="1795774"/>
              <a:chOff x="6183625" y="2958179"/>
              <a:chExt cx="2278887" cy="1795774"/>
            </a:xfrm>
          </p:grpSpPr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4B582798-6085-273D-2A44-9E80C00F7E4B}"/>
                  </a:ext>
                </a:extLst>
              </p:cNvPr>
              <p:cNvSpPr/>
              <p:nvPr/>
            </p:nvSpPr>
            <p:spPr>
              <a:xfrm>
                <a:off x="6183625" y="2958179"/>
                <a:ext cx="2278887" cy="179577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8D000318-C66F-1772-61DE-86CC63FF6316}"/>
                  </a:ext>
                </a:extLst>
              </p:cNvPr>
              <p:cNvSpPr txBox="1"/>
              <p:nvPr/>
            </p:nvSpPr>
            <p:spPr>
              <a:xfrm>
                <a:off x="6279955" y="3050975"/>
                <a:ext cx="2182557" cy="26263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75000"/>
                  </a:lnSpc>
                </a:pPr>
                <a:r>
                  <a:rPr lang="en-KR" sz="2200" b="1" dirty="0"/>
                  <a:t>➀</a:t>
                </a:r>
                <a:r>
                  <a:rPr lang="en-KR" sz="2200" dirty="0"/>
                  <a:t>Trans. Context</a:t>
                </a:r>
              </a:p>
            </p:txBody>
          </p:sp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F3E0BBF0-A7A7-BECE-3329-E1900353E608}"/>
                  </a:ext>
                </a:extLst>
              </p:cNvPr>
              <p:cNvGrpSpPr/>
              <p:nvPr/>
            </p:nvGrpSpPr>
            <p:grpSpPr>
              <a:xfrm>
                <a:off x="7018697" y="3353293"/>
                <a:ext cx="1217244" cy="1067566"/>
                <a:chOff x="4442606" y="2852822"/>
                <a:chExt cx="1217244" cy="1067566"/>
              </a:xfrm>
            </p:grpSpPr>
            <p:sp>
              <p:nvSpPr>
                <p:cNvPr id="386" name="Rounded Rectangle 385">
                  <a:extLst>
                    <a:ext uri="{FF2B5EF4-FFF2-40B4-BE49-F238E27FC236}">
                      <a16:creationId xmlns:a16="http://schemas.microsoft.com/office/drawing/2014/main" id="{EA1393D7-97D8-30A6-D06A-A644E3E3AE7B}"/>
                    </a:ext>
                  </a:extLst>
                </p:cNvPr>
                <p:cNvSpPr/>
                <p:nvPr/>
              </p:nvSpPr>
              <p:spPr>
                <a:xfrm>
                  <a:off x="444260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EDB84B45-292F-AE63-BFD9-9BD2A0A6C09B}"/>
                    </a:ext>
                  </a:extLst>
                </p:cNvPr>
                <p:cNvSpPr/>
                <p:nvPr/>
              </p:nvSpPr>
              <p:spPr>
                <a:xfrm>
                  <a:off x="444260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79DFE7E1-6D3E-7F5E-0796-DA67B8846FE3}"/>
                    </a:ext>
                  </a:extLst>
                </p:cNvPr>
                <p:cNvSpPr/>
                <p:nvPr/>
              </p:nvSpPr>
              <p:spPr>
                <a:xfrm>
                  <a:off x="444260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9" name="Rectangle 388">
                  <a:extLst>
                    <a:ext uri="{FF2B5EF4-FFF2-40B4-BE49-F238E27FC236}">
                      <a16:creationId xmlns:a16="http://schemas.microsoft.com/office/drawing/2014/main" id="{81AB316F-3A85-DE02-0D02-4B71617D56B4}"/>
                    </a:ext>
                  </a:extLst>
                </p:cNvPr>
                <p:cNvSpPr/>
                <p:nvPr/>
              </p:nvSpPr>
              <p:spPr>
                <a:xfrm>
                  <a:off x="444260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54F1100E-206A-B602-83A3-D7C74A850E93}"/>
                  </a:ext>
                </a:extLst>
              </p:cNvPr>
              <p:cNvGrpSpPr/>
              <p:nvPr/>
            </p:nvGrpSpPr>
            <p:grpSpPr>
              <a:xfrm>
                <a:off x="6799828" y="3484707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82" name="Rounded Rectangle 381">
                  <a:extLst>
                    <a:ext uri="{FF2B5EF4-FFF2-40B4-BE49-F238E27FC236}">
                      <a16:creationId xmlns:a16="http://schemas.microsoft.com/office/drawing/2014/main" id="{A2126637-B6BC-F3B1-FA63-02372FFC4602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4FBCCBFD-3575-D97B-EB1C-1EC5002986D8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4" name="Rectangle 383">
                  <a:extLst>
                    <a:ext uri="{FF2B5EF4-FFF2-40B4-BE49-F238E27FC236}">
                      <a16:creationId xmlns:a16="http://schemas.microsoft.com/office/drawing/2014/main" id="{0427A294-6F58-94E2-F12A-74540D6B4752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5" name="Rectangle 384">
                  <a:extLst>
                    <a:ext uri="{FF2B5EF4-FFF2-40B4-BE49-F238E27FC236}">
                      <a16:creationId xmlns:a16="http://schemas.microsoft.com/office/drawing/2014/main" id="{C475FDF0-78CC-9736-510C-6426A457BB98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C49D9FB9-A0A6-C99A-43EB-C62A07BD775B}"/>
                  </a:ext>
                </a:extLst>
              </p:cNvPr>
              <p:cNvGrpSpPr/>
              <p:nvPr/>
            </p:nvGrpSpPr>
            <p:grpSpPr>
              <a:xfrm>
                <a:off x="6409491" y="3626833"/>
                <a:ext cx="1403433" cy="1067566"/>
                <a:chOff x="4357926" y="2852822"/>
                <a:chExt cx="1403433" cy="1067566"/>
              </a:xfrm>
            </p:grpSpPr>
            <p:sp>
              <p:nvSpPr>
                <p:cNvPr id="378" name="Rounded Rectangle 377">
                  <a:extLst>
                    <a:ext uri="{FF2B5EF4-FFF2-40B4-BE49-F238E27FC236}">
                      <a16:creationId xmlns:a16="http://schemas.microsoft.com/office/drawing/2014/main" id="{665F5118-F957-8E9F-1A00-FAD72AD9D744}"/>
                    </a:ext>
                  </a:extLst>
                </p:cNvPr>
                <p:cNvSpPr/>
                <p:nvPr/>
              </p:nvSpPr>
              <p:spPr>
                <a:xfrm>
                  <a:off x="4357926" y="2852822"/>
                  <a:ext cx="1403433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000" b="1" dirty="0">
                      <a:solidFill>
                        <a:schemeClr val="tx1"/>
                      </a:solidFill>
                    </a:rPr>
                    <a:t>➁</a:t>
                  </a:r>
                  <a:r>
                    <a:rPr lang="en-KR" sz="2000" dirty="0">
                      <a:solidFill>
                        <a:schemeClr val="tx1"/>
                      </a:solidFill>
                    </a:rPr>
                    <a:t>Trans. DB</a:t>
                  </a:r>
                </a:p>
              </p:txBody>
            </p:sp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98D01A5F-A823-B422-A5AC-F92A310E9FD1}"/>
                    </a:ext>
                  </a:extLst>
                </p:cNvPr>
                <p:cNvSpPr/>
                <p:nvPr/>
              </p:nvSpPr>
              <p:spPr>
                <a:xfrm>
                  <a:off x="4357926" y="3197756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65D6C9C7-AAF5-C91B-78AE-CB42E20AEF0A}"/>
                    </a:ext>
                  </a:extLst>
                </p:cNvPr>
                <p:cNvSpPr/>
                <p:nvPr/>
              </p:nvSpPr>
              <p:spPr>
                <a:xfrm>
                  <a:off x="4357926" y="3439069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b="1" dirty="0">
                      <a:solidFill>
                        <a:schemeClr val="tx1"/>
                      </a:solidFill>
                    </a:rPr>
                    <a:t>➂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Trans. 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79EB3552-00F0-2F05-22CE-ECFE61AE8178}"/>
                    </a:ext>
                  </a:extLst>
                </p:cNvPr>
                <p:cNvSpPr/>
                <p:nvPr/>
              </p:nvSpPr>
              <p:spPr>
                <a:xfrm>
                  <a:off x="4357926" y="3677780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68" name="Rounded Rectangle 367">
              <a:extLst>
                <a:ext uri="{FF2B5EF4-FFF2-40B4-BE49-F238E27FC236}">
                  <a16:creationId xmlns:a16="http://schemas.microsoft.com/office/drawing/2014/main" id="{202CA8DA-8590-9705-12E6-3D187AE86F48}"/>
                </a:ext>
              </a:extLst>
            </p:cNvPr>
            <p:cNvSpPr/>
            <p:nvPr/>
          </p:nvSpPr>
          <p:spPr>
            <a:xfrm>
              <a:off x="7185515" y="4173378"/>
              <a:ext cx="3442727" cy="50229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00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0AF3C6B8-AAAC-95D5-5D09-ABECCEFAC307}"/>
                </a:ext>
              </a:extLst>
            </p:cNvPr>
            <p:cNvSpPr txBox="1"/>
            <p:nvPr/>
          </p:nvSpPr>
          <p:spPr>
            <a:xfrm>
              <a:off x="7834506" y="4015162"/>
              <a:ext cx="2144745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KR" sz="2100" b="1" u="sng" dirty="0"/>
                <a:t>Abstract Functions</a:t>
              </a:r>
              <a:endParaRPr lang="en-KR" sz="2100" u="sng" dirty="0"/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08F1E874-5EA9-33BF-87BB-061240FB50AB}"/>
                </a:ext>
              </a:extLst>
            </p:cNvPr>
            <p:cNvSpPr txBox="1"/>
            <p:nvPr/>
          </p:nvSpPr>
          <p:spPr>
            <a:xfrm>
              <a:off x="7266923" y="4386826"/>
              <a:ext cx="3279911" cy="23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KR"/>
              </a:defPPr>
              <a:lvl1pPr marL="285750" indent="-177750">
                <a:lnSpc>
                  <a:spcPct val="80000"/>
                </a:lnSpc>
                <a:buFont typeface="Arial" panose="020B0604020202020204" pitchFamily="34" charset="0"/>
                <a:buChar char="•"/>
              </a:lvl1pPr>
            </a:lstStyle>
            <a:p>
              <a:pPr marL="108000" indent="0" algn="ctr">
                <a:buNone/>
              </a:pPr>
              <a:r>
                <a:rPr lang="en-KR" sz="1900" dirty="0"/>
                <a:t>Create / Read / Update / Delete</a:t>
              </a:r>
            </a:p>
          </p:txBody>
        </p:sp>
        <p:sp>
          <p:nvSpPr>
            <p:cNvPr id="363" name="Rounded Rectangle 362">
              <a:extLst>
                <a:ext uri="{FF2B5EF4-FFF2-40B4-BE49-F238E27FC236}">
                  <a16:creationId xmlns:a16="http://schemas.microsoft.com/office/drawing/2014/main" id="{28F36C5D-7A25-C1AC-C1F1-130B01CA0F01}"/>
                </a:ext>
              </a:extLst>
            </p:cNvPr>
            <p:cNvSpPr/>
            <p:nvPr/>
          </p:nvSpPr>
          <p:spPr>
            <a:xfrm>
              <a:off x="7185514" y="4861437"/>
              <a:ext cx="3442727" cy="50229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00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81AF7EBB-0E0D-0EA5-D889-304F4D172DAA}"/>
                </a:ext>
              </a:extLst>
            </p:cNvPr>
            <p:cNvSpPr txBox="1"/>
            <p:nvPr/>
          </p:nvSpPr>
          <p:spPr>
            <a:xfrm>
              <a:off x="7553370" y="4697139"/>
              <a:ext cx="2707014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KR" sz="2100" b="1" u="sng" dirty="0"/>
                <a:t>Customizable Functions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03A5194C-465D-4846-A7F7-F10B5A6299C2}"/>
                </a:ext>
              </a:extLst>
            </p:cNvPr>
            <p:cNvSpPr txBox="1"/>
            <p:nvPr/>
          </p:nvSpPr>
          <p:spPr>
            <a:xfrm>
              <a:off x="7364376" y="5047512"/>
              <a:ext cx="3085012" cy="2397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KR"/>
              </a:defPPr>
              <a:lvl1pPr marL="285750" indent="-177750">
                <a:lnSpc>
                  <a:spcPct val="80000"/>
                </a:lnSpc>
                <a:buFont typeface="Arial" panose="020B0604020202020204" pitchFamily="34" charset="0"/>
                <a:buChar char="•"/>
              </a:lvl1pPr>
            </a:lstStyle>
            <a:p>
              <a:pPr marL="108000" indent="0" algn="ctr">
                <a:buNone/>
              </a:pPr>
              <a:r>
                <a:rPr lang="en-KR" sz="1900" dirty="0"/>
                <a:t>Iterator / Lock / HugePage / ...</a:t>
              </a:r>
            </a:p>
          </p:txBody>
        </p:sp>
      </p:grpSp>
      <p:sp>
        <p:nvSpPr>
          <p:cNvPr id="327" name="Rounded Rectangle 326">
            <a:extLst>
              <a:ext uri="{FF2B5EF4-FFF2-40B4-BE49-F238E27FC236}">
                <a16:creationId xmlns:a16="http://schemas.microsoft.com/office/drawing/2014/main" id="{26B4FC22-5B74-33A6-D2A8-F20EE885136E}"/>
              </a:ext>
            </a:extLst>
          </p:cNvPr>
          <p:cNvSpPr/>
          <p:nvPr/>
        </p:nvSpPr>
        <p:spPr>
          <a:xfrm>
            <a:off x="6832119" y="1933881"/>
            <a:ext cx="3543075" cy="5022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000">
              <a:latin typeface="Times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3C41CFD-71E5-FE6F-9710-3A0761598171}"/>
              </a:ext>
            </a:extLst>
          </p:cNvPr>
          <p:cNvSpPr/>
          <p:nvPr/>
        </p:nvSpPr>
        <p:spPr>
          <a:xfrm>
            <a:off x="6832121" y="2742476"/>
            <a:ext cx="3543075" cy="2338213"/>
          </a:xfrm>
          <a:prstGeom prst="roundRect">
            <a:avLst>
              <a:gd name="adj" fmla="val 325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000">
              <a:latin typeface="Time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39178-CE1F-4CF1-45A2-E9E19AA03C42}"/>
              </a:ext>
            </a:extLst>
          </p:cNvPr>
          <p:cNvSpPr/>
          <p:nvPr/>
        </p:nvSpPr>
        <p:spPr>
          <a:xfrm>
            <a:off x="7128177" y="2989190"/>
            <a:ext cx="2803413" cy="1887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72000" rIns="0" bIns="0" rtlCol="0" anchor="t" anchorCtr="1"/>
          <a:lstStyle/>
          <a:p>
            <a:pPr>
              <a:lnSpc>
                <a:spcPct val="75000"/>
              </a:lnSpc>
            </a:pPr>
            <a:endParaRPr lang="en-KR" sz="2000" b="1" dirty="0">
              <a:solidFill>
                <a:srgbClr val="C00000"/>
              </a:solidFill>
              <a:latin typeface="Time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06ED9C-1808-3087-18FF-812A71403506}"/>
              </a:ext>
            </a:extLst>
          </p:cNvPr>
          <p:cNvSpPr txBox="1"/>
          <p:nvPr/>
        </p:nvSpPr>
        <p:spPr>
          <a:xfrm>
            <a:off x="7224508" y="3081987"/>
            <a:ext cx="2570903" cy="2702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75000"/>
              </a:lnSpc>
            </a:pPr>
            <a:r>
              <a:rPr lang="en-KR" sz="2200" b="1">
                <a:latin typeface="Times" pitchFamily="2" charset="0"/>
              </a:rPr>
              <a:t>➀</a:t>
            </a:r>
            <a:r>
              <a:rPr lang="en-US" sz="500" b="1" dirty="0">
                <a:latin typeface="Times" pitchFamily="2" charset="0"/>
              </a:rPr>
              <a:t> </a:t>
            </a:r>
            <a:r>
              <a:rPr lang="en-US" sz="2200" dirty="0">
                <a:latin typeface="Times" pitchFamily="2" charset="0"/>
              </a:rPr>
              <a:t>Translation</a:t>
            </a:r>
            <a:r>
              <a:rPr lang="en-KR" sz="2200">
                <a:latin typeface="Times" pitchFamily="2" charset="0"/>
              </a:rPr>
              <a:t> </a:t>
            </a:r>
            <a:r>
              <a:rPr lang="en-KR" sz="2200" dirty="0">
                <a:latin typeface="Times" pitchFamily="2" charset="0"/>
              </a:rPr>
              <a:t>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90B7A-CF46-0246-BA38-239EBAF6F693}"/>
              </a:ext>
            </a:extLst>
          </p:cNvPr>
          <p:cNvSpPr txBox="1"/>
          <p:nvPr/>
        </p:nvSpPr>
        <p:spPr>
          <a:xfrm>
            <a:off x="7581460" y="1761997"/>
            <a:ext cx="1890508" cy="32316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2100" b="1" u="sng" dirty="0">
                <a:latin typeface="Times" pitchFamily="2" charset="0"/>
              </a:rPr>
              <a:t>Basic</a:t>
            </a:r>
            <a:r>
              <a:rPr lang="en-KR" sz="2100" b="1" u="sng">
                <a:latin typeface="Times" pitchFamily="2" charset="0"/>
              </a:rPr>
              <a:t> </a:t>
            </a:r>
            <a:r>
              <a:rPr lang="en-KR" sz="2100" b="1" u="sng" dirty="0">
                <a:latin typeface="Times" pitchFamily="2" charset="0"/>
              </a:rPr>
              <a:t>Functions</a:t>
            </a:r>
            <a:endParaRPr lang="en-KR" sz="2100" u="sng" dirty="0">
              <a:latin typeface="Time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AA7E47-AD21-8E6B-A59B-EC9AF4C998BC}"/>
              </a:ext>
            </a:extLst>
          </p:cNvPr>
          <p:cNvSpPr txBox="1"/>
          <p:nvPr/>
        </p:nvSpPr>
        <p:spPr>
          <a:xfrm>
            <a:off x="7013877" y="2133661"/>
            <a:ext cx="3279911" cy="248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KR"/>
            </a:defPPr>
            <a:lvl1pPr marL="285750" indent="-177750">
              <a:lnSpc>
                <a:spcPct val="80000"/>
              </a:lnSpc>
              <a:buFont typeface="Arial" panose="020B0604020202020204" pitchFamily="34" charset="0"/>
              <a:buChar char="•"/>
            </a:lvl1pPr>
          </a:lstStyle>
          <a:p>
            <a:pPr marL="108000" indent="0" algn="ctr">
              <a:buNone/>
            </a:pPr>
            <a:r>
              <a:rPr lang="en-KR" sz="1900" dirty="0">
                <a:latin typeface="Times" pitchFamily="2" charset="0"/>
              </a:rPr>
              <a:t>Create / Read / Update / Delete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D84DC0-07D3-8A48-3914-DDD90A81A3CE}"/>
              </a:ext>
            </a:extLst>
          </p:cNvPr>
          <p:cNvSpPr/>
          <p:nvPr/>
        </p:nvSpPr>
        <p:spPr>
          <a:xfrm>
            <a:off x="6832121" y="1168011"/>
            <a:ext cx="3543075" cy="5022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000">
              <a:latin typeface="Time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699892-784E-A463-9547-7D7C20667AC0}"/>
              </a:ext>
            </a:extLst>
          </p:cNvPr>
          <p:cNvSpPr txBox="1"/>
          <p:nvPr/>
        </p:nvSpPr>
        <p:spPr>
          <a:xfrm>
            <a:off x="7238645" y="1003713"/>
            <a:ext cx="2847502" cy="32316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KR" sz="2100" b="1" u="sng" dirty="0">
                <a:latin typeface="Times" pitchFamily="2" charset="0"/>
              </a:rPr>
              <a:t>Customizable Functions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310F0-F68E-309E-620D-2DACF3FE3EEC}"/>
              </a:ext>
            </a:extLst>
          </p:cNvPr>
          <p:cNvSpPr txBox="1"/>
          <p:nvPr/>
        </p:nvSpPr>
        <p:spPr>
          <a:xfrm>
            <a:off x="7054075" y="1354086"/>
            <a:ext cx="3076163" cy="248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KR"/>
            </a:defPPr>
            <a:lvl1pPr marL="285750" indent="-177750">
              <a:lnSpc>
                <a:spcPct val="80000"/>
              </a:lnSpc>
              <a:buFont typeface="Arial" panose="020B0604020202020204" pitchFamily="34" charset="0"/>
              <a:buChar char="•"/>
            </a:lvl1pPr>
          </a:lstStyle>
          <a:p>
            <a:pPr marL="108000" indent="0" algn="ctr">
              <a:buNone/>
            </a:pPr>
            <a:r>
              <a:rPr lang="en-KR" sz="1900" dirty="0">
                <a:latin typeface="Times" pitchFamily="2" charset="0"/>
              </a:rPr>
              <a:t>Iterator / Lock / HugePage / ...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89AD8214-01D1-29B4-D693-5FCDAF8C469A}"/>
              </a:ext>
            </a:extLst>
          </p:cNvPr>
          <p:cNvSpPr txBox="1"/>
          <p:nvPr/>
        </p:nvSpPr>
        <p:spPr>
          <a:xfrm>
            <a:off x="7639970" y="2555131"/>
            <a:ext cx="2199632" cy="32316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KR" sz="2100" b="1" u="sng" dirty="0">
                <a:latin typeface="Times" pitchFamily="2" charset="0"/>
              </a:rPr>
              <a:t>EMT Abstractions</a:t>
            </a:r>
            <a:endParaRPr lang="en-KR" sz="2100" u="sng" dirty="0">
              <a:latin typeface="Times" pitchFamily="2" charset="0"/>
            </a:endParaRPr>
          </a:p>
        </p:txBody>
      </p:sp>
      <p:sp>
        <p:nvSpPr>
          <p:cNvPr id="324" name="Down Arrow 323">
            <a:extLst>
              <a:ext uri="{FF2B5EF4-FFF2-40B4-BE49-F238E27FC236}">
                <a16:creationId xmlns:a16="http://schemas.microsoft.com/office/drawing/2014/main" id="{2D7684C1-5556-A370-E6F8-DE41F9864122}"/>
              </a:ext>
            </a:extLst>
          </p:cNvPr>
          <p:cNvSpPr/>
          <p:nvPr/>
        </p:nvSpPr>
        <p:spPr>
          <a:xfrm>
            <a:off x="8513081" y="2377547"/>
            <a:ext cx="181155" cy="228723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latin typeface="Times" pitchFamily="2" charset="0"/>
            </a:endParaRPr>
          </a:p>
        </p:txBody>
      </p:sp>
      <p:sp>
        <p:nvSpPr>
          <p:cNvPr id="328" name="Down Arrow 327">
            <a:extLst>
              <a:ext uri="{FF2B5EF4-FFF2-40B4-BE49-F238E27FC236}">
                <a16:creationId xmlns:a16="http://schemas.microsoft.com/office/drawing/2014/main" id="{5B844C53-1096-C88F-F0A3-22F08176BB69}"/>
              </a:ext>
            </a:extLst>
          </p:cNvPr>
          <p:cNvSpPr/>
          <p:nvPr/>
        </p:nvSpPr>
        <p:spPr>
          <a:xfrm>
            <a:off x="8513081" y="1598423"/>
            <a:ext cx="181155" cy="228723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latin typeface="Times" pitchFamily="2" charset="0"/>
            </a:endParaRPr>
          </a:p>
        </p:txBody>
      </p:sp>
      <p:sp>
        <p:nvSpPr>
          <p:cNvPr id="323" name="Rounded Rectangle 322">
            <a:extLst>
              <a:ext uri="{FF2B5EF4-FFF2-40B4-BE49-F238E27FC236}">
                <a16:creationId xmlns:a16="http://schemas.microsoft.com/office/drawing/2014/main" id="{A84A502C-E51A-FA9C-CC62-BD0D87A9174D}"/>
              </a:ext>
            </a:extLst>
          </p:cNvPr>
          <p:cNvSpPr/>
          <p:nvPr/>
        </p:nvSpPr>
        <p:spPr>
          <a:xfrm>
            <a:off x="7625334" y="3355636"/>
            <a:ext cx="2117924" cy="1067566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 anchorCtr="1"/>
          <a:lstStyle/>
          <a:p>
            <a:pPr algn="ctr">
              <a:lnSpc>
                <a:spcPct val="75000"/>
              </a:lnSpc>
            </a:pPr>
            <a:endParaRPr lang="en-KR" sz="20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134C4D8F-E9BB-4334-E1B3-40493E51D0D8}"/>
              </a:ext>
            </a:extLst>
          </p:cNvPr>
          <p:cNvSpPr/>
          <p:nvPr/>
        </p:nvSpPr>
        <p:spPr>
          <a:xfrm>
            <a:off x="7625334" y="3646779"/>
            <a:ext cx="2117924" cy="2426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KR" dirty="0">
                <a:solidFill>
                  <a:schemeClr val="tx1"/>
                </a:solidFill>
                <a:latin typeface="Times" pitchFamily="2" charset="0"/>
              </a:rPr>
              <a:t>...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206AA7F7-52C0-FEAF-5A40-D21AA3C44CFE}"/>
              </a:ext>
            </a:extLst>
          </p:cNvPr>
          <p:cNvSpPr/>
          <p:nvPr/>
        </p:nvSpPr>
        <p:spPr>
          <a:xfrm>
            <a:off x="7625334" y="3886398"/>
            <a:ext cx="2117924" cy="3302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sz="1900" dirty="0">
                <a:solidFill>
                  <a:schemeClr val="tx1"/>
                </a:solidFill>
                <a:latin typeface="Times" pitchFamily="2" charset="0"/>
              </a:rPr>
              <a:t>…</a:t>
            </a:r>
            <a:endParaRPr lang="en-KR" sz="19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EDF379A-CAF0-D898-81D1-A3DD0A040388}"/>
              </a:ext>
            </a:extLst>
          </p:cNvPr>
          <p:cNvSpPr/>
          <p:nvPr/>
        </p:nvSpPr>
        <p:spPr>
          <a:xfrm>
            <a:off x="7625334" y="4180594"/>
            <a:ext cx="2117924" cy="24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...</a:t>
            </a:r>
            <a:endParaRPr lang="en-KR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32" name="Rounded Rectangle 331">
            <a:extLst>
              <a:ext uri="{FF2B5EF4-FFF2-40B4-BE49-F238E27FC236}">
                <a16:creationId xmlns:a16="http://schemas.microsoft.com/office/drawing/2014/main" id="{77E30FA5-CAF8-D6D3-9742-2FF4081B0E23}"/>
              </a:ext>
            </a:extLst>
          </p:cNvPr>
          <p:cNvSpPr/>
          <p:nvPr/>
        </p:nvSpPr>
        <p:spPr>
          <a:xfrm>
            <a:off x="7490017" y="3491703"/>
            <a:ext cx="2117924" cy="1067566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 anchorCtr="1"/>
          <a:lstStyle/>
          <a:p>
            <a:pPr algn="ctr">
              <a:lnSpc>
                <a:spcPct val="75000"/>
              </a:lnSpc>
            </a:pPr>
            <a:endParaRPr lang="en-KR" sz="20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DA026CB6-43B2-13E0-7C80-47C9B9C8C539}"/>
              </a:ext>
            </a:extLst>
          </p:cNvPr>
          <p:cNvSpPr/>
          <p:nvPr/>
        </p:nvSpPr>
        <p:spPr>
          <a:xfrm>
            <a:off x="7490017" y="3782846"/>
            <a:ext cx="2117924" cy="2426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KR" dirty="0">
                <a:solidFill>
                  <a:schemeClr val="tx1"/>
                </a:solidFill>
                <a:latin typeface="Times" pitchFamily="2" charset="0"/>
              </a:rPr>
              <a:t>...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A4A161C8-554B-B24E-ADE7-3B61C8D5057B}"/>
              </a:ext>
            </a:extLst>
          </p:cNvPr>
          <p:cNvSpPr/>
          <p:nvPr/>
        </p:nvSpPr>
        <p:spPr>
          <a:xfrm>
            <a:off x="7490017" y="4022465"/>
            <a:ext cx="2117924" cy="3302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sz="1900" dirty="0">
                <a:solidFill>
                  <a:schemeClr val="tx1"/>
                </a:solidFill>
                <a:latin typeface="Times" pitchFamily="2" charset="0"/>
              </a:rPr>
              <a:t>…</a:t>
            </a:r>
            <a:endParaRPr lang="en-KR" sz="19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74E26FEE-7C2E-EF20-EFB8-0A37E73B4C53}"/>
              </a:ext>
            </a:extLst>
          </p:cNvPr>
          <p:cNvSpPr/>
          <p:nvPr/>
        </p:nvSpPr>
        <p:spPr>
          <a:xfrm>
            <a:off x="7490017" y="4316661"/>
            <a:ext cx="2117924" cy="24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...</a:t>
            </a:r>
            <a:endParaRPr lang="en-KR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37" name="Rounded Rectangle 336">
            <a:extLst>
              <a:ext uri="{FF2B5EF4-FFF2-40B4-BE49-F238E27FC236}">
                <a16:creationId xmlns:a16="http://schemas.microsoft.com/office/drawing/2014/main" id="{BD642376-A90A-8210-86F2-D25FEF8E3D34}"/>
              </a:ext>
            </a:extLst>
          </p:cNvPr>
          <p:cNvSpPr/>
          <p:nvPr/>
        </p:nvSpPr>
        <p:spPr>
          <a:xfrm>
            <a:off x="7328670" y="3627770"/>
            <a:ext cx="2117924" cy="1067566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t" anchorCtr="1"/>
          <a:lstStyle/>
          <a:p>
            <a:pPr algn="ctr">
              <a:lnSpc>
                <a:spcPct val="75000"/>
              </a:lnSpc>
            </a:pPr>
            <a:r>
              <a:rPr lang="en-KR" sz="2000" b="1">
                <a:solidFill>
                  <a:schemeClr val="tx1"/>
                </a:solidFill>
                <a:latin typeface="Times" pitchFamily="2" charset="0"/>
              </a:rPr>
              <a:t>➁</a:t>
            </a:r>
            <a:r>
              <a:rPr lang="en-US" sz="500" b="1" dirty="0">
                <a:solidFill>
                  <a:schemeClr val="tx1"/>
                </a:solidFill>
                <a:latin typeface="Times" pitchFamily="2" charset="0"/>
              </a:rPr>
              <a:t>  </a:t>
            </a:r>
            <a:r>
              <a:rPr lang="en-KR" sz="2000">
                <a:solidFill>
                  <a:schemeClr val="tx1"/>
                </a:solidFill>
                <a:latin typeface="Times" pitchFamily="2" charset="0"/>
              </a:rPr>
              <a:t>Trans</a:t>
            </a:r>
            <a:r>
              <a:rPr lang="en-US" sz="2000" dirty="0" err="1">
                <a:solidFill>
                  <a:schemeClr val="tx1"/>
                </a:solidFill>
                <a:latin typeface="Times" pitchFamily="2" charset="0"/>
              </a:rPr>
              <a:t>lation</a:t>
            </a:r>
            <a:r>
              <a:rPr lang="en-KR" sz="200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KR" sz="2000" dirty="0">
                <a:solidFill>
                  <a:schemeClr val="tx1"/>
                </a:solidFill>
                <a:latin typeface="Times" pitchFamily="2" charset="0"/>
              </a:rPr>
              <a:t>DB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72B9879E-743A-B5F1-124A-5E42C672FD15}"/>
              </a:ext>
            </a:extLst>
          </p:cNvPr>
          <p:cNvSpPr/>
          <p:nvPr/>
        </p:nvSpPr>
        <p:spPr>
          <a:xfrm>
            <a:off x="7328670" y="3918913"/>
            <a:ext cx="2117924" cy="2426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KR">
                <a:solidFill>
                  <a:schemeClr val="tx1"/>
                </a:solidFill>
                <a:latin typeface="Times" pitchFamily="2" charset="0"/>
              </a:rPr>
              <a:t>…</a:t>
            </a:r>
            <a:endParaRPr lang="en-KR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2F08A4C6-13A4-839D-7A3B-58FBBB2F3102}"/>
              </a:ext>
            </a:extLst>
          </p:cNvPr>
          <p:cNvSpPr/>
          <p:nvPr/>
        </p:nvSpPr>
        <p:spPr>
          <a:xfrm>
            <a:off x="7328670" y="4158532"/>
            <a:ext cx="2117924" cy="3302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sz="2000" b="1" dirty="0">
                <a:solidFill>
                  <a:schemeClr val="tx1"/>
                </a:solidFill>
                <a:latin typeface="Times" pitchFamily="2" charset="0"/>
              </a:rPr>
              <a:t>➂</a:t>
            </a:r>
            <a:r>
              <a:rPr lang="en-US" sz="500" b="1" dirty="0">
                <a:solidFill>
                  <a:schemeClr val="tx1"/>
                </a:solidFill>
                <a:latin typeface="Times" pitchFamily="2" charset="0"/>
              </a:rPr>
              <a:t> </a:t>
            </a:r>
            <a:r>
              <a:rPr lang="en-US" sz="1900" dirty="0">
                <a:solidFill>
                  <a:schemeClr val="tx1"/>
                </a:solidFill>
                <a:latin typeface="Times" pitchFamily="2" charset="0"/>
              </a:rPr>
              <a:t>Translation Entry</a:t>
            </a:r>
            <a:endParaRPr lang="en-KR" sz="1900" dirty="0">
              <a:solidFill>
                <a:schemeClr val="tx1"/>
              </a:solidFill>
              <a:latin typeface="Times" pitchFamily="2" charset="0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7BE15F36-6135-65BD-8355-ABA347BB3E6B}"/>
              </a:ext>
            </a:extLst>
          </p:cNvPr>
          <p:cNvSpPr/>
          <p:nvPr/>
        </p:nvSpPr>
        <p:spPr>
          <a:xfrm>
            <a:off x="7328670" y="4452728"/>
            <a:ext cx="2117924" cy="2426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36000" rIns="0" bIns="0" rtlCol="0" anchor="ctr" anchorCtr="1"/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…</a:t>
            </a:r>
            <a:endParaRPr lang="en-KR" dirty="0">
              <a:solidFill>
                <a:schemeClr val="tx1"/>
              </a:solidFill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48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979F41-98B9-762E-CAA4-2952E486AE7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2582" y="241315"/>
            <a:ext cx="3862768" cy="34015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336E79-FAF6-0018-11A2-C37E65DEB6A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05350" y="241316"/>
            <a:ext cx="3825302" cy="34015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FF07C-D805-E46F-2987-F39EF77B17D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65718" y="0"/>
            <a:ext cx="3727702" cy="3993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D8787C-0D45-DFA4-4263-7C8542A073A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27435" y="3969512"/>
            <a:ext cx="3578752" cy="28884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817BB-6AE9-4C99-FB43-CF7F2F6300D4}"/>
              </a:ext>
            </a:extLst>
          </p:cNvPr>
          <p:cNvSpPr txBox="1"/>
          <p:nvPr/>
        </p:nvSpPr>
        <p:spPr>
          <a:xfrm>
            <a:off x="5154876" y="0"/>
            <a:ext cx="172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Essential groups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390014-8D05-C00B-CB8C-7597DA604CDE}"/>
              </a:ext>
            </a:extLst>
          </p:cNvPr>
          <p:cNvSpPr txBox="1"/>
          <p:nvPr/>
        </p:nvSpPr>
        <p:spPr>
          <a:xfrm>
            <a:off x="4948140" y="3697721"/>
            <a:ext cx="2127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Optimization groups</a:t>
            </a:r>
          </a:p>
        </p:txBody>
      </p:sp>
    </p:spTree>
    <p:extLst>
      <p:ext uri="{BB962C8B-B14F-4D97-AF65-F5344CB8AC3E}">
        <p14:creationId xmlns:p14="http://schemas.microsoft.com/office/powerpoint/2010/main" val="2744018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568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 (updated 2024-04-19)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4CF3A0-B4F2-37BD-6590-FC9BDCA45BDB}"/>
              </a:ext>
            </a:extLst>
          </p:cNvPr>
          <p:cNvGrpSpPr/>
          <p:nvPr/>
        </p:nvGrpSpPr>
        <p:grpSpPr>
          <a:xfrm>
            <a:off x="2391289" y="1956057"/>
            <a:ext cx="6169387" cy="2945886"/>
            <a:chOff x="2391289" y="1956057"/>
            <a:chExt cx="6169387" cy="294588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6C9CCB-E0A2-AD30-68AD-889C8A8AADC0}"/>
                </a:ext>
              </a:extLst>
            </p:cNvPr>
            <p:cNvSpPr/>
            <p:nvPr/>
          </p:nvSpPr>
          <p:spPr>
            <a:xfrm>
              <a:off x="3289215" y="1956057"/>
              <a:ext cx="5271454" cy="183678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789048-9C00-10FD-16AF-079659D68728}"/>
                </a:ext>
              </a:extLst>
            </p:cNvPr>
            <p:cNvSpPr/>
            <p:nvPr/>
          </p:nvSpPr>
          <p:spPr>
            <a:xfrm>
              <a:off x="3289214" y="3867872"/>
              <a:ext cx="5269488" cy="7645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EA99E3-2082-7CE1-6726-FAA7562A4CC1}"/>
                </a:ext>
              </a:extLst>
            </p:cNvPr>
            <p:cNvSpPr/>
            <p:nvPr/>
          </p:nvSpPr>
          <p:spPr>
            <a:xfrm>
              <a:off x="5268078" y="2187230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387D655-08BF-2195-1692-27E548B0B540}"/>
                </a:ext>
              </a:extLst>
            </p:cNvPr>
            <p:cNvSpPr/>
            <p:nvPr/>
          </p:nvSpPr>
          <p:spPr>
            <a:xfrm>
              <a:off x="6987013" y="2187230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System Calls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read,fsync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88CD99E-1083-7D44-AED1-17D795AE1593}"/>
                </a:ext>
              </a:extLst>
            </p:cNvPr>
            <p:cNvSpPr/>
            <p:nvPr/>
          </p:nvSpPr>
          <p:spPr>
            <a:xfrm>
              <a:off x="7123570" y="2732077"/>
              <a:ext cx="1300548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  <a:latin typeface="Times" pitchFamily="2" charset="0"/>
                </a:rPr>
                <a:t>VFS</a:t>
              </a:r>
              <a:endParaRPr lang="en-KR" b="1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C91F0D-B654-7DAA-C60B-B6C527E47CE3}"/>
                </a:ext>
              </a:extLst>
            </p:cNvPr>
            <p:cNvSpPr/>
            <p:nvPr/>
          </p:nvSpPr>
          <p:spPr>
            <a:xfrm>
              <a:off x="5268078" y="2732077"/>
              <a:ext cx="1573663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cmpd="dbl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rgbClr val="C00000"/>
                  </a:solidFill>
                  <a:latin typeface="Times" pitchFamily="2" charset="0"/>
                </a:rPr>
                <a:t>EMT</a:t>
              </a:r>
              <a:endParaRPr lang="en-KR" b="1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F15E28-1F30-E021-B1D6-63A026E2D432}"/>
                </a:ext>
              </a:extLst>
            </p:cNvPr>
            <p:cNvSpPr txBox="1"/>
            <p:nvPr/>
          </p:nvSpPr>
          <p:spPr>
            <a:xfrm>
              <a:off x="3301858" y="4477920"/>
              <a:ext cx="708527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400" dirty="0">
                  <a:solidFill>
                    <a:schemeClr val="tx1"/>
                  </a:solidFill>
                  <a:latin typeface="Times" pitchFamily="2" charset="0"/>
                </a:rPr>
                <a:t>Hardware</a:t>
              </a:r>
              <a:endParaRPr lang="en-KR" sz="1600" dirty="0">
                <a:solidFill>
                  <a:schemeClr val="tx1"/>
                </a:solidFill>
                <a:latin typeface="Times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57EDA6-19F8-54EA-5025-0247AEFB8278}"/>
                </a:ext>
              </a:extLst>
            </p:cNvPr>
            <p:cNvSpPr txBox="1"/>
            <p:nvPr/>
          </p:nvSpPr>
          <p:spPr>
            <a:xfrm>
              <a:off x="2464228" y="2098810"/>
              <a:ext cx="837089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Neutral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782062-297D-859D-043B-AE30CF869BDC}"/>
                </a:ext>
              </a:extLst>
            </p:cNvPr>
            <p:cNvSpPr txBox="1"/>
            <p:nvPr/>
          </p:nvSpPr>
          <p:spPr>
            <a:xfrm>
              <a:off x="3300884" y="1975858"/>
              <a:ext cx="1292020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400" dirty="0">
                  <a:latin typeface="Times" pitchFamily="2" charset="0"/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B9730C-A1BB-1EA5-731D-C6670F6650A7}"/>
                </a:ext>
              </a:extLst>
            </p:cNvPr>
            <p:cNvSpPr txBox="1"/>
            <p:nvPr/>
          </p:nvSpPr>
          <p:spPr>
            <a:xfrm>
              <a:off x="2433771" y="3238263"/>
              <a:ext cx="898003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Specific</a:t>
              </a:r>
              <a:endParaRPr lang="en-US" sz="1700" dirty="0">
                <a:latin typeface="Time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95A3142-C18A-3385-6FD1-472C886CC42B}"/>
                </a:ext>
              </a:extLst>
            </p:cNvPr>
            <p:cNvSpPr txBox="1"/>
            <p:nvPr/>
          </p:nvSpPr>
          <p:spPr>
            <a:xfrm>
              <a:off x="2391289" y="3847414"/>
              <a:ext cx="982962" cy="709481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Data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Structure</a:t>
              </a:r>
              <a:endParaRPr lang="en-KR" sz="1700" dirty="0">
                <a:latin typeface="Times" pitchFamily="2" charset="0"/>
              </a:endParaRP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(Logic)</a:t>
              </a:r>
              <a:endParaRPr lang="en-KR" sz="1700" dirty="0">
                <a:latin typeface="Times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06DAEAF-D8E2-D8A3-4434-4D7F406028CC}"/>
                </a:ext>
              </a:extLst>
            </p:cNvPr>
            <p:cNvSpPr txBox="1"/>
            <p:nvPr/>
          </p:nvSpPr>
          <p:spPr>
            <a:xfrm>
              <a:off x="2404916" y="2657449"/>
              <a:ext cx="955711" cy="53744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1E21C2-131D-99FC-4813-258AF9A7218E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2624970"/>
              <a:ext cx="61056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A93C223-DD19-869E-C8BB-5596774BC064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3197838"/>
              <a:ext cx="61056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A14F9733-F08F-519F-FD4E-3BFCD56AD8CF}"/>
                </a:ext>
              </a:extLst>
            </p:cNvPr>
            <p:cNvSpPr/>
            <p:nvPr/>
          </p:nvSpPr>
          <p:spPr>
            <a:xfrm>
              <a:off x="3370174" y="2187230"/>
              <a:ext cx="1710941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49FA9B-D235-04FF-0AC1-91839DB10F79}"/>
                </a:ext>
              </a:extLst>
            </p:cNvPr>
            <p:cNvSpPr/>
            <p:nvPr/>
          </p:nvSpPr>
          <p:spPr>
            <a:xfrm>
              <a:off x="3360129" y="2187230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4B5C94C-200E-D521-93C2-FA523ACD6B8B}"/>
                </a:ext>
              </a:extLst>
            </p:cNvPr>
            <p:cNvSpPr/>
            <p:nvPr/>
          </p:nvSpPr>
          <p:spPr>
            <a:xfrm>
              <a:off x="3360129" y="3937601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F449D6-B91E-339D-C319-D29C405B2918}"/>
                </a:ext>
              </a:extLst>
            </p:cNvPr>
            <p:cNvSpPr/>
            <p:nvPr/>
          </p:nvSpPr>
          <p:spPr>
            <a:xfrm>
              <a:off x="3360129" y="3274927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Page Table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F214674-440A-7BE8-D59D-3A18FC8B260B}"/>
                </a:ext>
              </a:extLst>
            </p:cNvPr>
            <p:cNvSpPr/>
            <p:nvPr/>
          </p:nvSpPr>
          <p:spPr>
            <a:xfrm>
              <a:off x="3438812" y="2732077"/>
              <a:ext cx="1573663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No Interface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4F6A1E-F6CF-49AB-174E-3AF91FFB1E0E}"/>
                </a:ext>
              </a:extLst>
            </p:cNvPr>
            <p:cNvSpPr txBox="1"/>
            <p:nvPr/>
          </p:nvSpPr>
          <p:spPr>
            <a:xfrm>
              <a:off x="3975461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963B0FC4-72D0-121B-F3F4-622E451618DF}"/>
                </a:ext>
              </a:extLst>
            </p:cNvPr>
            <p:cNvSpPr/>
            <p:nvPr/>
          </p:nvSpPr>
          <p:spPr>
            <a:xfrm>
              <a:off x="5208612" y="3261846"/>
              <a:ext cx="1692595" cy="1172377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04EBD8DC-EC62-A705-A352-A880F7CBB9A9}"/>
                </a:ext>
              </a:extLst>
            </p:cNvPr>
            <p:cNvSpPr/>
            <p:nvPr/>
          </p:nvSpPr>
          <p:spPr>
            <a:xfrm>
              <a:off x="7107502" y="3261846"/>
              <a:ext cx="1332685" cy="1172377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Times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560EFB-FA67-3C8C-5B39-3D4A95A45DB7}"/>
                </a:ext>
              </a:extLst>
            </p:cNvPr>
            <p:cNvSpPr/>
            <p:nvPr/>
          </p:nvSpPr>
          <p:spPr>
            <a:xfrm>
              <a:off x="7123570" y="3274927"/>
              <a:ext cx="1300548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A50458B-95DB-3D52-BC7A-17E8CF91245D}"/>
                </a:ext>
              </a:extLst>
            </p:cNvPr>
            <p:cNvSpPr/>
            <p:nvPr/>
          </p:nvSpPr>
          <p:spPr>
            <a:xfrm>
              <a:off x="7236428" y="3903098"/>
              <a:ext cx="1074833" cy="2155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On-disk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98D6D4-D11B-0227-E164-8AAE4C687395}"/>
                </a:ext>
              </a:extLst>
            </p:cNvPr>
            <p:cNvSpPr/>
            <p:nvPr/>
          </p:nvSpPr>
          <p:spPr>
            <a:xfrm>
              <a:off x="5268078" y="3937601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83B549C-82E5-2EEA-1352-09701D324031}"/>
                </a:ext>
              </a:extLst>
            </p:cNvPr>
            <p:cNvSpPr/>
            <p:nvPr/>
          </p:nvSpPr>
          <p:spPr>
            <a:xfrm>
              <a:off x="5268078" y="3296951"/>
              <a:ext cx="1573663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cmpd="dbl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  <a:latin typeface="Times" pitchFamily="2" charset="0"/>
                </a:rPr>
                <a:t>MMU Driver</a:t>
              </a:r>
              <a:endParaRPr lang="en-KR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3820A5F-9E6C-1D18-8289-D65FF150FAB9}"/>
                </a:ext>
              </a:extLst>
            </p:cNvPr>
            <p:cNvSpPr txBox="1"/>
            <p:nvPr/>
          </p:nvSpPr>
          <p:spPr>
            <a:xfrm>
              <a:off x="5293290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3C0851E-22DF-A3CD-8AB6-D292DA6868C2}"/>
                </a:ext>
              </a:extLst>
            </p:cNvPr>
            <p:cNvSpPr txBox="1"/>
            <p:nvPr/>
          </p:nvSpPr>
          <p:spPr>
            <a:xfrm>
              <a:off x="5764046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EA4687F-A4D5-2580-9CA4-E3C10701B66E}"/>
                </a:ext>
              </a:extLst>
            </p:cNvPr>
            <p:cNvSpPr txBox="1"/>
            <p:nvPr/>
          </p:nvSpPr>
          <p:spPr>
            <a:xfrm>
              <a:off x="6231533" y="3533613"/>
              <a:ext cx="472731" cy="1838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Hybrid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19F674-ACD2-F44E-66D9-28E05047C023}"/>
                </a:ext>
              </a:extLst>
            </p:cNvPr>
            <p:cNvSpPr txBox="1"/>
            <p:nvPr/>
          </p:nvSpPr>
          <p:spPr>
            <a:xfrm>
              <a:off x="5397171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AEFE21-36E5-9F15-FC38-BD5290B818C9}"/>
                </a:ext>
              </a:extLst>
            </p:cNvPr>
            <p:cNvSpPr txBox="1"/>
            <p:nvPr/>
          </p:nvSpPr>
          <p:spPr>
            <a:xfrm>
              <a:off x="5954299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E508EB-6B63-100A-1016-79C4E6FC3C8F}"/>
                </a:ext>
              </a:extLst>
            </p:cNvPr>
            <p:cNvSpPr txBox="1"/>
            <p:nvPr/>
          </p:nvSpPr>
          <p:spPr>
            <a:xfrm>
              <a:off x="7213379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Ext4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F4FBCCD-58EF-0421-ECC5-B70C20732CFE}"/>
                </a:ext>
              </a:extLst>
            </p:cNvPr>
            <p:cNvSpPr txBox="1"/>
            <p:nvPr/>
          </p:nvSpPr>
          <p:spPr>
            <a:xfrm>
              <a:off x="7720250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Btrfs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552A9A-8CD8-D67A-04A5-F83BCAF0ADE4}"/>
                </a:ext>
              </a:extLst>
            </p:cNvPr>
            <p:cNvSpPr txBox="1"/>
            <p:nvPr/>
          </p:nvSpPr>
          <p:spPr>
            <a:xfrm>
              <a:off x="6390619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8B1506-CFB8-2645-D710-033EE5EF3C1C}"/>
                </a:ext>
              </a:extLst>
            </p:cNvPr>
            <p:cNvSpPr txBox="1"/>
            <p:nvPr/>
          </p:nvSpPr>
          <p:spPr>
            <a:xfrm>
              <a:off x="6623440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402822A-29B0-7B55-0B20-38A487E5FF0A}"/>
                </a:ext>
              </a:extLst>
            </p:cNvPr>
            <p:cNvSpPr txBox="1"/>
            <p:nvPr/>
          </p:nvSpPr>
          <p:spPr>
            <a:xfrm>
              <a:off x="7231004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Extent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15292E-46D9-9C52-9BDE-AB930DB07459}"/>
                </a:ext>
              </a:extLst>
            </p:cNvPr>
            <p:cNvSpPr txBox="1"/>
            <p:nvPr/>
          </p:nvSpPr>
          <p:spPr>
            <a:xfrm>
              <a:off x="7720250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B-tree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9A0FB2B-2BC3-2B32-D405-A7CED171FF1F}"/>
                </a:ext>
              </a:extLst>
            </p:cNvPr>
            <p:cNvSpPr txBox="1"/>
            <p:nvPr/>
          </p:nvSpPr>
          <p:spPr>
            <a:xfrm>
              <a:off x="8151431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393BB0F-8CCB-E3C2-A975-78A71CAF0BB5}"/>
                </a:ext>
              </a:extLst>
            </p:cNvPr>
            <p:cNvSpPr txBox="1"/>
            <p:nvPr/>
          </p:nvSpPr>
          <p:spPr>
            <a:xfrm>
              <a:off x="8156259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C127D2-A3CF-E7BD-EBC7-82C2724151D6}"/>
                </a:ext>
              </a:extLst>
            </p:cNvPr>
            <p:cNvSpPr txBox="1"/>
            <p:nvPr/>
          </p:nvSpPr>
          <p:spPr>
            <a:xfrm>
              <a:off x="3844196" y="4692014"/>
              <a:ext cx="1263231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Vanilla</a:t>
              </a:r>
              <a:r>
                <a:rPr lang="en-KR" dirty="0">
                  <a:latin typeface="Times" pitchFamily="2" charset="0"/>
                </a:rPr>
                <a:t> 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AB4D460-0A3D-4DB6-CFC6-EE0AE305627C}"/>
                </a:ext>
              </a:extLst>
            </p:cNvPr>
            <p:cNvSpPr txBox="1"/>
            <p:nvPr/>
          </p:nvSpPr>
          <p:spPr>
            <a:xfrm>
              <a:off x="5507644" y="4692014"/>
              <a:ext cx="1094530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>
                  <a:latin typeface="Times" pitchFamily="2" charset="0"/>
                </a:rPr>
                <a:t>EMT</a:t>
              </a:r>
              <a:r>
                <a:rPr lang="en-US" dirty="0">
                  <a:latin typeface="Times" pitchFamily="2" charset="0"/>
                </a:rPr>
                <a:t>-Linux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0580D1B-0C08-A412-2B73-95DECD7FCD77}"/>
                </a:ext>
              </a:extLst>
            </p:cNvPr>
            <p:cNvSpPr txBox="1"/>
            <p:nvPr/>
          </p:nvSpPr>
          <p:spPr>
            <a:xfrm>
              <a:off x="7123025" y="4692014"/>
              <a:ext cx="1301638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VFS Interface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C96104-202E-2E66-A1C3-85890994F9BD}"/>
                </a:ext>
              </a:extLst>
            </p:cNvPr>
            <p:cNvCxnSpPr>
              <a:cxnSpLocks/>
            </p:cNvCxnSpPr>
            <p:nvPr/>
          </p:nvCxnSpPr>
          <p:spPr>
            <a:xfrm>
              <a:off x="7009454" y="2230244"/>
              <a:ext cx="0" cy="2638362"/>
            </a:xfrm>
            <a:prstGeom prst="line">
              <a:avLst/>
            </a:prstGeom>
            <a:ln w="25400" cmpd="dbl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098E40-4A21-01D2-76B5-C828CD717646}"/>
                </a:ext>
              </a:extLst>
            </p:cNvPr>
            <p:cNvSpPr/>
            <p:nvPr/>
          </p:nvSpPr>
          <p:spPr>
            <a:xfrm>
              <a:off x="7753600" y="197909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dirty="0">
                  <a:solidFill>
                    <a:schemeClr val="accent5">
                      <a:lumMod val="75000"/>
                    </a:schemeClr>
                  </a:solidFill>
                  <a:latin typeface="Times" pitchFamily="2" charset="0"/>
                </a:rPr>
                <a:t>Coupled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8D8541-470F-B744-CC93-4E701F996EF6}"/>
                </a:ext>
              </a:extLst>
            </p:cNvPr>
            <p:cNvSpPr/>
            <p:nvPr/>
          </p:nvSpPr>
          <p:spPr>
            <a:xfrm>
              <a:off x="6481749" y="1993406"/>
              <a:ext cx="1196716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 cmpd="dbl">
              <a:solidFill>
                <a:schemeClr val="dk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dirty="0">
                  <a:solidFill>
                    <a:srgbClr val="C00000"/>
                  </a:solidFill>
                  <a:latin typeface="Times" pitchFamily="2" charset="0"/>
                </a:rPr>
                <a:t>Proposed layer</a:t>
              </a:r>
              <a:endParaRPr lang="en-KR" sz="1400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524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568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 (updated 2024-04-18)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4CF3A0-B4F2-37BD-6590-FC9BDCA45BDB}"/>
              </a:ext>
            </a:extLst>
          </p:cNvPr>
          <p:cNvGrpSpPr/>
          <p:nvPr/>
        </p:nvGrpSpPr>
        <p:grpSpPr>
          <a:xfrm>
            <a:off x="2391289" y="1956057"/>
            <a:ext cx="6169387" cy="2945886"/>
            <a:chOff x="2391289" y="1956057"/>
            <a:chExt cx="6169387" cy="294588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6C9CCB-E0A2-AD30-68AD-889C8A8AADC0}"/>
                </a:ext>
              </a:extLst>
            </p:cNvPr>
            <p:cNvSpPr/>
            <p:nvPr/>
          </p:nvSpPr>
          <p:spPr>
            <a:xfrm>
              <a:off x="3289215" y="1956057"/>
              <a:ext cx="5271454" cy="18367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789048-9C00-10FD-16AF-079659D68728}"/>
                </a:ext>
              </a:extLst>
            </p:cNvPr>
            <p:cNvSpPr/>
            <p:nvPr/>
          </p:nvSpPr>
          <p:spPr>
            <a:xfrm>
              <a:off x="3289214" y="3867872"/>
              <a:ext cx="5269488" cy="76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EA99E3-2082-7CE1-6726-FAA7562A4CC1}"/>
                </a:ext>
              </a:extLst>
            </p:cNvPr>
            <p:cNvSpPr/>
            <p:nvPr/>
          </p:nvSpPr>
          <p:spPr>
            <a:xfrm>
              <a:off x="5268078" y="2187230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387D655-08BF-2195-1692-27E548B0B540}"/>
                </a:ext>
              </a:extLst>
            </p:cNvPr>
            <p:cNvSpPr/>
            <p:nvPr/>
          </p:nvSpPr>
          <p:spPr>
            <a:xfrm>
              <a:off x="6987013" y="2187230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System Calls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read,fsync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,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88CD99E-1083-7D44-AED1-17D795AE1593}"/>
                </a:ext>
              </a:extLst>
            </p:cNvPr>
            <p:cNvSpPr/>
            <p:nvPr/>
          </p:nvSpPr>
          <p:spPr>
            <a:xfrm>
              <a:off x="7123570" y="2732077"/>
              <a:ext cx="1300548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  <a:latin typeface="Times" pitchFamily="2" charset="0"/>
                </a:rPr>
                <a:t>VFS</a:t>
              </a:r>
              <a:endParaRPr lang="en-KR" b="1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C91F0D-B654-7DAA-C60B-B6C527E47CE3}"/>
                </a:ext>
              </a:extLst>
            </p:cNvPr>
            <p:cNvSpPr/>
            <p:nvPr/>
          </p:nvSpPr>
          <p:spPr>
            <a:xfrm>
              <a:off x="5268078" y="2732077"/>
              <a:ext cx="1573663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rgbClr val="C00000"/>
                  </a:solidFill>
                  <a:latin typeface="Times" pitchFamily="2" charset="0"/>
                </a:rPr>
                <a:t>EMT</a:t>
              </a:r>
              <a:endParaRPr lang="en-KR" b="1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F15E28-1F30-E021-B1D6-63A026E2D432}"/>
                </a:ext>
              </a:extLst>
            </p:cNvPr>
            <p:cNvSpPr txBox="1"/>
            <p:nvPr/>
          </p:nvSpPr>
          <p:spPr>
            <a:xfrm>
              <a:off x="3301858" y="4477920"/>
              <a:ext cx="708527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400" dirty="0">
                  <a:solidFill>
                    <a:schemeClr val="tx1"/>
                  </a:solidFill>
                  <a:latin typeface="Times" pitchFamily="2" charset="0"/>
                </a:rPr>
                <a:t>Hardware</a:t>
              </a:r>
              <a:endParaRPr lang="en-KR" sz="1600" dirty="0">
                <a:solidFill>
                  <a:schemeClr val="tx1"/>
                </a:solidFill>
                <a:latin typeface="Times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57EDA6-19F8-54EA-5025-0247AEFB8278}"/>
                </a:ext>
              </a:extLst>
            </p:cNvPr>
            <p:cNvSpPr txBox="1"/>
            <p:nvPr/>
          </p:nvSpPr>
          <p:spPr>
            <a:xfrm>
              <a:off x="2464228" y="2098810"/>
              <a:ext cx="837089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Neutral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782062-297D-859D-043B-AE30CF869BDC}"/>
                </a:ext>
              </a:extLst>
            </p:cNvPr>
            <p:cNvSpPr txBox="1"/>
            <p:nvPr/>
          </p:nvSpPr>
          <p:spPr>
            <a:xfrm>
              <a:off x="3300884" y="1975858"/>
              <a:ext cx="1292020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400" dirty="0">
                  <a:latin typeface="Times" pitchFamily="2" charset="0"/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B9730C-A1BB-1EA5-731D-C6670F6650A7}"/>
                </a:ext>
              </a:extLst>
            </p:cNvPr>
            <p:cNvSpPr txBox="1"/>
            <p:nvPr/>
          </p:nvSpPr>
          <p:spPr>
            <a:xfrm>
              <a:off x="2433771" y="3238263"/>
              <a:ext cx="898003" cy="513273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Specific</a:t>
              </a:r>
              <a:endParaRPr lang="en-US" sz="1700" dirty="0">
                <a:latin typeface="Time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95A3142-C18A-3385-6FD1-472C886CC42B}"/>
                </a:ext>
              </a:extLst>
            </p:cNvPr>
            <p:cNvSpPr txBox="1"/>
            <p:nvPr/>
          </p:nvSpPr>
          <p:spPr>
            <a:xfrm>
              <a:off x="2391289" y="3847414"/>
              <a:ext cx="982962" cy="709481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700" dirty="0">
                  <a:latin typeface="Times" pitchFamily="2" charset="0"/>
                </a:rPr>
                <a:t>Data</a:t>
              </a: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Structure</a:t>
              </a:r>
              <a:endParaRPr lang="en-KR" sz="1700" dirty="0">
                <a:latin typeface="Times" pitchFamily="2" charset="0"/>
              </a:endParaRPr>
            </a:p>
            <a:p>
              <a:pPr algn="ctr">
                <a:lnSpc>
                  <a:spcPct val="75000"/>
                </a:lnSpc>
              </a:pPr>
              <a:r>
                <a:rPr lang="en-KR" sz="1700">
                  <a:latin typeface="Times" pitchFamily="2" charset="0"/>
                </a:rPr>
                <a:t>(Logic)</a:t>
              </a:r>
              <a:endParaRPr lang="en-KR" sz="1700" dirty="0">
                <a:latin typeface="Times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06DAEAF-D8E2-D8A3-4434-4D7F406028CC}"/>
                </a:ext>
              </a:extLst>
            </p:cNvPr>
            <p:cNvSpPr txBox="1"/>
            <p:nvPr/>
          </p:nvSpPr>
          <p:spPr>
            <a:xfrm>
              <a:off x="2404916" y="2657449"/>
              <a:ext cx="955711" cy="53744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sz="1700" dirty="0">
                  <a:latin typeface="Times" pitchFamily="2" charset="0"/>
                </a:rPr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1E21C2-131D-99FC-4813-258AF9A7218E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2624970"/>
              <a:ext cx="61056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A93C223-DD19-869E-C8BB-5596774BC064}"/>
                </a:ext>
              </a:extLst>
            </p:cNvPr>
            <p:cNvCxnSpPr>
              <a:cxnSpLocks/>
            </p:cNvCxnSpPr>
            <p:nvPr/>
          </p:nvCxnSpPr>
          <p:spPr>
            <a:xfrm>
              <a:off x="2453007" y="3197838"/>
              <a:ext cx="61056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A14F9733-F08F-519F-FD4E-3BFCD56AD8CF}"/>
                </a:ext>
              </a:extLst>
            </p:cNvPr>
            <p:cNvSpPr/>
            <p:nvPr/>
          </p:nvSpPr>
          <p:spPr>
            <a:xfrm>
              <a:off x="3370174" y="2187230"/>
              <a:ext cx="1710941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49FA9B-D235-04FF-0AC1-91839DB10F79}"/>
                </a:ext>
              </a:extLst>
            </p:cNvPr>
            <p:cNvSpPr/>
            <p:nvPr/>
          </p:nvSpPr>
          <p:spPr>
            <a:xfrm>
              <a:off x="3360129" y="2187230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4B5C94C-200E-D521-93C2-FA523ACD6B8B}"/>
                </a:ext>
              </a:extLst>
            </p:cNvPr>
            <p:cNvSpPr/>
            <p:nvPr/>
          </p:nvSpPr>
          <p:spPr>
            <a:xfrm>
              <a:off x="3360129" y="3937601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F449D6-B91E-339D-C319-D29C405B2918}"/>
                </a:ext>
              </a:extLst>
            </p:cNvPr>
            <p:cNvSpPr/>
            <p:nvPr/>
          </p:nvSpPr>
          <p:spPr>
            <a:xfrm>
              <a:off x="3360129" y="3274927"/>
              <a:ext cx="1731029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Page Table Mgmt.</a:t>
              </a:r>
            </a:p>
            <a:p>
              <a:pPr algn="ctr">
                <a:lnSpc>
                  <a:spcPct val="80000"/>
                </a:lnSpc>
              </a:pPr>
              <a:r>
                <a:rPr lang="en-US" sz="13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3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</a:t>
              </a:r>
              <a:r>
                <a:rPr lang="en-US" sz="13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...</a:t>
              </a:r>
              <a:endParaRPr lang="en-KR" sz="13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F214674-440A-7BE8-D59D-3A18FC8B260B}"/>
                </a:ext>
              </a:extLst>
            </p:cNvPr>
            <p:cNvSpPr/>
            <p:nvPr/>
          </p:nvSpPr>
          <p:spPr>
            <a:xfrm>
              <a:off x="3438812" y="2732077"/>
              <a:ext cx="1573663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No Interface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4F6A1E-F6CF-49AB-174E-3AF91FFB1E0E}"/>
                </a:ext>
              </a:extLst>
            </p:cNvPr>
            <p:cNvSpPr txBox="1"/>
            <p:nvPr/>
          </p:nvSpPr>
          <p:spPr>
            <a:xfrm>
              <a:off x="3975461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963B0FC4-72D0-121B-F3F4-622E451618DF}"/>
                </a:ext>
              </a:extLst>
            </p:cNvPr>
            <p:cNvSpPr/>
            <p:nvPr/>
          </p:nvSpPr>
          <p:spPr>
            <a:xfrm>
              <a:off x="5208612" y="3261846"/>
              <a:ext cx="1692595" cy="1172377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04EBD8DC-EC62-A705-A352-A880F7CBB9A9}"/>
                </a:ext>
              </a:extLst>
            </p:cNvPr>
            <p:cNvSpPr/>
            <p:nvPr/>
          </p:nvSpPr>
          <p:spPr>
            <a:xfrm>
              <a:off x="7107502" y="3261846"/>
              <a:ext cx="1332685" cy="1172377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Times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560EFB-FA67-3C8C-5B39-3D4A95A45DB7}"/>
                </a:ext>
              </a:extLst>
            </p:cNvPr>
            <p:cNvSpPr/>
            <p:nvPr/>
          </p:nvSpPr>
          <p:spPr>
            <a:xfrm>
              <a:off x="7123570" y="3274927"/>
              <a:ext cx="1300548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A50458B-95DB-3D52-BC7A-17E8CF91245D}"/>
                </a:ext>
              </a:extLst>
            </p:cNvPr>
            <p:cNvSpPr/>
            <p:nvPr/>
          </p:nvSpPr>
          <p:spPr>
            <a:xfrm>
              <a:off x="7236428" y="3903098"/>
              <a:ext cx="1074833" cy="2155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On-disk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98D6D4-D11B-0227-E164-8AAE4C687395}"/>
                </a:ext>
              </a:extLst>
            </p:cNvPr>
            <p:cNvSpPr/>
            <p:nvPr/>
          </p:nvSpPr>
          <p:spPr>
            <a:xfrm>
              <a:off x="5268078" y="3937601"/>
              <a:ext cx="1573663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83B549C-82E5-2EEA-1352-09701D324031}"/>
                </a:ext>
              </a:extLst>
            </p:cNvPr>
            <p:cNvSpPr/>
            <p:nvPr/>
          </p:nvSpPr>
          <p:spPr>
            <a:xfrm>
              <a:off x="5268078" y="3296951"/>
              <a:ext cx="1573663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  <a:latin typeface="Times" pitchFamily="2" charset="0"/>
                </a:rPr>
                <a:t>MMU Driver</a:t>
              </a:r>
              <a:endParaRPr lang="en-KR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3820A5F-9E6C-1D18-8289-D65FF150FAB9}"/>
                </a:ext>
              </a:extLst>
            </p:cNvPr>
            <p:cNvSpPr txBox="1"/>
            <p:nvPr/>
          </p:nvSpPr>
          <p:spPr>
            <a:xfrm>
              <a:off x="5293290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3C0851E-22DF-A3CD-8AB6-D292DA6868C2}"/>
                </a:ext>
              </a:extLst>
            </p:cNvPr>
            <p:cNvSpPr txBox="1"/>
            <p:nvPr/>
          </p:nvSpPr>
          <p:spPr>
            <a:xfrm>
              <a:off x="5764046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EA4687F-A4D5-2580-9CA4-E3C10701B66E}"/>
                </a:ext>
              </a:extLst>
            </p:cNvPr>
            <p:cNvSpPr txBox="1"/>
            <p:nvPr/>
          </p:nvSpPr>
          <p:spPr>
            <a:xfrm>
              <a:off x="6231533" y="3533613"/>
              <a:ext cx="472731" cy="1838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Hybrid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19F674-ACD2-F44E-66D9-28E05047C023}"/>
                </a:ext>
              </a:extLst>
            </p:cNvPr>
            <p:cNvSpPr txBox="1"/>
            <p:nvPr/>
          </p:nvSpPr>
          <p:spPr>
            <a:xfrm>
              <a:off x="5397171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AEFE21-36E5-9F15-FC38-BD5290B818C9}"/>
                </a:ext>
              </a:extLst>
            </p:cNvPr>
            <p:cNvSpPr txBox="1"/>
            <p:nvPr/>
          </p:nvSpPr>
          <p:spPr>
            <a:xfrm>
              <a:off x="5954299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E508EB-6B63-100A-1016-79C4E6FC3C8F}"/>
                </a:ext>
              </a:extLst>
            </p:cNvPr>
            <p:cNvSpPr txBox="1"/>
            <p:nvPr/>
          </p:nvSpPr>
          <p:spPr>
            <a:xfrm>
              <a:off x="7213379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Ext4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F4FBCCD-58EF-0421-ECC5-B70C20732CFE}"/>
                </a:ext>
              </a:extLst>
            </p:cNvPr>
            <p:cNvSpPr txBox="1"/>
            <p:nvPr/>
          </p:nvSpPr>
          <p:spPr>
            <a:xfrm>
              <a:off x="7720250" y="3533613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Btrfs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552A9A-8CD8-D67A-04A5-F83BCAF0ADE4}"/>
                </a:ext>
              </a:extLst>
            </p:cNvPr>
            <p:cNvSpPr txBox="1"/>
            <p:nvPr/>
          </p:nvSpPr>
          <p:spPr>
            <a:xfrm>
              <a:off x="6390619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8B1506-CFB8-2645-D710-033EE5EF3C1C}"/>
                </a:ext>
              </a:extLst>
            </p:cNvPr>
            <p:cNvSpPr txBox="1"/>
            <p:nvPr/>
          </p:nvSpPr>
          <p:spPr>
            <a:xfrm>
              <a:off x="6634592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402822A-29B0-7B55-0B20-38A487E5FF0A}"/>
                </a:ext>
              </a:extLst>
            </p:cNvPr>
            <p:cNvSpPr txBox="1"/>
            <p:nvPr/>
          </p:nvSpPr>
          <p:spPr>
            <a:xfrm>
              <a:off x="7231004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Extent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15292E-46D9-9C52-9BDE-AB930DB07459}"/>
                </a:ext>
              </a:extLst>
            </p:cNvPr>
            <p:cNvSpPr txBox="1"/>
            <p:nvPr/>
          </p:nvSpPr>
          <p:spPr>
            <a:xfrm>
              <a:off x="7720250" y="4173741"/>
              <a:ext cx="431181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B-tree</a:t>
              </a:r>
              <a:endParaRPr lang="en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9A0FB2B-2BC3-2B32-D405-A7CED171FF1F}"/>
                </a:ext>
              </a:extLst>
            </p:cNvPr>
            <p:cNvSpPr txBox="1"/>
            <p:nvPr/>
          </p:nvSpPr>
          <p:spPr>
            <a:xfrm>
              <a:off x="8151431" y="408989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393BB0F-8CCB-E3C2-A975-78A71CAF0BB5}"/>
                </a:ext>
              </a:extLst>
            </p:cNvPr>
            <p:cNvSpPr txBox="1"/>
            <p:nvPr/>
          </p:nvSpPr>
          <p:spPr>
            <a:xfrm>
              <a:off x="8156259" y="344107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200" dirty="0">
                  <a:latin typeface="Times" pitchFamily="2" charset="0"/>
                </a:rPr>
                <a:t>...</a:t>
              </a:r>
              <a:endParaRPr lang="en-KR" sz="1200" dirty="0">
                <a:latin typeface="Times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C127D2-A3CF-E7BD-EBC7-82C2724151D6}"/>
                </a:ext>
              </a:extLst>
            </p:cNvPr>
            <p:cNvSpPr txBox="1"/>
            <p:nvPr/>
          </p:nvSpPr>
          <p:spPr>
            <a:xfrm>
              <a:off x="3844196" y="4692014"/>
              <a:ext cx="1263231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Vanilla</a:t>
              </a:r>
              <a:r>
                <a:rPr lang="en-KR" dirty="0">
                  <a:latin typeface="Times" pitchFamily="2" charset="0"/>
                </a:rPr>
                <a:t> 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AB4D460-0A3D-4DB6-CFC6-EE0AE305627C}"/>
                </a:ext>
              </a:extLst>
            </p:cNvPr>
            <p:cNvSpPr txBox="1"/>
            <p:nvPr/>
          </p:nvSpPr>
          <p:spPr>
            <a:xfrm>
              <a:off x="5507644" y="4692014"/>
              <a:ext cx="1094530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>
                  <a:latin typeface="Times" pitchFamily="2" charset="0"/>
                </a:rPr>
                <a:t>EMT</a:t>
              </a:r>
              <a:r>
                <a:rPr lang="en-US" dirty="0">
                  <a:latin typeface="Times" pitchFamily="2" charset="0"/>
                </a:rPr>
                <a:t>-Linux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0580D1B-0C08-A412-2B73-95DECD7FCD77}"/>
                </a:ext>
              </a:extLst>
            </p:cNvPr>
            <p:cNvSpPr txBox="1"/>
            <p:nvPr/>
          </p:nvSpPr>
          <p:spPr>
            <a:xfrm>
              <a:off x="7123025" y="4692014"/>
              <a:ext cx="1301638" cy="20992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VFS Interface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C96104-202E-2E66-A1C3-85890994F9BD}"/>
                </a:ext>
              </a:extLst>
            </p:cNvPr>
            <p:cNvCxnSpPr>
              <a:cxnSpLocks/>
            </p:cNvCxnSpPr>
            <p:nvPr/>
          </p:nvCxnSpPr>
          <p:spPr>
            <a:xfrm>
              <a:off x="7009454" y="1956058"/>
              <a:ext cx="0" cy="2912548"/>
            </a:xfrm>
            <a:prstGeom prst="line">
              <a:avLst/>
            </a:prstGeom>
            <a:ln w="25400" cmpd="dbl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098E40-4A21-01D2-76B5-C828CD717646}"/>
                </a:ext>
              </a:extLst>
            </p:cNvPr>
            <p:cNvSpPr/>
            <p:nvPr/>
          </p:nvSpPr>
          <p:spPr>
            <a:xfrm>
              <a:off x="7753600" y="197909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dirty="0">
                  <a:solidFill>
                    <a:schemeClr val="accent5">
                      <a:lumMod val="75000"/>
                    </a:schemeClr>
                  </a:solidFill>
                  <a:latin typeface="Times" pitchFamily="2" charset="0"/>
                </a:rPr>
                <a:t>Coupled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8D8541-470F-B744-CC93-4E701F996EF6}"/>
                </a:ext>
              </a:extLst>
            </p:cNvPr>
            <p:cNvSpPr/>
            <p:nvPr/>
          </p:nvSpPr>
          <p:spPr>
            <a:xfrm>
              <a:off x="6481749" y="1993406"/>
              <a:ext cx="1196716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dirty="0">
                  <a:solidFill>
                    <a:srgbClr val="C00000"/>
                  </a:solidFill>
                  <a:latin typeface="Times" pitchFamily="2" charset="0"/>
                </a:rPr>
                <a:t>Proposed layer</a:t>
              </a:r>
              <a:endParaRPr lang="en-KR" sz="1400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839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568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 (updated 2024-04-09)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E62BA-019D-FF79-8A38-D3C3332AD514}"/>
              </a:ext>
            </a:extLst>
          </p:cNvPr>
          <p:cNvSpPr txBox="1"/>
          <p:nvPr/>
        </p:nvSpPr>
        <p:spPr>
          <a:xfrm>
            <a:off x="9000542" y="184468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78447-982D-C38B-063A-9DB574B72884}"/>
              </a:ext>
            </a:extLst>
          </p:cNvPr>
          <p:cNvSpPr txBox="1"/>
          <p:nvPr/>
        </p:nvSpPr>
        <p:spPr>
          <a:xfrm>
            <a:off x="10593144" y="264419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vfs_fsync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160D19-C9F8-CC65-8DA7-5B1DC2A32525}"/>
              </a:ext>
            </a:extLst>
          </p:cNvPr>
          <p:cNvSpPr txBox="1"/>
          <p:nvPr/>
        </p:nvSpPr>
        <p:spPr>
          <a:xfrm>
            <a:off x="10552962" y="324132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ext4_sync_file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29D1AD-1220-20BD-2422-56DE2809DF05}"/>
              </a:ext>
            </a:extLst>
          </p:cNvPr>
          <p:cNvSpPr txBox="1"/>
          <p:nvPr/>
        </p:nvSpPr>
        <p:spPr>
          <a:xfrm>
            <a:off x="9054522" y="264249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pte_iter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2F8B49-40D8-5567-5C95-320BDEB9FBCE}"/>
              </a:ext>
            </a:extLst>
          </p:cNvPr>
          <p:cNvSpPr txBox="1"/>
          <p:nvPr/>
        </p:nvSpPr>
        <p:spPr>
          <a:xfrm>
            <a:off x="8940944" y="322415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radix_pte_iter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D454DD-2D80-70FB-A503-8867DF22C60F}"/>
              </a:ext>
            </a:extLst>
          </p:cNvPr>
          <p:cNvSpPr txBox="1"/>
          <p:nvPr/>
        </p:nvSpPr>
        <p:spPr>
          <a:xfrm>
            <a:off x="9209679" y="2228022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EMT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B1EB1-D385-3606-22B5-274330F5BD96}"/>
              </a:ext>
            </a:extLst>
          </p:cNvPr>
          <p:cNvSpPr txBox="1"/>
          <p:nvPr/>
        </p:nvSpPr>
        <p:spPr>
          <a:xfrm>
            <a:off x="10789671" y="2200014"/>
            <a:ext cx="52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VFS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9D068A6-6FE3-3BA8-1484-944CD3506C72}"/>
              </a:ext>
            </a:extLst>
          </p:cNvPr>
          <p:cNvCxnSpPr/>
          <p:nvPr/>
        </p:nvCxnSpPr>
        <p:spPr>
          <a:xfrm>
            <a:off x="9054522" y="2597354"/>
            <a:ext cx="254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BC6821-6303-8F51-6E5E-95E3B29E03C8}"/>
              </a:ext>
            </a:extLst>
          </p:cNvPr>
          <p:cNvGrpSpPr/>
          <p:nvPr/>
        </p:nvGrpSpPr>
        <p:grpSpPr>
          <a:xfrm>
            <a:off x="561057" y="1909617"/>
            <a:ext cx="8211778" cy="2953453"/>
            <a:chOff x="561057" y="1909617"/>
            <a:chExt cx="8211778" cy="2953453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6C9CCB-E0A2-AD30-68AD-889C8A8AADC0}"/>
                </a:ext>
              </a:extLst>
            </p:cNvPr>
            <p:cNvSpPr/>
            <p:nvPr/>
          </p:nvSpPr>
          <p:spPr>
            <a:xfrm>
              <a:off x="1569287" y="1909617"/>
              <a:ext cx="7203548" cy="18367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789048-9C00-10FD-16AF-079659D68728}"/>
                </a:ext>
              </a:extLst>
            </p:cNvPr>
            <p:cNvSpPr/>
            <p:nvPr/>
          </p:nvSpPr>
          <p:spPr>
            <a:xfrm>
              <a:off x="1569286" y="3821432"/>
              <a:ext cx="7203548" cy="76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>
                <a:latin typeface="Times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EA99E3-2082-7CE1-6726-FAA7562A4CC1}"/>
                </a:ext>
              </a:extLst>
            </p:cNvPr>
            <p:cNvSpPr/>
            <p:nvPr/>
          </p:nvSpPr>
          <p:spPr>
            <a:xfrm>
              <a:off x="3975465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Management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200" dirty="0" err="1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linux</a:t>
              </a:r>
              <a:r>
                <a:rPr lang="en-US" sz="1200" dirty="0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/mm/..</a:t>
              </a:r>
              <a:endParaRPr lang="en-KR" sz="1200" dirty="0">
                <a:solidFill>
                  <a:sysClr val="windowText" lastClr="000000"/>
                </a:solidFill>
                <a:latin typeface="Times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387D655-08BF-2195-1692-27E548B0B540}"/>
                </a:ext>
              </a:extLst>
            </p:cNvPr>
            <p:cNvSpPr/>
            <p:nvPr/>
          </p:nvSpPr>
          <p:spPr>
            <a:xfrm>
              <a:off x="639369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System Calls</a:t>
              </a:r>
            </a:p>
            <a:p>
              <a:pPr algn="ctr">
                <a:lnSpc>
                  <a:spcPct val="80000"/>
                </a:lnSpc>
              </a:pPr>
              <a:r>
                <a:rPr lang="en-US" sz="1200" dirty="0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read()/</a:t>
              </a:r>
              <a:r>
                <a:rPr lang="en-US" sz="1200" dirty="0" err="1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fsync</a:t>
              </a:r>
              <a:r>
                <a:rPr lang="en-US" sz="1200" dirty="0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()/...</a:t>
              </a:r>
              <a:endParaRPr lang="en-KR" sz="1200" dirty="0">
                <a:solidFill>
                  <a:sysClr val="windowText" lastClr="000000"/>
                </a:solidFill>
                <a:latin typeface="Times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88CD99E-1083-7D44-AED1-17D795AE1593}"/>
                </a:ext>
              </a:extLst>
            </p:cNvPr>
            <p:cNvSpPr/>
            <p:nvPr/>
          </p:nvSpPr>
          <p:spPr>
            <a:xfrm>
              <a:off x="6498427" y="2685637"/>
              <a:ext cx="2094545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  <a:latin typeface="Times" pitchFamily="2" charset="0"/>
                </a:rPr>
                <a:t>VFS Interface</a:t>
              </a:r>
              <a:endParaRPr lang="en-KR" b="1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C91F0D-B654-7DAA-C60B-B6C527E47CE3}"/>
                </a:ext>
              </a:extLst>
            </p:cNvPr>
            <p:cNvSpPr/>
            <p:nvPr/>
          </p:nvSpPr>
          <p:spPr>
            <a:xfrm>
              <a:off x="4080193" y="2685637"/>
              <a:ext cx="2094545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rgbClr val="C00000"/>
                  </a:solidFill>
                  <a:latin typeface="Times" pitchFamily="2" charset="0"/>
                </a:rPr>
                <a:t>EMT Interface</a:t>
              </a:r>
              <a:endParaRPr lang="en-KR" b="1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F15E28-1F30-E021-B1D6-63A026E2D432}"/>
                </a:ext>
              </a:extLst>
            </p:cNvPr>
            <p:cNvSpPr txBox="1"/>
            <p:nvPr/>
          </p:nvSpPr>
          <p:spPr>
            <a:xfrm>
              <a:off x="1676816" y="4431480"/>
              <a:ext cx="708527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400" dirty="0">
                  <a:solidFill>
                    <a:schemeClr val="tx1"/>
                  </a:solidFill>
                  <a:latin typeface="Times" pitchFamily="2" charset="0"/>
                </a:rPr>
                <a:t>Hardware</a:t>
              </a:r>
              <a:endParaRPr lang="en-KR" sz="1600" dirty="0">
                <a:solidFill>
                  <a:schemeClr val="tx1"/>
                </a:solidFill>
                <a:latin typeface="Times" pitchFamily="2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57EDA6-19F8-54EA-5025-0247AEFB8278}"/>
                </a:ext>
              </a:extLst>
            </p:cNvPr>
            <p:cNvSpPr txBox="1"/>
            <p:nvPr/>
          </p:nvSpPr>
          <p:spPr>
            <a:xfrm>
              <a:off x="638003" y="2033167"/>
              <a:ext cx="877163" cy="551680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Neutral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782062-297D-859D-043B-AE30CF869BDC}"/>
                </a:ext>
              </a:extLst>
            </p:cNvPr>
            <p:cNvSpPr txBox="1"/>
            <p:nvPr/>
          </p:nvSpPr>
          <p:spPr>
            <a:xfrm>
              <a:off x="1710346" y="1929418"/>
              <a:ext cx="1292020" cy="175048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400" dirty="0">
                  <a:latin typeface="Times" pitchFamily="2" charset="0"/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B9730C-A1BB-1EA5-731D-C6670F6650A7}"/>
                </a:ext>
              </a:extLst>
            </p:cNvPr>
            <p:cNvSpPr txBox="1"/>
            <p:nvPr/>
          </p:nvSpPr>
          <p:spPr>
            <a:xfrm>
              <a:off x="605943" y="3172620"/>
              <a:ext cx="941283" cy="551680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Specific</a:t>
              </a:r>
              <a:endParaRPr lang="en-US" dirty="0">
                <a:latin typeface="Times" pitchFamily="2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95A3142-C18A-3385-6FD1-472C886CC42B}"/>
                </a:ext>
              </a:extLst>
            </p:cNvPr>
            <p:cNvSpPr txBox="1"/>
            <p:nvPr/>
          </p:nvSpPr>
          <p:spPr>
            <a:xfrm>
              <a:off x="561057" y="3776000"/>
              <a:ext cx="1031051" cy="759430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>
                  <a:latin typeface="Times" pitchFamily="2" charset="0"/>
                </a:rPr>
                <a:t>Data</a:t>
              </a:r>
            </a:p>
            <a:p>
              <a:pPr algn="ctr">
                <a:lnSpc>
                  <a:spcPct val="75000"/>
                </a:lnSpc>
              </a:pPr>
              <a:r>
                <a:rPr lang="en-KR">
                  <a:latin typeface="Times" pitchFamily="2" charset="0"/>
                </a:rPr>
                <a:t>Structure</a:t>
              </a:r>
              <a:endParaRPr lang="en-KR" dirty="0">
                <a:latin typeface="Times" pitchFamily="2" charset="0"/>
              </a:endParaRPr>
            </a:p>
            <a:p>
              <a:pPr algn="ctr">
                <a:lnSpc>
                  <a:spcPct val="75000"/>
                </a:lnSpc>
              </a:pPr>
              <a:r>
                <a:rPr lang="en-KR">
                  <a:latin typeface="Times" pitchFamily="2" charset="0"/>
                </a:rPr>
                <a:t>(Logic)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06DAEAF-D8E2-D8A3-4434-4D7F406028CC}"/>
                </a:ext>
              </a:extLst>
            </p:cNvPr>
            <p:cNvSpPr txBox="1"/>
            <p:nvPr/>
          </p:nvSpPr>
          <p:spPr>
            <a:xfrm>
              <a:off x="573882" y="2591773"/>
              <a:ext cx="1005403" cy="575918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dirty="0">
                  <a:latin typeface="Times" pitchFamily="2" charset="0"/>
                </a:rPr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dirty="0">
                  <a:latin typeface="Times" pitchFamily="2" charset="0"/>
                </a:rPr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1E21C2-131D-99FC-4813-258AF9A7218E}"/>
                </a:ext>
              </a:extLst>
            </p:cNvPr>
            <p:cNvCxnSpPr>
              <a:cxnSpLocks/>
            </p:cNvCxnSpPr>
            <p:nvPr/>
          </p:nvCxnSpPr>
          <p:spPr>
            <a:xfrm>
              <a:off x="575527" y="2578530"/>
              <a:ext cx="819730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A93C223-DD19-869E-C8BB-5596774BC064}"/>
                </a:ext>
              </a:extLst>
            </p:cNvPr>
            <p:cNvCxnSpPr>
              <a:cxnSpLocks/>
            </p:cNvCxnSpPr>
            <p:nvPr/>
          </p:nvCxnSpPr>
          <p:spPr>
            <a:xfrm>
              <a:off x="575527" y="3151398"/>
              <a:ext cx="819730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A14F9733-F08F-519F-FD4E-3BFCD56AD8CF}"/>
                </a:ext>
              </a:extLst>
            </p:cNvPr>
            <p:cNvSpPr/>
            <p:nvPr/>
          </p:nvSpPr>
          <p:spPr>
            <a:xfrm>
              <a:off x="1720761" y="2140790"/>
              <a:ext cx="2070238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49FA9B-D235-04FF-0AC1-91839DB10F79}"/>
                </a:ext>
              </a:extLst>
            </p:cNvPr>
            <p:cNvSpPr/>
            <p:nvPr/>
          </p:nvSpPr>
          <p:spPr>
            <a:xfrm>
              <a:off x="160387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Memory Management*</a:t>
              </a:r>
            </a:p>
            <a:p>
              <a:pPr algn="ctr">
                <a:lnSpc>
                  <a:spcPct val="80000"/>
                </a:lnSpc>
              </a:pPr>
              <a:r>
                <a:rPr lang="en-US" sz="1200" dirty="0" err="1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linux</a:t>
              </a:r>
              <a:r>
                <a:rPr lang="en-US" sz="1200" dirty="0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/mm/..</a:t>
              </a:r>
              <a:endParaRPr lang="en-KR" sz="1200" dirty="0">
                <a:solidFill>
                  <a:sysClr val="windowText" lastClr="000000"/>
                </a:solidFill>
                <a:latin typeface="Times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4B5C94C-200E-D521-93C2-FA523ACD6B8B}"/>
                </a:ext>
              </a:extLst>
            </p:cNvPr>
            <p:cNvSpPr/>
            <p:nvPr/>
          </p:nvSpPr>
          <p:spPr>
            <a:xfrm>
              <a:off x="160387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F449D6-B91E-339D-C319-D29C405B2918}"/>
                </a:ext>
              </a:extLst>
            </p:cNvPr>
            <p:cNvSpPr/>
            <p:nvPr/>
          </p:nvSpPr>
          <p:spPr>
            <a:xfrm>
              <a:off x="160387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dirty="0">
                  <a:solidFill>
                    <a:sysClr val="windowText" lastClr="000000"/>
                  </a:solidFill>
                  <a:latin typeface="Times" pitchFamily="2" charset="0"/>
                </a:rPr>
                <a:t>Page Table Management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200" dirty="0" err="1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linux</a:t>
              </a:r>
              <a:r>
                <a:rPr lang="en-US" sz="1200" dirty="0">
                  <a:solidFill>
                    <a:sysClr val="windowText" lastClr="000000"/>
                  </a:solidFill>
                  <a:latin typeface="Times" pitchFamily="2" charset="0"/>
                  <a:cs typeface="Courier New" panose="02070309020205020404" pitchFamily="49" charset="0"/>
                </a:rPr>
                <a:t>/arch/*/mm/..</a:t>
              </a:r>
              <a:endParaRPr lang="en-KR" sz="1200" dirty="0">
                <a:solidFill>
                  <a:sysClr val="windowText" lastClr="000000"/>
                </a:solidFill>
                <a:latin typeface="Times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F214674-440A-7BE8-D59D-3A18FC8B260B}"/>
                </a:ext>
              </a:extLst>
            </p:cNvPr>
            <p:cNvSpPr/>
            <p:nvPr/>
          </p:nvSpPr>
          <p:spPr>
            <a:xfrm>
              <a:off x="1803813" y="2685637"/>
              <a:ext cx="1904132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No Interface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4F6A1E-F6CF-49AB-174E-3AF91FFB1E0E}"/>
                </a:ext>
              </a:extLst>
            </p:cNvPr>
            <p:cNvSpPr txBox="1"/>
            <p:nvPr/>
          </p:nvSpPr>
          <p:spPr>
            <a:xfrm>
              <a:off x="2434336" y="4127301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963B0FC4-72D0-121B-F3F4-622E451618DF}"/>
                </a:ext>
              </a:extLst>
            </p:cNvPr>
            <p:cNvSpPr/>
            <p:nvPr/>
          </p:nvSpPr>
          <p:spPr>
            <a:xfrm>
              <a:off x="4001043" y="3215406"/>
              <a:ext cx="2252844" cy="1172377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dirty="0">
                <a:latin typeface="Times" pitchFamily="2" charset="0"/>
              </a:endParaRPr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04EBD8DC-EC62-A705-A352-A880F7CBB9A9}"/>
                </a:ext>
              </a:extLst>
            </p:cNvPr>
            <p:cNvSpPr/>
            <p:nvPr/>
          </p:nvSpPr>
          <p:spPr>
            <a:xfrm>
              <a:off x="6472548" y="3215406"/>
              <a:ext cx="2146302" cy="1172377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>
                <a:latin typeface="Times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560EFB-FA67-3C8C-5B39-3D4A95A45DB7}"/>
                </a:ext>
              </a:extLst>
            </p:cNvPr>
            <p:cNvSpPr/>
            <p:nvPr/>
          </p:nvSpPr>
          <p:spPr>
            <a:xfrm>
              <a:off x="639369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A50458B-95DB-3D52-BC7A-17E8CF91245D}"/>
                </a:ext>
              </a:extLst>
            </p:cNvPr>
            <p:cNvSpPr/>
            <p:nvPr/>
          </p:nvSpPr>
          <p:spPr>
            <a:xfrm>
              <a:off x="639369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On-disk Data Structure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98D6D4-D11B-0227-E164-8AAE4C687395}"/>
                </a:ext>
              </a:extLst>
            </p:cNvPr>
            <p:cNvSpPr/>
            <p:nvPr/>
          </p:nvSpPr>
          <p:spPr>
            <a:xfrm>
              <a:off x="3975465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  <a:latin typeface="Times" pitchFamily="2" charset="0"/>
                </a:rPr>
                <a:t> </a:t>
              </a:r>
              <a:endParaRPr lang="en-KR" dirty="0">
                <a:solidFill>
                  <a:sysClr val="windowText" lastClr="000000"/>
                </a:solidFill>
                <a:latin typeface="Times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83B549C-82E5-2EEA-1352-09701D324031}"/>
                </a:ext>
              </a:extLst>
            </p:cNvPr>
            <p:cNvSpPr/>
            <p:nvPr/>
          </p:nvSpPr>
          <p:spPr>
            <a:xfrm>
              <a:off x="4080193" y="3250511"/>
              <a:ext cx="2094545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  <a:latin typeface="Times" pitchFamily="2" charset="0"/>
                </a:rPr>
                <a:t>MMU Driver</a:t>
              </a:r>
              <a:endParaRPr lang="en-KR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3820A5F-9E6C-1D18-8289-D65FF150FAB9}"/>
                </a:ext>
              </a:extLst>
            </p:cNvPr>
            <p:cNvSpPr txBox="1"/>
            <p:nvPr/>
          </p:nvSpPr>
          <p:spPr>
            <a:xfrm>
              <a:off x="4121130" y="3487173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3C0851E-22DF-A3CD-8AB6-D292DA6868C2}"/>
                </a:ext>
              </a:extLst>
            </p:cNvPr>
            <p:cNvSpPr txBox="1"/>
            <p:nvPr/>
          </p:nvSpPr>
          <p:spPr>
            <a:xfrm>
              <a:off x="4747989" y="3487173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EA4687F-A4D5-2580-9CA4-E3C10701B66E}"/>
                </a:ext>
              </a:extLst>
            </p:cNvPr>
            <p:cNvSpPr txBox="1"/>
            <p:nvPr/>
          </p:nvSpPr>
          <p:spPr>
            <a:xfrm>
              <a:off x="5374848" y="3487173"/>
              <a:ext cx="629204" cy="1838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Hybrid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19F674-ACD2-F44E-66D9-28E05047C023}"/>
                </a:ext>
              </a:extLst>
            </p:cNvPr>
            <p:cNvSpPr txBox="1"/>
            <p:nvPr/>
          </p:nvSpPr>
          <p:spPr>
            <a:xfrm>
              <a:off x="4358044" y="4127301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AEFE21-36E5-9F15-FC38-BD5290B818C9}"/>
                </a:ext>
              </a:extLst>
            </p:cNvPr>
            <p:cNvSpPr txBox="1"/>
            <p:nvPr/>
          </p:nvSpPr>
          <p:spPr>
            <a:xfrm>
              <a:off x="5048543" y="4127301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ECPT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E508EB-6B63-100A-1016-79C4E6FC3C8F}"/>
                </a:ext>
              </a:extLst>
            </p:cNvPr>
            <p:cNvSpPr txBox="1"/>
            <p:nvPr/>
          </p:nvSpPr>
          <p:spPr>
            <a:xfrm>
              <a:off x="6836239" y="3487173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Ext4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F4FBCCD-58EF-0421-ECC5-B70C20732CFE}"/>
                </a:ext>
              </a:extLst>
            </p:cNvPr>
            <p:cNvSpPr txBox="1"/>
            <p:nvPr/>
          </p:nvSpPr>
          <p:spPr>
            <a:xfrm>
              <a:off x="7516268" y="3487173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Btrfs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552A9A-8CD8-D67A-04A5-F83BCAF0ADE4}"/>
                </a:ext>
              </a:extLst>
            </p:cNvPr>
            <p:cNvSpPr txBox="1"/>
            <p:nvPr/>
          </p:nvSpPr>
          <p:spPr>
            <a:xfrm>
              <a:off x="5688406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...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8B1506-CFB8-2645-D710-033EE5EF3C1C}"/>
                </a:ext>
              </a:extLst>
            </p:cNvPr>
            <p:cNvSpPr txBox="1"/>
            <p:nvPr/>
          </p:nvSpPr>
          <p:spPr>
            <a:xfrm>
              <a:off x="5923780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...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402822A-29B0-7B55-0B20-38A487E5FF0A}"/>
                </a:ext>
              </a:extLst>
            </p:cNvPr>
            <p:cNvSpPr txBox="1"/>
            <p:nvPr/>
          </p:nvSpPr>
          <p:spPr>
            <a:xfrm>
              <a:off x="6853864" y="4127301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Extent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15292E-46D9-9C52-9BDE-AB930DB07459}"/>
                </a:ext>
              </a:extLst>
            </p:cNvPr>
            <p:cNvSpPr txBox="1"/>
            <p:nvPr/>
          </p:nvSpPr>
          <p:spPr>
            <a:xfrm>
              <a:off x="7533893" y="4127301"/>
              <a:ext cx="573902" cy="1854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" pitchFamily="2" charset="0"/>
                </a:rPr>
                <a:t>B-tree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" pitchFamily="2" charset="0"/>
              </a:endParaRP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098E40-4A21-01D2-76B5-C828CD717646}"/>
                </a:ext>
              </a:extLst>
            </p:cNvPr>
            <p:cNvSpPr/>
            <p:nvPr/>
          </p:nvSpPr>
          <p:spPr>
            <a:xfrm>
              <a:off x="7965641" y="193265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 w="15875"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dirty="0">
                  <a:solidFill>
                    <a:schemeClr val="accent5">
                      <a:lumMod val="75000"/>
                    </a:schemeClr>
                  </a:solidFill>
                  <a:latin typeface="Times" pitchFamily="2" charset="0"/>
                </a:rPr>
                <a:t>Coupled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9A0FB2B-2BC3-2B32-D405-A7CED171FF1F}"/>
                </a:ext>
              </a:extLst>
            </p:cNvPr>
            <p:cNvSpPr txBox="1"/>
            <p:nvPr/>
          </p:nvSpPr>
          <p:spPr>
            <a:xfrm>
              <a:off x="8113183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...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393BB0F-8CCB-E3C2-A975-78A71CAF0BB5}"/>
                </a:ext>
              </a:extLst>
            </p:cNvPr>
            <p:cNvSpPr txBox="1"/>
            <p:nvPr/>
          </p:nvSpPr>
          <p:spPr>
            <a:xfrm>
              <a:off x="8108768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>
                  <a:latin typeface="Times" pitchFamily="2" charset="0"/>
                </a:rPr>
                <a:t>...</a:t>
              </a:r>
              <a:endParaRPr lang="en-KR" dirty="0">
                <a:latin typeface="Times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C127D2-A3CF-E7BD-EBC7-82C2724151D6}"/>
                </a:ext>
              </a:extLst>
            </p:cNvPr>
            <p:cNvSpPr txBox="1"/>
            <p:nvPr/>
          </p:nvSpPr>
          <p:spPr>
            <a:xfrm>
              <a:off x="2083584" y="4638008"/>
              <a:ext cx="1344599" cy="2250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latin typeface="Times" pitchFamily="2" charset="0"/>
                </a:rPr>
                <a:t>Vanilla</a:t>
              </a:r>
              <a:r>
                <a:rPr lang="en-KR" b="1">
                  <a:latin typeface="Times" pitchFamily="2" charset="0"/>
                </a:rPr>
                <a:t> </a:t>
              </a:r>
              <a:r>
                <a:rPr lang="en-KR" b="1" dirty="0">
                  <a:latin typeface="Times" pitchFamily="2" charset="0"/>
                </a:rPr>
                <a:t>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AB4D460-0A3D-4DB6-CFC6-EE0AE305627C}"/>
                </a:ext>
              </a:extLst>
            </p:cNvPr>
            <p:cNvSpPr txBox="1"/>
            <p:nvPr/>
          </p:nvSpPr>
          <p:spPr>
            <a:xfrm>
              <a:off x="4541728" y="4638008"/>
              <a:ext cx="1171475" cy="2250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>
                  <a:latin typeface="Times" pitchFamily="2" charset="0"/>
                </a:rPr>
                <a:t>EMT</a:t>
              </a:r>
              <a:r>
                <a:rPr lang="en-US" b="1" dirty="0">
                  <a:latin typeface="Times" pitchFamily="2" charset="0"/>
                </a:rPr>
                <a:t>-Linux</a:t>
              </a:r>
              <a:endParaRPr lang="en-KR" b="1" dirty="0">
                <a:latin typeface="Times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0580D1B-0C08-A412-2B73-95DECD7FCD77}"/>
                </a:ext>
              </a:extLst>
            </p:cNvPr>
            <p:cNvSpPr txBox="1"/>
            <p:nvPr/>
          </p:nvSpPr>
          <p:spPr>
            <a:xfrm>
              <a:off x="6849995" y="4638008"/>
              <a:ext cx="1391408" cy="2250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latin typeface="Times" pitchFamily="2" charset="0"/>
                </a:rPr>
                <a:t>VFS Interface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8D8541-470F-B744-CC93-4E701F996EF6}"/>
                </a:ext>
              </a:extLst>
            </p:cNvPr>
            <p:cNvSpPr/>
            <p:nvPr/>
          </p:nvSpPr>
          <p:spPr>
            <a:xfrm>
              <a:off x="6693790" y="1946966"/>
              <a:ext cx="1196716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dirty="0">
                  <a:solidFill>
                    <a:srgbClr val="C00000"/>
                  </a:solidFill>
                  <a:latin typeface="Times" pitchFamily="2" charset="0"/>
                </a:rPr>
                <a:t>Proposed layer</a:t>
              </a:r>
              <a:endParaRPr lang="en-KR" sz="1400" dirty="0">
                <a:solidFill>
                  <a:srgbClr val="C00000"/>
                </a:solidFill>
                <a:latin typeface="Times" pitchFamily="2" charset="0"/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C96104-202E-2E66-A1C3-85890994F9BD}"/>
                </a:ext>
              </a:extLst>
            </p:cNvPr>
            <p:cNvCxnSpPr>
              <a:cxnSpLocks/>
            </p:cNvCxnSpPr>
            <p:nvPr/>
          </p:nvCxnSpPr>
          <p:spPr>
            <a:xfrm>
              <a:off x="6367821" y="1909618"/>
              <a:ext cx="0" cy="2912548"/>
            </a:xfrm>
            <a:prstGeom prst="line">
              <a:avLst/>
            </a:prstGeom>
            <a:ln w="25400" cmpd="dbl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993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5680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 (updated 2024-03-31)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E62BA-019D-FF79-8A38-D3C3332AD514}"/>
              </a:ext>
            </a:extLst>
          </p:cNvPr>
          <p:cNvSpPr txBox="1"/>
          <p:nvPr/>
        </p:nvSpPr>
        <p:spPr>
          <a:xfrm>
            <a:off x="9000542" y="184468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78447-982D-C38B-063A-9DB574B72884}"/>
              </a:ext>
            </a:extLst>
          </p:cNvPr>
          <p:cNvSpPr txBox="1"/>
          <p:nvPr/>
        </p:nvSpPr>
        <p:spPr>
          <a:xfrm>
            <a:off x="10593144" y="264419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vfs_fsync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160D19-C9F8-CC65-8DA7-5B1DC2A32525}"/>
              </a:ext>
            </a:extLst>
          </p:cNvPr>
          <p:cNvSpPr txBox="1"/>
          <p:nvPr/>
        </p:nvSpPr>
        <p:spPr>
          <a:xfrm>
            <a:off x="10552962" y="324132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ext4_sync_file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29D1AD-1220-20BD-2422-56DE2809DF05}"/>
              </a:ext>
            </a:extLst>
          </p:cNvPr>
          <p:cNvSpPr txBox="1"/>
          <p:nvPr/>
        </p:nvSpPr>
        <p:spPr>
          <a:xfrm>
            <a:off x="9054522" y="264249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pte_iter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2F8B49-40D8-5567-5C95-320BDEB9FBCE}"/>
              </a:ext>
            </a:extLst>
          </p:cNvPr>
          <p:cNvSpPr txBox="1"/>
          <p:nvPr/>
        </p:nvSpPr>
        <p:spPr>
          <a:xfrm>
            <a:off x="8940944" y="322415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radix_pte_iter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D454DD-2D80-70FB-A503-8867DF22C60F}"/>
              </a:ext>
            </a:extLst>
          </p:cNvPr>
          <p:cNvSpPr txBox="1"/>
          <p:nvPr/>
        </p:nvSpPr>
        <p:spPr>
          <a:xfrm>
            <a:off x="9209679" y="2228022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EMT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B1EB1-D385-3606-22B5-274330F5BD96}"/>
              </a:ext>
            </a:extLst>
          </p:cNvPr>
          <p:cNvSpPr txBox="1"/>
          <p:nvPr/>
        </p:nvSpPr>
        <p:spPr>
          <a:xfrm>
            <a:off x="10789671" y="2200014"/>
            <a:ext cx="52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VFS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9D068A6-6FE3-3BA8-1484-944CD3506C72}"/>
              </a:ext>
            </a:extLst>
          </p:cNvPr>
          <p:cNvCxnSpPr/>
          <p:nvPr/>
        </p:nvCxnSpPr>
        <p:spPr>
          <a:xfrm>
            <a:off x="9054522" y="2597354"/>
            <a:ext cx="254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BC6821-6303-8F51-6E5E-95E3B29E03C8}"/>
              </a:ext>
            </a:extLst>
          </p:cNvPr>
          <p:cNvGrpSpPr/>
          <p:nvPr/>
        </p:nvGrpSpPr>
        <p:grpSpPr>
          <a:xfrm>
            <a:off x="409134" y="1909617"/>
            <a:ext cx="8363701" cy="2949285"/>
            <a:chOff x="409134" y="1909617"/>
            <a:chExt cx="8363701" cy="294928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6C9CCB-E0A2-AD30-68AD-889C8A8AADC0}"/>
                </a:ext>
              </a:extLst>
            </p:cNvPr>
            <p:cNvSpPr/>
            <p:nvPr/>
          </p:nvSpPr>
          <p:spPr>
            <a:xfrm>
              <a:off x="1569287" y="1909617"/>
              <a:ext cx="7203548" cy="18367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789048-9C00-10FD-16AF-079659D68728}"/>
                </a:ext>
              </a:extLst>
            </p:cNvPr>
            <p:cNvSpPr/>
            <p:nvPr/>
          </p:nvSpPr>
          <p:spPr>
            <a:xfrm>
              <a:off x="1569286" y="3821432"/>
              <a:ext cx="7203548" cy="76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EA99E3-2082-7CE1-6726-FAA7562A4CC1}"/>
                </a:ext>
              </a:extLst>
            </p:cNvPr>
            <p:cNvSpPr/>
            <p:nvPr/>
          </p:nvSpPr>
          <p:spPr>
            <a:xfrm>
              <a:off x="3975465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387D655-08BF-2195-1692-27E548B0B540}"/>
                </a:ext>
              </a:extLst>
            </p:cNvPr>
            <p:cNvSpPr/>
            <p:nvPr/>
          </p:nvSpPr>
          <p:spPr>
            <a:xfrm>
              <a:off x="639369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System calls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88CD99E-1083-7D44-AED1-17D795AE1593}"/>
                </a:ext>
              </a:extLst>
            </p:cNvPr>
            <p:cNvSpPr/>
            <p:nvPr/>
          </p:nvSpPr>
          <p:spPr>
            <a:xfrm>
              <a:off x="6498427" y="2685637"/>
              <a:ext cx="2094545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</a:rPr>
                <a:t>VFS interface</a:t>
              </a:r>
              <a:endParaRPr lang="en-KR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C91F0D-B654-7DAA-C60B-B6C527E47CE3}"/>
                </a:ext>
              </a:extLst>
            </p:cNvPr>
            <p:cNvSpPr/>
            <p:nvPr/>
          </p:nvSpPr>
          <p:spPr>
            <a:xfrm>
              <a:off x="4080193" y="2685637"/>
              <a:ext cx="2094545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rgbClr val="C00000"/>
                  </a:solidFill>
                </a:rPr>
                <a:t>EMT interface</a:t>
              </a:r>
              <a:endParaRPr lang="en-KR" b="1" dirty="0">
                <a:solidFill>
                  <a:srgbClr val="C00000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F15E28-1F30-E021-B1D6-63A026E2D432}"/>
                </a:ext>
              </a:extLst>
            </p:cNvPr>
            <p:cNvSpPr txBox="1"/>
            <p:nvPr/>
          </p:nvSpPr>
          <p:spPr>
            <a:xfrm>
              <a:off x="1603879" y="4459205"/>
              <a:ext cx="854401" cy="1195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Hardware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57EDA6-19F8-54EA-5025-0247AEFB8278}"/>
                </a:ext>
              </a:extLst>
            </p:cNvPr>
            <p:cNvSpPr txBox="1"/>
            <p:nvPr/>
          </p:nvSpPr>
          <p:spPr>
            <a:xfrm>
              <a:off x="535933" y="2037334"/>
              <a:ext cx="962763" cy="543345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agnostic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782062-297D-859D-043B-AE30CF869BDC}"/>
                </a:ext>
              </a:extLst>
            </p:cNvPr>
            <p:cNvSpPr txBox="1"/>
            <p:nvPr/>
          </p:nvSpPr>
          <p:spPr>
            <a:xfrm>
              <a:off x="1606600" y="1929389"/>
              <a:ext cx="1499513" cy="17510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B9730C-A1BB-1EA5-731D-C6670F6650A7}"/>
                </a:ext>
              </a:extLst>
            </p:cNvPr>
            <p:cNvSpPr txBox="1"/>
            <p:nvPr/>
          </p:nvSpPr>
          <p:spPr>
            <a:xfrm>
              <a:off x="575527" y="3176787"/>
              <a:ext cx="883575" cy="543345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specific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95A3142-C18A-3385-6FD1-472C886CC42B}"/>
                </a:ext>
              </a:extLst>
            </p:cNvPr>
            <p:cNvSpPr txBox="1"/>
            <p:nvPr/>
          </p:nvSpPr>
          <p:spPr>
            <a:xfrm>
              <a:off x="452480" y="3780168"/>
              <a:ext cx="1129668" cy="751094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Data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structures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(Logics)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06DAEAF-D8E2-D8A3-4434-4D7F406028CC}"/>
                </a:ext>
              </a:extLst>
            </p:cNvPr>
            <p:cNvSpPr txBox="1"/>
            <p:nvPr/>
          </p:nvSpPr>
          <p:spPr>
            <a:xfrm>
              <a:off x="508745" y="2595941"/>
              <a:ext cx="1017138" cy="567582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dirty="0"/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dirty="0"/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1E21C2-131D-99FC-4813-258AF9A7218E}"/>
                </a:ext>
              </a:extLst>
            </p:cNvPr>
            <p:cNvCxnSpPr>
              <a:cxnSpLocks/>
            </p:cNvCxnSpPr>
            <p:nvPr/>
          </p:nvCxnSpPr>
          <p:spPr>
            <a:xfrm>
              <a:off x="409134" y="2578530"/>
              <a:ext cx="8363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A93C223-DD19-869E-C8BB-5596774BC064}"/>
                </a:ext>
              </a:extLst>
            </p:cNvPr>
            <p:cNvCxnSpPr>
              <a:cxnSpLocks/>
            </p:cNvCxnSpPr>
            <p:nvPr/>
          </p:nvCxnSpPr>
          <p:spPr>
            <a:xfrm>
              <a:off x="409134" y="3151398"/>
              <a:ext cx="8363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A14F9733-F08F-519F-FD4E-3BFCD56AD8CF}"/>
                </a:ext>
              </a:extLst>
            </p:cNvPr>
            <p:cNvSpPr/>
            <p:nvPr/>
          </p:nvSpPr>
          <p:spPr>
            <a:xfrm>
              <a:off x="1720761" y="2140790"/>
              <a:ext cx="2070238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49FA9B-D235-04FF-0AC1-91839DB10F79}"/>
                </a:ext>
              </a:extLst>
            </p:cNvPr>
            <p:cNvSpPr/>
            <p:nvPr/>
          </p:nvSpPr>
          <p:spPr>
            <a:xfrm>
              <a:off x="160387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Arch-independent*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4B5C94C-200E-D521-93C2-FA523ACD6B8B}"/>
                </a:ext>
              </a:extLst>
            </p:cNvPr>
            <p:cNvSpPr/>
            <p:nvPr/>
          </p:nvSpPr>
          <p:spPr>
            <a:xfrm>
              <a:off x="160387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F449D6-B91E-339D-C319-D29C405B2918}"/>
                </a:ext>
              </a:extLst>
            </p:cNvPr>
            <p:cNvSpPr/>
            <p:nvPr/>
          </p:nvSpPr>
          <p:spPr>
            <a:xfrm>
              <a:off x="160387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F214674-440A-7BE8-D59D-3A18FC8B260B}"/>
                </a:ext>
              </a:extLst>
            </p:cNvPr>
            <p:cNvSpPr/>
            <p:nvPr/>
          </p:nvSpPr>
          <p:spPr>
            <a:xfrm>
              <a:off x="1803813" y="2685637"/>
              <a:ext cx="1904132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KR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 interface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4F6A1E-F6CF-49AB-174E-3AF91FFB1E0E}"/>
                </a:ext>
              </a:extLst>
            </p:cNvPr>
            <p:cNvSpPr txBox="1"/>
            <p:nvPr/>
          </p:nvSpPr>
          <p:spPr>
            <a:xfrm>
              <a:off x="2434336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963B0FC4-72D0-121B-F3F4-622E451618DF}"/>
                </a:ext>
              </a:extLst>
            </p:cNvPr>
            <p:cNvSpPr/>
            <p:nvPr/>
          </p:nvSpPr>
          <p:spPr>
            <a:xfrm>
              <a:off x="4001043" y="3215406"/>
              <a:ext cx="2252844" cy="1172377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04EBD8DC-EC62-A705-A352-A880F7CBB9A9}"/>
                </a:ext>
              </a:extLst>
            </p:cNvPr>
            <p:cNvSpPr/>
            <p:nvPr/>
          </p:nvSpPr>
          <p:spPr>
            <a:xfrm>
              <a:off x="6472548" y="3215406"/>
              <a:ext cx="2146302" cy="1172377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560EFB-FA67-3C8C-5B39-3D4A95A45DB7}"/>
                </a:ext>
              </a:extLst>
            </p:cNvPr>
            <p:cNvSpPr/>
            <p:nvPr/>
          </p:nvSpPr>
          <p:spPr>
            <a:xfrm>
              <a:off x="639369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A50458B-95DB-3D52-BC7A-17E8CF91245D}"/>
                </a:ext>
              </a:extLst>
            </p:cNvPr>
            <p:cNvSpPr/>
            <p:nvPr/>
          </p:nvSpPr>
          <p:spPr>
            <a:xfrm>
              <a:off x="639369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On-disk data structure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98D6D4-D11B-0227-E164-8AAE4C687395}"/>
                </a:ext>
              </a:extLst>
            </p:cNvPr>
            <p:cNvSpPr/>
            <p:nvPr/>
          </p:nvSpPr>
          <p:spPr>
            <a:xfrm>
              <a:off x="3975465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83B549C-82E5-2EEA-1352-09701D324031}"/>
                </a:ext>
              </a:extLst>
            </p:cNvPr>
            <p:cNvSpPr/>
            <p:nvPr/>
          </p:nvSpPr>
          <p:spPr>
            <a:xfrm>
              <a:off x="4080193" y="3250511"/>
              <a:ext cx="2094545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MMU driver</a:t>
              </a:r>
              <a:endParaRPr lang="en-KR" dirty="0">
                <a:solidFill>
                  <a:srgbClr val="C00000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3820A5F-9E6C-1D18-8289-D65FF150FAB9}"/>
                </a:ext>
              </a:extLst>
            </p:cNvPr>
            <p:cNvSpPr txBox="1"/>
            <p:nvPr/>
          </p:nvSpPr>
          <p:spPr>
            <a:xfrm>
              <a:off x="4121130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3C0851E-22DF-A3CD-8AB6-D292DA6868C2}"/>
                </a:ext>
              </a:extLst>
            </p:cNvPr>
            <p:cNvSpPr txBox="1"/>
            <p:nvPr/>
          </p:nvSpPr>
          <p:spPr>
            <a:xfrm>
              <a:off x="4747989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DMT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EA4687F-A4D5-2580-9CA4-E3C10701B66E}"/>
                </a:ext>
              </a:extLst>
            </p:cNvPr>
            <p:cNvSpPr txBox="1"/>
            <p:nvPr/>
          </p:nvSpPr>
          <p:spPr>
            <a:xfrm>
              <a:off x="5374848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ECPT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19F674-ACD2-F44E-66D9-28E05047C023}"/>
                </a:ext>
              </a:extLst>
            </p:cNvPr>
            <p:cNvSpPr txBox="1"/>
            <p:nvPr/>
          </p:nvSpPr>
          <p:spPr>
            <a:xfrm>
              <a:off x="4358044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AEFE21-36E5-9F15-FC38-BD5290B818C9}"/>
                </a:ext>
              </a:extLst>
            </p:cNvPr>
            <p:cNvSpPr txBox="1"/>
            <p:nvPr/>
          </p:nvSpPr>
          <p:spPr>
            <a:xfrm>
              <a:off x="5048543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Hash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E508EB-6B63-100A-1016-79C4E6FC3C8F}"/>
                </a:ext>
              </a:extLst>
            </p:cNvPr>
            <p:cNvSpPr txBox="1"/>
            <p:nvPr/>
          </p:nvSpPr>
          <p:spPr>
            <a:xfrm>
              <a:off x="6836239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ext4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F4FBCCD-58EF-0421-ECC5-B70C20732CFE}"/>
                </a:ext>
              </a:extLst>
            </p:cNvPr>
            <p:cNvSpPr txBox="1"/>
            <p:nvPr/>
          </p:nvSpPr>
          <p:spPr>
            <a:xfrm>
              <a:off x="7516268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Btrfs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552A9A-8CD8-D67A-04A5-F83BCAF0ADE4}"/>
                </a:ext>
              </a:extLst>
            </p:cNvPr>
            <p:cNvSpPr txBox="1"/>
            <p:nvPr/>
          </p:nvSpPr>
          <p:spPr>
            <a:xfrm>
              <a:off x="5688406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8B1506-CFB8-2645-D710-033EE5EF3C1C}"/>
                </a:ext>
              </a:extLst>
            </p:cNvPr>
            <p:cNvSpPr txBox="1"/>
            <p:nvPr/>
          </p:nvSpPr>
          <p:spPr>
            <a:xfrm>
              <a:off x="5923780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402822A-29B0-7B55-0B20-38A487E5FF0A}"/>
                </a:ext>
              </a:extLst>
            </p:cNvPr>
            <p:cNvSpPr txBox="1"/>
            <p:nvPr/>
          </p:nvSpPr>
          <p:spPr>
            <a:xfrm>
              <a:off x="6853864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Extent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15292E-46D9-9C52-9BDE-AB930DB07459}"/>
                </a:ext>
              </a:extLst>
            </p:cNvPr>
            <p:cNvSpPr txBox="1"/>
            <p:nvPr/>
          </p:nvSpPr>
          <p:spPr>
            <a:xfrm>
              <a:off x="7533893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B-tree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098E40-4A21-01D2-76B5-C828CD717646}"/>
                </a:ext>
              </a:extLst>
            </p:cNvPr>
            <p:cNvSpPr/>
            <p:nvPr/>
          </p:nvSpPr>
          <p:spPr>
            <a:xfrm>
              <a:off x="7965641" y="193265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i="1" dirty="0">
                  <a:solidFill>
                    <a:schemeClr val="accent5">
                      <a:lumMod val="75000"/>
                    </a:schemeClr>
                  </a:solidFill>
                </a:rPr>
                <a:t>coupled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9A0FB2B-2BC3-2B32-D405-A7CED171FF1F}"/>
                </a:ext>
              </a:extLst>
            </p:cNvPr>
            <p:cNvSpPr txBox="1"/>
            <p:nvPr/>
          </p:nvSpPr>
          <p:spPr>
            <a:xfrm>
              <a:off x="8113183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393BB0F-8CCB-E3C2-A975-78A71CAF0BB5}"/>
                </a:ext>
              </a:extLst>
            </p:cNvPr>
            <p:cNvSpPr txBox="1"/>
            <p:nvPr/>
          </p:nvSpPr>
          <p:spPr>
            <a:xfrm>
              <a:off x="8108768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C127D2-A3CF-E7BD-EBC7-82C2724151D6}"/>
                </a:ext>
              </a:extLst>
            </p:cNvPr>
            <p:cNvSpPr txBox="1"/>
            <p:nvPr/>
          </p:nvSpPr>
          <p:spPr>
            <a:xfrm>
              <a:off x="2114616" y="4642176"/>
              <a:ext cx="1282531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Current 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AB4D460-0A3D-4DB6-CFC6-EE0AE305627C}"/>
                </a:ext>
              </a:extLst>
            </p:cNvPr>
            <p:cNvSpPr txBox="1"/>
            <p:nvPr/>
          </p:nvSpPr>
          <p:spPr>
            <a:xfrm>
              <a:off x="4301441" y="4642176"/>
              <a:ext cx="1652055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w/ EMT interface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0580D1B-0C08-A412-2B73-95DECD7FCD77}"/>
                </a:ext>
              </a:extLst>
            </p:cNvPr>
            <p:cNvSpPr txBox="1"/>
            <p:nvPr/>
          </p:nvSpPr>
          <p:spPr>
            <a:xfrm>
              <a:off x="6921554" y="4642176"/>
              <a:ext cx="1248290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VFS interface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8D8541-470F-B744-CC93-4E701F996EF6}"/>
                </a:ext>
              </a:extLst>
            </p:cNvPr>
            <p:cNvSpPr/>
            <p:nvPr/>
          </p:nvSpPr>
          <p:spPr>
            <a:xfrm>
              <a:off x="7042742" y="1946966"/>
              <a:ext cx="847763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i="1" dirty="0">
                  <a:solidFill>
                    <a:srgbClr val="C00000"/>
                  </a:solidFill>
                </a:rPr>
                <a:t>proposed</a:t>
              </a:r>
              <a:endParaRPr lang="en-KR" sz="1400" i="1" dirty="0">
                <a:solidFill>
                  <a:srgbClr val="C00000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C96104-202E-2E66-A1C3-85890994F9BD}"/>
                </a:ext>
              </a:extLst>
            </p:cNvPr>
            <p:cNvCxnSpPr>
              <a:cxnSpLocks/>
            </p:cNvCxnSpPr>
            <p:nvPr/>
          </p:nvCxnSpPr>
          <p:spPr>
            <a:xfrm>
              <a:off x="6367821" y="1909618"/>
              <a:ext cx="0" cy="2912548"/>
            </a:xfrm>
            <a:prstGeom prst="line">
              <a:avLst/>
            </a:prstGeom>
            <a:ln w="25400" cmpd="dbl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8738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DBDBC1D-9235-BBD0-1999-D149640C244C}"/>
              </a:ext>
            </a:extLst>
          </p:cNvPr>
          <p:cNvSpPr txBox="1"/>
          <p:nvPr/>
        </p:nvSpPr>
        <p:spPr>
          <a:xfrm>
            <a:off x="228689" y="208000"/>
            <a:ext cx="4884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EMT interface abstractions (Updated 2024-03-31)</a:t>
            </a:r>
          </a:p>
        </p:txBody>
      </p: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210665CC-671B-FFD3-A109-98A3D9D58B81}"/>
              </a:ext>
            </a:extLst>
          </p:cNvPr>
          <p:cNvGrpSpPr/>
          <p:nvPr/>
        </p:nvGrpSpPr>
        <p:grpSpPr>
          <a:xfrm>
            <a:off x="2336244" y="1748756"/>
            <a:ext cx="3413370" cy="4109642"/>
            <a:chOff x="6183625" y="2326726"/>
            <a:chExt cx="3413370" cy="4109642"/>
          </a:xfrm>
        </p:grpSpPr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5A18FF37-AB7C-8708-EE3F-A9C3458E4E6B}"/>
                </a:ext>
              </a:extLst>
            </p:cNvPr>
            <p:cNvGrpSpPr/>
            <p:nvPr/>
          </p:nvGrpSpPr>
          <p:grpSpPr>
            <a:xfrm>
              <a:off x="6960317" y="2326726"/>
              <a:ext cx="2278887" cy="1796989"/>
              <a:chOff x="5223218" y="4097896"/>
              <a:chExt cx="2278887" cy="1796989"/>
            </a:xfrm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DD55FD34-0BDA-CB29-6011-9A85347BB2E5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698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10" name="TextBox 309">
                <a:extLst>
                  <a:ext uri="{FF2B5EF4-FFF2-40B4-BE49-F238E27FC236}">
                    <a16:creationId xmlns:a16="http://schemas.microsoft.com/office/drawing/2014/main" id="{52E46158-B892-3505-BDD0-AB2F9BE3DC30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ECPT</a:t>
                </a:r>
              </a:p>
            </p:txBody>
          </p: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FD92864A-05F5-B664-DEF2-A81A56F1BC82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322" name="Rounded Rectangle 321">
                  <a:extLst>
                    <a:ext uri="{FF2B5EF4-FFF2-40B4-BE49-F238E27FC236}">
                      <a16:creationId xmlns:a16="http://schemas.microsoft.com/office/drawing/2014/main" id="{9DFBFADC-9437-0776-0A80-6D61CCC7DE22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3" name="Rectangle 322">
                  <a:extLst>
                    <a:ext uri="{FF2B5EF4-FFF2-40B4-BE49-F238E27FC236}">
                      <a16:creationId xmlns:a16="http://schemas.microsoft.com/office/drawing/2014/main" id="{1525CAAE-09AC-A711-0DA2-63CCF06B4346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F8FA6FA5-1981-9245-569F-5DD1156C1D71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5" name="Rectangle 324">
                  <a:extLst>
                    <a:ext uri="{FF2B5EF4-FFF2-40B4-BE49-F238E27FC236}">
                      <a16:creationId xmlns:a16="http://schemas.microsoft.com/office/drawing/2014/main" id="{B0FE97F4-0CC1-FF63-89C2-1C02C06ED6F5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2" name="Group 311">
                <a:extLst>
                  <a:ext uri="{FF2B5EF4-FFF2-40B4-BE49-F238E27FC236}">
                    <a16:creationId xmlns:a16="http://schemas.microsoft.com/office/drawing/2014/main" id="{C3EE1520-5E0C-01DE-7267-885D793924F6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18" name="Rounded Rectangle 317">
                  <a:extLst>
                    <a:ext uri="{FF2B5EF4-FFF2-40B4-BE49-F238E27FC236}">
                      <a16:creationId xmlns:a16="http://schemas.microsoft.com/office/drawing/2014/main" id="{1E53D1E7-F1DD-0CBC-EE34-EEBDDDED48D6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9" name="Rectangle 318">
                  <a:extLst>
                    <a:ext uri="{FF2B5EF4-FFF2-40B4-BE49-F238E27FC236}">
                      <a16:creationId xmlns:a16="http://schemas.microsoft.com/office/drawing/2014/main" id="{675B315E-8F7C-72F5-4890-BBE06853FDD8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20" name="Rectangle 319">
                  <a:extLst>
                    <a:ext uri="{FF2B5EF4-FFF2-40B4-BE49-F238E27FC236}">
                      <a16:creationId xmlns:a16="http://schemas.microsoft.com/office/drawing/2014/main" id="{6AC7D7B1-44BE-00CF-9B25-92FAB8ADB7D5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1" name="Rectangle 320">
                  <a:extLst>
                    <a:ext uri="{FF2B5EF4-FFF2-40B4-BE49-F238E27FC236}">
                      <a16:creationId xmlns:a16="http://schemas.microsoft.com/office/drawing/2014/main" id="{E41B7551-7E22-7603-7471-1D401BA11E62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086ECC0C-F020-CDE5-4AC2-0BEFF9FD3FA1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14" name="Rounded Rectangle 313">
                  <a:extLst>
                    <a:ext uri="{FF2B5EF4-FFF2-40B4-BE49-F238E27FC236}">
                      <a16:creationId xmlns:a16="http://schemas.microsoft.com/office/drawing/2014/main" id="{B141A9DE-7D26-F23A-296B-BF6B26C4F1A4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315" name="Rectangle 314">
                  <a:extLst>
                    <a:ext uri="{FF2B5EF4-FFF2-40B4-BE49-F238E27FC236}">
                      <a16:creationId xmlns:a16="http://schemas.microsoft.com/office/drawing/2014/main" id="{06F18FC5-F078-1001-2A5B-469B181CBA4F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16" name="Rectangle 315">
                  <a:extLst>
                    <a:ext uri="{FF2B5EF4-FFF2-40B4-BE49-F238E27FC236}">
                      <a16:creationId xmlns:a16="http://schemas.microsoft.com/office/drawing/2014/main" id="{D1D846D9-13ED-D6C8-D5B3-4B9D74D186ED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" name="Rectangle 316">
                  <a:extLst>
                    <a:ext uri="{FF2B5EF4-FFF2-40B4-BE49-F238E27FC236}">
                      <a16:creationId xmlns:a16="http://schemas.microsoft.com/office/drawing/2014/main" id="{FE02915A-884C-AE1E-76E0-6AF8BF0A40AD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483C4025-A5D3-E14D-6662-1DA5DDCDF322}"/>
                </a:ext>
              </a:extLst>
            </p:cNvPr>
            <p:cNvGrpSpPr/>
            <p:nvPr/>
          </p:nvGrpSpPr>
          <p:grpSpPr>
            <a:xfrm>
              <a:off x="6571971" y="2642452"/>
              <a:ext cx="2278887" cy="1790757"/>
              <a:chOff x="5223218" y="4097896"/>
              <a:chExt cx="2278887" cy="1790757"/>
            </a:xfrm>
          </p:grpSpPr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5D109CE1-2239-C24D-8E02-77CE0E7CCE44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07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3F08A628-034E-D9C2-4B85-0547D7B0254F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Radix Tree</a:t>
                </a:r>
              </a:p>
            </p:txBody>
          </p:sp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2CC39E22-CFAB-98B5-8A0C-DCD9FFDB8B06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304" name="Rounded Rectangle 303">
                  <a:extLst>
                    <a:ext uri="{FF2B5EF4-FFF2-40B4-BE49-F238E27FC236}">
                      <a16:creationId xmlns:a16="http://schemas.microsoft.com/office/drawing/2014/main" id="{1ACFED47-6939-2370-9627-13F69C7CAE84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78BD2014-9CAC-E719-0806-DFEC426418F2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06" name="Rectangle 305">
                  <a:extLst>
                    <a:ext uri="{FF2B5EF4-FFF2-40B4-BE49-F238E27FC236}">
                      <a16:creationId xmlns:a16="http://schemas.microsoft.com/office/drawing/2014/main" id="{6E2A9829-CC05-5409-C105-D99003A85212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7" name="Rectangle 306">
                  <a:extLst>
                    <a:ext uri="{FF2B5EF4-FFF2-40B4-BE49-F238E27FC236}">
                      <a16:creationId xmlns:a16="http://schemas.microsoft.com/office/drawing/2014/main" id="{25A4B569-6295-4BE4-2FDB-2DBC38918BFF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BBCF701B-F313-6A85-B246-BADD778D5B58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00" name="Rounded Rectangle 299">
                  <a:extLst>
                    <a:ext uri="{FF2B5EF4-FFF2-40B4-BE49-F238E27FC236}">
                      <a16:creationId xmlns:a16="http://schemas.microsoft.com/office/drawing/2014/main" id="{ED0B7050-A37B-4CD7-AB4F-9723F2F2926D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1" name="Rectangle 300">
                  <a:extLst>
                    <a:ext uri="{FF2B5EF4-FFF2-40B4-BE49-F238E27FC236}">
                      <a16:creationId xmlns:a16="http://schemas.microsoft.com/office/drawing/2014/main" id="{ABC05040-A8F8-24EA-F73F-FB1DEC8DA7E8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02" name="Rectangle 301">
                  <a:extLst>
                    <a:ext uri="{FF2B5EF4-FFF2-40B4-BE49-F238E27FC236}">
                      <a16:creationId xmlns:a16="http://schemas.microsoft.com/office/drawing/2014/main" id="{380A4E23-E7B7-02D5-545F-D0743A8E1D7D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3" name="Rectangle 302">
                  <a:extLst>
                    <a:ext uri="{FF2B5EF4-FFF2-40B4-BE49-F238E27FC236}">
                      <a16:creationId xmlns:a16="http://schemas.microsoft.com/office/drawing/2014/main" id="{4A944E3D-780E-55F6-9D0D-CCBBA73FB3C2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5" name="Group 294">
                <a:extLst>
                  <a:ext uri="{FF2B5EF4-FFF2-40B4-BE49-F238E27FC236}">
                    <a16:creationId xmlns:a16="http://schemas.microsoft.com/office/drawing/2014/main" id="{BF1EFB60-2DC7-DEEF-2A12-E1E735A95ECD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296" name="Rounded Rectangle 295">
                  <a:extLst>
                    <a:ext uri="{FF2B5EF4-FFF2-40B4-BE49-F238E27FC236}">
                      <a16:creationId xmlns:a16="http://schemas.microsoft.com/office/drawing/2014/main" id="{A7CDFB9D-2517-1AA2-C48F-8B01E124BCDC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297" name="Rectangle 296">
                  <a:extLst>
                    <a:ext uri="{FF2B5EF4-FFF2-40B4-BE49-F238E27FC236}">
                      <a16:creationId xmlns:a16="http://schemas.microsoft.com/office/drawing/2014/main" id="{03B3B684-06C1-87F3-8508-067B8998F186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EC490A79-E0B6-F8E8-9FF4-C18F09329273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014688B2-8C6B-9942-6FEE-20CF1097BB47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63F8A1-ECD5-BFBF-CA4F-AEE7A4032B96}"/>
                </a:ext>
              </a:extLst>
            </p:cNvPr>
            <p:cNvSpPr txBox="1"/>
            <p:nvPr/>
          </p:nvSpPr>
          <p:spPr>
            <a:xfrm>
              <a:off x="9239204" y="3027445"/>
              <a:ext cx="357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dirty="0"/>
                <a:t>...</a:t>
              </a:r>
            </a:p>
          </p:txBody>
        </p: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C03EBEFE-A752-AE30-DF00-1AC07AA4172F}"/>
                </a:ext>
              </a:extLst>
            </p:cNvPr>
            <p:cNvGrpSpPr/>
            <p:nvPr/>
          </p:nvGrpSpPr>
          <p:grpSpPr>
            <a:xfrm>
              <a:off x="6183625" y="2958179"/>
              <a:ext cx="2278887" cy="1795774"/>
              <a:chOff x="6183625" y="2958179"/>
              <a:chExt cx="2278887" cy="1795774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DE67352-5DEF-CA61-4853-7ED824F5E3B3}"/>
                  </a:ext>
                </a:extLst>
              </p:cNvPr>
              <p:cNvSpPr/>
              <p:nvPr/>
            </p:nvSpPr>
            <p:spPr>
              <a:xfrm>
                <a:off x="6183625" y="2958179"/>
                <a:ext cx="2278887" cy="179577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9A7EA2BE-C919-FF09-7E5A-3117C6C3437A}"/>
                  </a:ext>
                </a:extLst>
              </p:cNvPr>
              <p:cNvSpPr txBox="1"/>
              <p:nvPr/>
            </p:nvSpPr>
            <p:spPr>
              <a:xfrm>
                <a:off x="6279955" y="3050975"/>
                <a:ext cx="2182557" cy="51879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75000"/>
                  </a:lnSpc>
                </a:pPr>
                <a:r>
                  <a:rPr lang="en-KR" sz="2200" b="1" dirty="0"/>
                  <a:t>➀</a:t>
                </a:r>
                <a:r>
                  <a:rPr lang="en-KR" sz="2200" dirty="0"/>
                  <a:t>Memory Trans.</a:t>
                </a:r>
              </a:p>
              <a:p>
                <a:pPr>
                  <a:lnSpc>
                    <a:spcPct val="75000"/>
                  </a:lnSpc>
                </a:pPr>
                <a:r>
                  <a:rPr lang="en-KR" sz="2200" dirty="0"/>
                  <a:t> HW</a:t>
                </a: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2B2C8076-C04B-DF3E-DF4C-08AA5CC82C80}"/>
                  </a:ext>
                </a:extLst>
              </p:cNvPr>
              <p:cNvGrpSpPr/>
              <p:nvPr/>
            </p:nvGrpSpPr>
            <p:grpSpPr>
              <a:xfrm>
                <a:off x="7018697" y="3353293"/>
                <a:ext cx="1217244" cy="1067566"/>
                <a:chOff x="4442606" y="2852822"/>
                <a:chExt cx="1217244" cy="1067566"/>
              </a:xfrm>
            </p:grpSpPr>
            <p:sp>
              <p:nvSpPr>
                <p:cNvPr id="286" name="Rounded Rectangle 285">
                  <a:extLst>
                    <a:ext uri="{FF2B5EF4-FFF2-40B4-BE49-F238E27FC236}">
                      <a16:creationId xmlns:a16="http://schemas.microsoft.com/office/drawing/2014/main" id="{C990D849-D871-8356-8C88-00867795F08A}"/>
                    </a:ext>
                  </a:extLst>
                </p:cNvPr>
                <p:cNvSpPr/>
                <p:nvPr/>
              </p:nvSpPr>
              <p:spPr>
                <a:xfrm>
                  <a:off x="444260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32DB6402-8BA4-9EBC-CF12-463B03C6DEF3}"/>
                    </a:ext>
                  </a:extLst>
                </p:cNvPr>
                <p:cNvSpPr/>
                <p:nvPr/>
              </p:nvSpPr>
              <p:spPr>
                <a:xfrm>
                  <a:off x="444260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288" name="Rectangle 287">
                  <a:extLst>
                    <a:ext uri="{FF2B5EF4-FFF2-40B4-BE49-F238E27FC236}">
                      <a16:creationId xmlns:a16="http://schemas.microsoft.com/office/drawing/2014/main" id="{C15C5D5B-122D-8B1C-03E1-29120703A026}"/>
                    </a:ext>
                  </a:extLst>
                </p:cNvPr>
                <p:cNvSpPr/>
                <p:nvPr/>
              </p:nvSpPr>
              <p:spPr>
                <a:xfrm>
                  <a:off x="444260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Rectangle 288">
                  <a:extLst>
                    <a:ext uri="{FF2B5EF4-FFF2-40B4-BE49-F238E27FC236}">
                      <a16:creationId xmlns:a16="http://schemas.microsoft.com/office/drawing/2014/main" id="{D40AC52F-5674-1587-1300-28EDBF26A813}"/>
                    </a:ext>
                  </a:extLst>
                </p:cNvPr>
                <p:cNvSpPr/>
                <p:nvPr/>
              </p:nvSpPr>
              <p:spPr>
                <a:xfrm>
                  <a:off x="444260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8D38C384-BB62-DBFB-EC51-C0FDEBE30BDA}"/>
                  </a:ext>
                </a:extLst>
              </p:cNvPr>
              <p:cNvGrpSpPr/>
              <p:nvPr/>
            </p:nvGrpSpPr>
            <p:grpSpPr>
              <a:xfrm>
                <a:off x="6799828" y="3484707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282" name="Rounded Rectangle 281">
                  <a:extLst>
                    <a:ext uri="{FF2B5EF4-FFF2-40B4-BE49-F238E27FC236}">
                      <a16:creationId xmlns:a16="http://schemas.microsoft.com/office/drawing/2014/main" id="{060D15F5-BF34-D460-BFB2-C70491F5D9D9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E0CF97EE-539C-B623-E11B-496FD5D9D672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284" name="Rectangle 283">
                  <a:extLst>
                    <a:ext uri="{FF2B5EF4-FFF2-40B4-BE49-F238E27FC236}">
                      <a16:creationId xmlns:a16="http://schemas.microsoft.com/office/drawing/2014/main" id="{255C06E1-3919-6513-1956-6BFA120CB273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CB9B5FFD-AC68-382C-5779-FDBAA5459411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B00B9DAD-1E12-BA3E-DF8D-0BB61315866B}"/>
                  </a:ext>
                </a:extLst>
              </p:cNvPr>
              <p:cNvGrpSpPr/>
              <p:nvPr/>
            </p:nvGrpSpPr>
            <p:grpSpPr>
              <a:xfrm>
                <a:off x="6409491" y="3626833"/>
                <a:ext cx="1403433" cy="1067566"/>
                <a:chOff x="4357926" y="2852822"/>
                <a:chExt cx="1403433" cy="1067566"/>
              </a:xfrm>
            </p:grpSpPr>
            <p:sp>
              <p:nvSpPr>
                <p:cNvPr id="278" name="Rounded Rectangle 277">
                  <a:extLst>
                    <a:ext uri="{FF2B5EF4-FFF2-40B4-BE49-F238E27FC236}">
                      <a16:creationId xmlns:a16="http://schemas.microsoft.com/office/drawing/2014/main" id="{1D5DC71F-7DA0-BAC2-6329-5A88CF5E8522}"/>
                    </a:ext>
                  </a:extLst>
                </p:cNvPr>
                <p:cNvSpPr/>
                <p:nvPr/>
              </p:nvSpPr>
              <p:spPr>
                <a:xfrm>
                  <a:off x="4357926" y="2852822"/>
                  <a:ext cx="1403433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000" b="1" dirty="0">
                      <a:solidFill>
                        <a:schemeClr val="tx1"/>
                      </a:solidFill>
                    </a:rPr>
                    <a:t>➁</a:t>
                  </a:r>
                  <a:r>
                    <a:rPr lang="en-KR" sz="20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CF7D7645-EB90-01A8-7C2C-9A248EF12890}"/>
                    </a:ext>
                  </a:extLst>
                </p:cNvPr>
                <p:cNvSpPr/>
                <p:nvPr/>
              </p:nvSpPr>
              <p:spPr>
                <a:xfrm>
                  <a:off x="4357926" y="3197756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9DE162BD-E9C9-2D9B-7A6B-85D97310F3AD}"/>
                    </a:ext>
                  </a:extLst>
                </p:cNvPr>
                <p:cNvSpPr/>
                <p:nvPr/>
              </p:nvSpPr>
              <p:spPr>
                <a:xfrm>
                  <a:off x="4357926" y="3439069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b="1" dirty="0">
                      <a:solidFill>
                        <a:schemeClr val="tx1"/>
                      </a:solidFill>
                    </a:rPr>
                    <a:t>➂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9C4E79BA-CB64-08B7-8C07-97805EB580C0}"/>
                    </a:ext>
                  </a:extLst>
                </p:cNvPr>
                <p:cNvSpPr/>
                <p:nvPr/>
              </p:nvSpPr>
              <p:spPr>
                <a:xfrm>
                  <a:off x="4357926" y="3677780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E9D9384F-9B3C-DCF2-20C8-A5214EC105F2}"/>
                </a:ext>
              </a:extLst>
            </p:cNvPr>
            <p:cNvGrpSpPr/>
            <p:nvPr/>
          </p:nvGrpSpPr>
          <p:grpSpPr>
            <a:xfrm>
              <a:off x="6379407" y="4770550"/>
              <a:ext cx="3129752" cy="815403"/>
              <a:chOff x="6508102" y="4893587"/>
              <a:chExt cx="3129752" cy="815403"/>
            </a:xfrm>
          </p:grpSpPr>
          <p:sp>
            <p:nvSpPr>
              <p:cNvPr id="343" name="Rounded Rectangle 342">
                <a:extLst>
                  <a:ext uri="{FF2B5EF4-FFF2-40B4-BE49-F238E27FC236}">
                    <a16:creationId xmlns:a16="http://schemas.microsoft.com/office/drawing/2014/main" id="{249D12E9-11AF-8D55-5429-AF295F11120F}"/>
                  </a:ext>
                </a:extLst>
              </p:cNvPr>
              <p:cNvSpPr/>
              <p:nvPr/>
            </p:nvSpPr>
            <p:spPr>
              <a:xfrm>
                <a:off x="6508102" y="5051803"/>
                <a:ext cx="3129752" cy="65564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000"/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DAC8154F-3A48-C606-5021-D20AF97F5280}"/>
                  </a:ext>
                </a:extLst>
              </p:cNvPr>
              <p:cNvSpPr txBox="1"/>
              <p:nvPr/>
            </p:nvSpPr>
            <p:spPr>
              <a:xfrm>
                <a:off x="6580491" y="4893587"/>
                <a:ext cx="2984975" cy="3231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36000" tIns="0" rIns="36000" bIns="0" rtlCol="0">
                <a:spAutoFit/>
              </a:bodyPr>
              <a:lstStyle/>
              <a:p>
                <a:r>
                  <a:rPr lang="en-KR" sz="2100" b="1" u="sng" dirty="0"/>
                  <a:t>Primitives</a:t>
                </a:r>
                <a:r>
                  <a:rPr lang="en-KR" sz="2100" u="sng" dirty="0"/>
                  <a:t> for Abstractions</a:t>
                </a:r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B8EBC320-0F9F-5FF0-A08E-18B43FFA8676}"/>
                  </a:ext>
                </a:extLst>
              </p:cNvPr>
              <p:cNvGrpSpPr/>
              <p:nvPr/>
            </p:nvGrpSpPr>
            <p:grpSpPr>
              <a:xfrm>
                <a:off x="6935963" y="5235334"/>
                <a:ext cx="2274030" cy="473656"/>
                <a:chOff x="6777635" y="5235334"/>
                <a:chExt cx="2274030" cy="473656"/>
              </a:xfrm>
            </p:grpSpPr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8036746A-24CE-37A7-1875-17845FBA91C3}"/>
                    </a:ext>
                  </a:extLst>
                </p:cNvPr>
                <p:cNvSpPr txBox="1"/>
                <p:nvPr/>
              </p:nvSpPr>
              <p:spPr>
                <a:xfrm>
                  <a:off x="6777635" y="5235334"/>
                  <a:ext cx="976737" cy="4736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KR"/>
                  </a:defPPr>
                  <a:lvl1pPr marL="285750" indent="-177750">
                    <a:lnSpc>
                      <a:spcPct val="80000"/>
                    </a:lnSpc>
                    <a:buFont typeface="Arial" panose="020B0604020202020204" pitchFamily="34" charset="0"/>
                    <a:buChar char="•"/>
                  </a:lvl1pPr>
                </a:lstStyle>
                <a:p>
                  <a:r>
                    <a:rPr lang="en-KR" sz="1900" dirty="0"/>
                    <a:t>Create</a:t>
                  </a:r>
                </a:p>
                <a:p>
                  <a:r>
                    <a:rPr lang="en-KR" sz="1900" dirty="0"/>
                    <a:t>Read</a:t>
                  </a:r>
                </a:p>
              </p:txBody>
            </p:sp>
            <p:sp>
              <p:nvSpPr>
                <p:cNvPr id="333" name="TextBox 332">
                  <a:extLst>
                    <a:ext uri="{FF2B5EF4-FFF2-40B4-BE49-F238E27FC236}">
                      <a16:creationId xmlns:a16="http://schemas.microsoft.com/office/drawing/2014/main" id="{5E9D5B9B-5670-D077-0F19-802189C5A743}"/>
                    </a:ext>
                  </a:extLst>
                </p:cNvPr>
                <p:cNvSpPr txBox="1"/>
                <p:nvPr/>
              </p:nvSpPr>
              <p:spPr>
                <a:xfrm>
                  <a:off x="7901022" y="5235334"/>
                  <a:ext cx="1150643" cy="4736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en-KR"/>
                  </a:defPPr>
                  <a:lvl1pPr marL="285750" indent="-177750">
                    <a:lnSpc>
                      <a:spcPct val="80000"/>
                    </a:lnSpc>
                    <a:buFont typeface="Arial" panose="020B0604020202020204" pitchFamily="34" charset="0"/>
                    <a:buChar char="•"/>
                  </a:lvl1pPr>
                </a:lstStyle>
                <a:p>
                  <a:r>
                    <a:rPr lang="en-KR" sz="1900" dirty="0"/>
                    <a:t>Update</a:t>
                  </a:r>
                </a:p>
                <a:p>
                  <a:r>
                    <a:rPr lang="en-KR" sz="1900" dirty="0"/>
                    <a:t>Delete</a:t>
                  </a:r>
                </a:p>
              </p:txBody>
            </p:sp>
          </p:grp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5B0F69F0-0DE6-1732-175B-2D3763B8A8D8}"/>
                </a:ext>
              </a:extLst>
            </p:cNvPr>
            <p:cNvGrpSpPr/>
            <p:nvPr/>
          </p:nvGrpSpPr>
          <p:grpSpPr>
            <a:xfrm>
              <a:off x="6379407" y="5616424"/>
              <a:ext cx="3129752" cy="819944"/>
              <a:chOff x="6467243" y="5739461"/>
              <a:chExt cx="3129752" cy="819944"/>
            </a:xfrm>
          </p:grpSpPr>
          <p:sp>
            <p:nvSpPr>
              <p:cNvPr id="344" name="Rounded Rectangle 343">
                <a:extLst>
                  <a:ext uri="{FF2B5EF4-FFF2-40B4-BE49-F238E27FC236}">
                    <a16:creationId xmlns:a16="http://schemas.microsoft.com/office/drawing/2014/main" id="{A8FEA76E-A46F-80D1-8817-54040EAB9A7C}"/>
                  </a:ext>
                </a:extLst>
              </p:cNvPr>
              <p:cNvSpPr/>
              <p:nvPr/>
            </p:nvSpPr>
            <p:spPr>
              <a:xfrm>
                <a:off x="6467243" y="5903759"/>
                <a:ext cx="3129752" cy="65564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KR" sz="2000"/>
              </a:p>
            </p:txBody>
          </p:sp>
          <p:sp>
            <p:nvSpPr>
              <p:cNvPr id="328" name="TextBox 327">
                <a:extLst>
                  <a:ext uri="{FF2B5EF4-FFF2-40B4-BE49-F238E27FC236}">
                    <a16:creationId xmlns:a16="http://schemas.microsoft.com/office/drawing/2014/main" id="{A2D896E2-5A62-D6DE-666B-5094A31BB3CC}"/>
                  </a:ext>
                </a:extLst>
              </p:cNvPr>
              <p:cNvSpPr txBox="1"/>
              <p:nvPr/>
            </p:nvSpPr>
            <p:spPr>
              <a:xfrm>
                <a:off x="7216163" y="5739461"/>
                <a:ext cx="1631913" cy="3231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36000" tIns="0" rIns="36000" bIns="0" rtlCol="0">
                <a:spAutoFit/>
              </a:bodyPr>
              <a:lstStyle/>
              <a:p>
                <a:r>
                  <a:rPr lang="en-KR" sz="2100" b="1" u="sng" dirty="0"/>
                  <a:t>Optimizations</a:t>
                </a:r>
              </a:p>
            </p:txBody>
          </p:sp>
          <p:grpSp>
            <p:nvGrpSpPr>
              <p:cNvPr id="352" name="Group 351">
                <a:extLst>
                  <a:ext uri="{FF2B5EF4-FFF2-40B4-BE49-F238E27FC236}">
                    <a16:creationId xmlns:a16="http://schemas.microsoft.com/office/drawing/2014/main" id="{E42D45E4-C129-9D6F-0D87-12EA5723F178}"/>
                  </a:ext>
                </a:extLst>
              </p:cNvPr>
              <p:cNvGrpSpPr/>
              <p:nvPr/>
            </p:nvGrpSpPr>
            <p:grpSpPr>
              <a:xfrm>
                <a:off x="6528305" y="6081208"/>
                <a:ext cx="3007629" cy="473656"/>
                <a:chOff x="6492562" y="6081208"/>
                <a:chExt cx="3007629" cy="473656"/>
              </a:xfrm>
            </p:grpSpPr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A0CC02C8-754E-0351-2E9A-763EA7BAC058}"/>
                    </a:ext>
                  </a:extLst>
                </p:cNvPr>
                <p:cNvSpPr txBox="1"/>
                <p:nvPr/>
              </p:nvSpPr>
              <p:spPr>
                <a:xfrm>
                  <a:off x="6492562" y="6081208"/>
                  <a:ext cx="1139479" cy="473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KR"/>
                  </a:defPPr>
                  <a:lvl1pPr marL="285750" indent="-177750">
                    <a:lnSpc>
                      <a:spcPct val="80000"/>
                    </a:lnSpc>
                    <a:buFont typeface="Arial" panose="020B0604020202020204" pitchFamily="34" charset="0"/>
                    <a:buChar char="•"/>
                  </a:lvl1pPr>
                </a:lstStyle>
                <a:p>
                  <a:r>
                    <a:rPr lang="en-KR" sz="1900" dirty="0"/>
                    <a:t>Iteration</a:t>
                  </a:r>
                </a:p>
                <a:p>
                  <a:r>
                    <a:rPr lang="en-KR" sz="1900" dirty="0"/>
                    <a:t>Count</a:t>
                  </a:r>
                </a:p>
              </p:txBody>
            </p:sp>
            <p:sp>
              <p:nvSpPr>
                <p:cNvPr id="337" name="TextBox 336">
                  <a:extLst>
                    <a:ext uri="{FF2B5EF4-FFF2-40B4-BE49-F238E27FC236}">
                      <a16:creationId xmlns:a16="http://schemas.microsoft.com/office/drawing/2014/main" id="{E9CABA52-E4F4-2C5A-03E7-283A08995748}"/>
                    </a:ext>
                  </a:extLst>
                </p:cNvPr>
                <p:cNvSpPr txBox="1"/>
                <p:nvPr/>
              </p:nvSpPr>
              <p:spPr>
                <a:xfrm>
                  <a:off x="7637822" y="6081208"/>
                  <a:ext cx="1862369" cy="473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285750" indent="-177750">
                    <a:lnSpc>
                      <a:spcPct val="8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sz="1900" dirty="0"/>
                    <a:t>Synchronization</a:t>
                  </a:r>
                  <a:endParaRPr lang="en-KR" sz="1900" dirty="0"/>
                </a:p>
                <a:p>
                  <a:pPr marL="285750" indent="-177750">
                    <a:lnSpc>
                      <a:spcPct val="80000"/>
                    </a:lnSpc>
                    <a:buFont typeface="Arial" panose="020B0604020202020204" pitchFamily="34" charset="0"/>
                    <a:buChar char="•"/>
                  </a:pPr>
                  <a:r>
                    <a:rPr lang="en-KR" sz="1900" dirty="0"/>
                    <a:t>...</a:t>
                  </a:r>
                </a:p>
              </p:txBody>
            </p:sp>
          </p:grpSp>
        </p:grp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804596E2-4351-35D4-9155-8411A1B573FC}"/>
              </a:ext>
            </a:extLst>
          </p:cNvPr>
          <p:cNvGrpSpPr/>
          <p:nvPr/>
        </p:nvGrpSpPr>
        <p:grpSpPr>
          <a:xfrm>
            <a:off x="7185515" y="1545460"/>
            <a:ext cx="3442727" cy="3818267"/>
            <a:chOff x="7185515" y="1545460"/>
            <a:chExt cx="3442727" cy="3818267"/>
          </a:xfrm>
        </p:grpSpPr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1E098301-E88D-A979-D3EF-9EABEE6E92FF}"/>
                </a:ext>
              </a:extLst>
            </p:cNvPr>
            <p:cNvGrpSpPr/>
            <p:nvPr/>
          </p:nvGrpSpPr>
          <p:grpSpPr>
            <a:xfrm>
              <a:off x="7965217" y="1545460"/>
              <a:ext cx="2278887" cy="1796989"/>
              <a:chOff x="5223218" y="4097896"/>
              <a:chExt cx="2278887" cy="1796989"/>
            </a:xfrm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A908EB55-2612-5BBA-0532-6B3360CA9509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698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7819E2F3-9528-BF1D-8A88-1FD4E51BEEB1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ECPT</a:t>
                </a:r>
              </a:p>
            </p:txBody>
          </p:sp>
          <p:grpSp>
            <p:nvGrpSpPr>
              <p:cNvPr id="409" name="Group 408">
                <a:extLst>
                  <a:ext uri="{FF2B5EF4-FFF2-40B4-BE49-F238E27FC236}">
                    <a16:creationId xmlns:a16="http://schemas.microsoft.com/office/drawing/2014/main" id="{C71DD86F-5B39-2261-8B54-693D14ACFF82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420" name="Rounded Rectangle 419">
                  <a:extLst>
                    <a:ext uri="{FF2B5EF4-FFF2-40B4-BE49-F238E27FC236}">
                      <a16:creationId xmlns:a16="http://schemas.microsoft.com/office/drawing/2014/main" id="{D4AA00B0-DE8C-FF06-F9CD-4A7BBAA7E3F6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1" name="Rectangle 420">
                  <a:extLst>
                    <a:ext uri="{FF2B5EF4-FFF2-40B4-BE49-F238E27FC236}">
                      <a16:creationId xmlns:a16="http://schemas.microsoft.com/office/drawing/2014/main" id="{C6EBC9A2-04C8-A43A-85A8-88EFF302EE82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22" name="Rectangle 421">
                  <a:extLst>
                    <a:ext uri="{FF2B5EF4-FFF2-40B4-BE49-F238E27FC236}">
                      <a16:creationId xmlns:a16="http://schemas.microsoft.com/office/drawing/2014/main" id="{FBD6EB2E-4B2A-3337-6C88-589EB0242BCB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3" name="Rectangle 422">
                  <a:extLst>
                    <a:ext uri="{FF2B5EF4-FFF2-40B4-BE49-F238E27FC236}">
                      <a16:creationId xmlns:a16="http://schemas.microsoft.com/office/drawing/2014/main" id="{C74B536A-56E1-AA87-24AC-2FCF68C1D0EF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FE245AC4-C29A-BB62-B31D-92AA0F330B8B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416" name="Rounded Rectangle 415">
                  <a:extLst>
                    <a:ext uri="{FF2B5EF4-FFF2-40B4-BE49-F238E27FC236}">
                      <a16:creationId xmlns:a16="http://schemas.microsoft.com/office/drawing/2014/main" id="{CAB469A1-EB25-E5FE-6314-D11D679C0004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7" name="Rectangle 416">
                  <a:extLst>
                    <a:ext uri="{FF2B5EF4-FFF2-40B4-BE49-F238E27FC236}">
                      <a16:creationId xmlns:a16="http://schemas.microsoft.com/office/drawing/2014/main" id="{3D9A34A7-BD7E-7462-8850-FA9E9CE3C7A5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18" name="Rectangle 417">
                  <a:extLst>
                    <a:ext uri="{FF2B5EF4-FFF2-40B4-BE49-F238E27FC236}">
                      <a16:creationId xmlns:a16="http://schemas.microsoft.com/office/drawing/2014/main" id="{029DB032-1FCD-4C33-89DD-6B78A1230E50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9" name="Rectangle 418">
                  <a:extLst>
                    <a:ext uri="{FF2B5EF4-FFF2-40B4-BE49-F238E27FC236}">
                      <a16:creationId xmlns:a16="http://schemas.microsoft.com/office/drawing/2014/main" id="{64D9CFCF-EB8C-DDB0-2CDD-BFB6A3DBC898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2504C85B-7CAB-5C82-CF1F-8AF0D4C625CB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412" name="Rounded Rectangle 411">
                  <a:extLst>
                    <a:ext uri="{FF2B5EF4-FFF2-40B4-BE49-F238E27FC236}">
                      <a16:creationId xmlns:a16="http://schemas.microsoft.com/office/drawing/2014/main" id="{1B20B2BB-6D36-F0A5-1E85-B407FD386C70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413" name="Rectangle 412">
                  <a:extLst>
                    <a:ext uri="{FF2B5EF4-FFF2-40B4-BE49-F238E27FC236}">
                      <a16:creationId xmlns:a16="http://schemas.microsoft.com/office/drawing/2014/main" id="{2996688F-00FB-9A5F-22A9-442C79D253FD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14" name="Rectangle 413">
                  <a:extLst>
                    <a:ext uri="{FF2B5EF4-FFF2-40B4-BE49-F238E27FC236}">
                      <a16:creationId xmlns:a16="http://schemas.microsoft.com/office/drawing/2014/main" id="{FFC9E40A-62FE-FD65-9CA8-D57E677D10E3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5" name="Rectangle 414">
                  <a:extLst>
                    <a:ext uri="{FF2B5EF4-FFF2-40B4-BE49-F238E27FC236}">
                      <a16:creationId xmlns:a16="http://schemas.microsoft.com/office/drawing/2014/main" id="{A3FF3D78-1FE3-A3E7-7176-CD2E3A8449EE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DD6B09C7-1852-E55E-2C1D-7DBBF9EDCFE9}"/>
                </a:ext>
              </a:extLst>
            </p:cNvPr>
            <p:cNvGrpSpPr/>
            <p:nvPr/>
          </p:nvGrpSpPr>
          <p:grpSpPr>
            <a:xfrm>
              <a:off x="7576871" y="1861186"/>
              <a:ext cx="2278887" cy="1790757"/>
              <a:chOff x="5223218" y="4097896"/>
              <a:chExt cx="2278887" cy="1790757"/>
            </a:xfrm>
          </p:grpSpPr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17C5E388-2622-2619-2459-2F6917805EDA}"/>
                  </a:ext>
                </a:extLst>
              </p:cNvPr>
              <p:cNvSpPr/>
              <p:nvPr/>
            </p:nvSpPr>
            <p:spPr>
              <a:xfrm>
                <a:off x="5223218" y="4097896"/>
                <a:ext cx="2278887" cy="17907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94B7D937-5A3A-3797-B1E6-1B261CF0E957}"/>
                  </a:ext>
                </a:extLst>
              </p:cNvPr>
              <p:cNvSpPr txBox="1"/>
              <p:nvPr/>
            </p:nvSpPr>
            <p:spPr>
              <a:xfrm>
                <a:off x="5319548" y="4190693"/>
                <a:ext cx="1955985" cy="2167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:r>
                  <a:rPr lang="en-KR" dirty="0"/>
                  <a:t>Radix Tree</a:t>
                </a:r>
              </a:p>
            </p:txBody>
          </p: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D297EF45-BE5D-9B6A-FFA8-C72F997254D7}"/>
                  </a:ext>
                </a:extLst>
              </p:cNvPr>
              <p:cNvGrpSpPr/>
              <p:nvPr/>
            </p:nvGrpSpPr>
            <p:grpSpPr>
              <a:xfrm>
                <a:off x="6058290" y="4648279"/>
                <a:ext cx="1217244" cy="1067566"/>
                <a:chOff x="4485736" y="3008090"/>
                <a:chExt cx="1217244" cy="1067566"/>
              </a:xfrm>
            </p:grpSpPr>
            <p:sp>
              <p:nvSpPr>
                <p:cNvPr id="403" name="Rounded Rectangle 402">
                  <a:extLst>
                    <a:ext uri="{FF2B5EF4-FFF2-40B4-BE49-F238E27FC236}">
                      <a16:creationId xmlns:a16="http://schemas.microsoft.com/office/drawing/2014/main" id="{ACFD21C8-2320-EA96-1FBD-B12E7BE0770B}"/>
                    </a:ext>
                  </a:extLst>
                </p:cNvPr>
                <p:cNvSpPr/>
                <p:nvPr/>
              </p:nvSpPr>
              <p:spPr>
                <a:xfrm>
                  <a:off x="4485736" y="3008090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4" name="Rectangle 403">
                  <a:extLst>
                    <a:ext uri="{FF2B5EF4-FFF2-40B4-BE49-F238E27FC236}">
                      <a16:creationId xmlns:a16="http://schemas.microsoft.com/office/drawing/2014/main" id="{DB72B734-1504-5CD8-D921-6CB8CE56B363}"/>
                    </a:ext>
                  </a:extLst>
                </p:cNvPr>
                <p:cNvSpPr/>
                <p:nvPr/>
              </p:nvSpPr>
              <p:spPr>
                <a:xfrm>
                  <a:off x="4485736" y="3353024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8B4CE1CF-29EF-753F-661A-7244AADFDA04}"/>
                    </a:ext>
                  </a:extLst>
                </p:cNvPr>
                <p:cNvSpPr/>
                <p:nvPr/>
              </p:nvSpPr>
              <p:spPr>
                <a:xfrm>
                  <a:off x="4485736" y="3594337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38966742-24DD-057D-7B78-2F6EDFB3C89D}"/>
                    </a:ext>
                  </a:extLst>
                </p:cNvPr>
                <p:cNvSpPr/>
                <p:nvPr/>
              </p:nvSpPr>
              <p:spPr>
                <a:xfrm>
                  <a:off x="4485736" y="3833048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E6DAF5F9-1EF5-45BE-1DD0-CA91BF465372}"/>
                  </a:ext>
                </a:extLst>
              </p:cNvPr>
              <p:cNvGrpSpPr/>
              <p:nvPr/>
            </p:nvGrpSpPr>
            <p:grpSpPr>
              <a:xfrm>
                <a:off x="5796291" y="4624425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99" name="Rounded Rectangle 398">
                  <a:extLst>
                    <a:ext uri="{FF2B5EF4-FFF2-40B4-BE49-F238E27FC236}">
                      <a16:creationId xmlns:a16="http://schemas.microsoft.com/office/drawing/2014/main" id="{87CBB920-085F-BC7D-06D7-B73985CAAB23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483F7B98-E3AB-515E-0AEA-B944A722CF0A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401" name="Rectangle 400">
                  <a:extLst>
                    <a:ext uri="{FF2B5EF4-FFF2-40B4-BE49-F238E27FC236}">
                      <a16:creationId xmlns:a16="http://schemas.microsoft.com/office/drawing/2014/main" id="{879876EB-87D8-A26D-2337-7815DD3DA92C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A8B3750A-802D-773C-8933-14B1D424D7B0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07EFC2B1-F0A6-08FF-09C7-73E2F8A55EB8}"/>
                  </a:ext>
                </a:extLst>
              </p:cNvPr>
              <p:cNvGrpSpPr/>
              <p:nvPr/>
            </p:nvGrpSpPr>
            <p:grpSpPr>
              <a:xfrm>
                <a:off x="5533764" y="4766551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95" name="Rounded Rectangle 394">
                  <a:extLst>
                    <a:ext uri="{FF2B5EF4-FFF2-40B4-BE49-F238E27FC236}">
                      <a16:creationId xmlns:a16="http://schemas.microsoft.com/office/drawing/2014/main" id="{D7C3BCCC-FDD0-DA91-4295-C5DA5A0DDA13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1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4BCAC091-00A2-7516-82FC-AB37B98502BC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97" name="Rectangle 396">
                  <a:extLst>
                    <a:ext uri="{FF2B5EF4-FFF2-40B4-BE49-F238E27FC236}">
                      <a16:creationId xmlns:a16="http://schemas.microsoft.com/office/drawing/2014/main" id="{3A1A0F12-F23B-25DB-D1B4-F5A44D937612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8" name="Rectangle 397">
                  <a:extLst>
                    <a:ext uri="{FF2B5EF4-FFF2-40B4-BE49-F238E27FC236}">
                      <a16:creationId xmlns:a16="http://schemas.microsoft.com/office/drawing/2014/main" id="{2AAD218B-2589-0CDF-2783-F4FDA69F954C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3CD1C59D-FD18-2EB1-06D6-2F2746826209}"/>
                </a:ext>
              </a:extLst>
            </p:cNvPr>
            <p:cNvSpPr txBox="1"/>
            <p:nvPr/>
          </p:nvSpPr>
          <p:spPr>
            <a:xfrm>
              <a:off x="10244104" y="2246179"/>
              <a:ext cx="357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KR" dirty="0"/>
                <a:t>...</a:t>
              </a: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C6D14CCA-D62C-E3BE-8F97-C19C66C3C977}"/>
                </a:ext>
              </a:extLst>
            </p:cNvPr>
            <p:cNvGrpSpPr/>
            <p:nvPr/>
          </p:nvGrpSpPr>
          <p:grpSpPr>
            <a:xfrm>
              <a:off x="7188525" y="2176913"/>
              <a:ext cx="2278887" cy="1795774"/>
              <a:chOff x="6183625" y="2958179"/>
              <a:chExt cx="2278887" cy="1795774"/>
            </a:xfrm>
          </p:grpSpPr>
          <p:sp>
            <p:nvSpPr>
              <p:cNvPr id="373" name="Rectangle 372">
                <a:extLst>
                  <a:ext uri="{FF2B5EF4-FFF2-40B4-BE49-F238E27FC236}">
                    <a16:creationId xmlns:a16="http://schemas.microsoft.com/office/drawing/2014/main" id="{4B582798-6085-273D-2A44-9E80C00F7E4B}"/>
                  </a:ext>
                </a:extLst>
              </p:cNvPr>
              <p:cNvSpPr/>
              <p:nvPr/>
            </p:nvSpPr>
            <p:spPr>
              <a:xfrm>
                <a:off x="6183625" y="2958179"/>
                <a:ext cx="2278887" cy="179577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72000" rIns="0" bIns="0" rtlCol="0" anchor="t" anchorCtr="1"/>
              <a:lstStyle/>
              <a:p>
                <a:pPr>
                  <a:lnSpc>
                    <a:spcPct val="75000"/>
                  </a:lnSpc>
                </a:pP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374" name="TextBox 373">
                <a:extLst>
                  <a:ext uri="{FF2B5EF4-FFF2-40B4-BE49-F238E27FC236}">
                    <a16:creationId xmlns:a16="http://schemas.microsoft.com/office/drawing/2014/main" id="{8D000318-C66F-1772-61DE-86CC63FF6316}"/>
                  </a:ext>
                </a:extLst>
              </p:cNvPr>
              <p:cNvSpPr txBox="1"/>
              <p:nvPr/>
            </p:nvSpPr>
            <p:spPr>
              <a:xfrm>
                <a:off x="6279955" y="3050975"/>
                <a:ext cx="2182557" cy="51879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ct val="75000"/>
                  </a:lnSpc>
                </a:pPr>
                <a:r>
                  <a:rPr lang="en-KR" sz="2200" b="1" dirty="0"/>
                  <a:t>➀</a:t>
                </a:r>
                <a:r>
                  <a:rPr lang="en-KR" sz="2200" dirty="0"/>
                  <a:t>Memory Trans.</a:t>
                </a:r>
              </a:p>
              <a:p>
                <a:pPr>
                  <a:lnSpc>
                    <a:spcPct val="75000"/>
                  </a:lnSpc>
                </a:pPr>
                <a:r>
                  <a:rPr lang="en-KR" sz="2200" dirty="0"/>
                  <a:t> HW</a:t>
                </a:r>
              </a:p>
            </p:txBody>
          </p:sp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F3E0BBF0-A7A7-BECE-3329-E1900353E608}"/>
                  </a:ext>
                </a:extLst>
              </p:cNvPr>
              <p:cNvGrpSpPr/>
              <p:nvPr/>
            </p:nvGrpSpPr>
            <p:grpSpPr>
              <a:xfrm>
                <a:off x="7018697" y="3353293"/>
                <a:ext cx="1217244" cy="1067566"/>
                <a:chOff x="4442606" y="2852822"/>
                <a:chExt cx="1217244" cy="1067566"/>
              </a:xfrm>
            </p:grpSpPr>
            <p:sp>
              <p:nvSpPr>
                <p:cNvPr id="386" name="Rounded Rectangle 385">
                  <a:extLst>
                    <a:ext uri="{FF2B5EF4-FFF2-40B4-BE49-F238E27FC236}">
                      <a16:creationId xmlns:a16="http://schemas.microsoft.com/office/drawing/2014/main" id="{EA1393D7-97D8-30A6-D06A-A644E3E3AE7B}"/>
                    </a:ext>
                  </a:extLst>
                </p:cNvPr>
                <p:cNvSpPr/>
                <p:nvPr/>
              </p:nvSpPr>
              <p:spPr>
                <a:xfrm>
                  <a:off x="444260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EDB84B45-292F-AE63-BFD9-9BD2A0A6C09B}"/>
                    </a:ext>
                  </a:extLst>
                </p:cNvPr>
                <p:cNvSpPr/>
                <p:nvPr/>
              </p:nvSpPr>
              <p:spPr>
                <a:xfrm>
                  <a:off x="444260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79DFE7E1-6D3E-7F5E-0796-DA67B8846FE3}"/>
                    </a:ext>
                  </a:extLst>
                </p:cNvPr>
                <p:cNvSpPr/>
                <p:nvPr/>
              </p:nvSpPr>
              <p:spPr>
                <a:xfrm>
                  <a:off x="444260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9" name="Rectangle 388">
                  <a:extLst>
                    <a:ext uri="{FF2B5EF4-FFF2-40B4-BE49-F238E27FC236}">
                      <a16:creationId xmlns:a16="http://schemas.microsoft.com/office/drawing/2014/main" id="{81AB316F-3A85-DE02-0D02-4B71617D56B4}"/>
                    </a:ext>
                  </a:extLst>
                </p:cNvPr>
                <p:cNvSpPr/>
                <p:nvPr/>
              </p:nvSpPr>
              <p:spPr>
                <a:xfrm>
                  <a:off x="444260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54F1100E-206A-B602-83A3-D7C74A850E93}"/>
                  </a:ext>
                </a:extLst>
              </p:cNvPr>
              <p:cNvGrpSpPr/>
              <p:nvPr/>
            </p:nvGrpSpPr>
            <p:grpSpPr>
              <a:xfrm>
                <a:off x="6799828" y="3484707"/>
                <a:ext cx="1217244" cy="1067566"/>
                <a:chOff x="4485736" y="2852822"/>
                <a:chExt cx="1217244" cy="1067566"/>
              </a:xfrm>
            </p:grpSpPr>
            <p:sp>
              <p:nvSpPr>
                <p:cNvPr id="382" name="Rounded Rectangle 381">
                  <a:extLst>
                    <a:ext uri="{FF2B5EF4-FFF2-40B4-BE49-F238E27FC236}">
                      <a16:creationId xmlns:a16="http://schemas.microsoft.com/office/drawing/2014/main" id="{A2126637-B6BC-F3B1-FA63-02372FFC4602}"/>
                    </a:ext>
                  </a:extLst>
                </p:cNvPr>
                <p:cNvSpPr/>
                <p:nvPr/>
              </p:nvSpPr>
              <p:spPr>
                <a:xfrm>
                  <a:off x="4485736" y="2852822"/>
                  <a:ext cx="1217244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endParaRPr lang="en-KR" sz="2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4FBCCBFD-3575-D97B-EB1C-1EC5002986D8}"/>
                    </a:ext>
                  </a:extLst>
                </p:cNvPr>
                <p:cNvSpPr/>
                <p:nvPr/>
              </p:nvSpPr>
              <p:spPr>
                <a:xfrm>
                  <a:off x="4485736" y="3197756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4" name="Rectangle 383">
                  <a:extLst>
                    <a:ext uri="{FF2B5EF4-FFF2-40B4-BE49-F238E27FC236}">
                      <a16:creationId xmlns:a16="http://schemas.microsoft.com/office/drawing/2014/main" id="{0427A294-6F58-94E2-F12A-74540D6B4752}"/>
                    </a:ext>
                  </a:extLst>
                </p:cNvPr>
                <p:cNvSpPr/>
                <p:nvPr/>
              </p:nvSpPr>
              <p:spPr>
                <a:xfrm>
                  <a:off x="4485736" y="3439069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5" name="Rectangle 384">
                  <a:extLst>
                    <a:ext uri="{FF2B5EF4-FFF2-40B4-BE49-F238E27FC236}">
                      <a16:creationId xmlns:a16="http://schemas.microsoft.com/office/drawing/2014/main" id="{C475FDF0-78CC-9736-510C-6426A457BB98}"/>
                    </a:ext>
                  </a:extLst>
                </p:cNvPr>
                <p:cNvSpPr/>
                <p:nvPr/>
              </p:nvSpPr>
              <p:spPr>
                <a:xfrm>
                  <a:off x="4485736" y="3677780"/>
                  <a:ext cx="1217244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C49D9FB9-A0A6-C99A-43EB-C62A07BD775B}"/>
                  </a:ext>
                </a:extLst>
              </p:cNvPr>
              <p:cNvGrpSpPr/>
              <p:nvPr/>
            </p:nvGrpSpPr>
            <p:grpSpPr>
              <a:xfrm>
                <a:off x="6409491" y="3626833"/>
                <a:ext cx="1403433" cy="1067566"/>
                <a:chOff x="4357926" y="2852822"/>
                <a:chExt cx="1403433" cy="1067566"/>
              </a:xfrm>
            </p:grpSpPr>
            <p:sp>
              <p:nvSpPr>
                <p:cNvPr id="378" name="Rounded Rectangle 377">
                  <a:extLst>
                    <a:ext uri="{FF2B5EF4-FFF2-40B4-BE49-F238E27FC236}">
                      <a16:creationId xmlns:a16="http://schemas.microsoft.com/office/drawing/2014/main" id="{665F5118-F957-8E9F-1A00-FAD72AD9D744}"/>
                    </a:ext>
                  </a:extLst>
                </p:cNvPr>
                <p:cNvSpPr/>
                <p:nvPr/>
              </p:nvSpPr>
              <p:spPr>
                <a:xfrm>
                  <a:off x="4357926" y="2852822"/>
                  <a:ext cx="1403433" cy="1067566"/>
                </a:xfrm>
                <a:prstGeom prst="roundRect">
                  <a:avLst>
                    <a:gd name="adj" fmla="val 11313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000" b="1" dirty="0">
                      <a:solidFill>
                        <a:schemeClr val="tx1"/>
                      </a:solidFill>
                    </a:rPr>
                    <a:t>➁</a:t>
                  </a:r>
                  <a:r>
                    <a:rPr lang="en-KR" sz="2000" dirty="0">
                      <a:solidFill>
                        <a:schemeClr val="tx1"/>
                      </a:solidFill>
                    </a:rPr>
                    <a:t>Page Table</a:t>
                  </a:r>
                </a:p>
              </p:txBody>
            </p:sp>
            <p:sp>
              <p:nvSpPr>
                <p:cNvPr id="379" name="Rectangle 378">
                  <a:extLst>
                    <a:ext uri="{FF2B5EF4-FFF2-40B4-BE49-F238E27FC236}">
                      <a16:creationId xmlns:a16="http://schemas.microsoft.com/office/drawing/2014/main" id="{98D01A5F-A823-B422-A5AC-F92A310E9FD1}"/>
                    </a:ext>
                  </a:extLst>
                </p:cNvPr>
                <p:cNvSpPr/>
                <p:nvPr/>
              </p:nvSpPr>
              <p:spPr>
                <a:xfrm>
                  <a:off x="4357926" y="3197756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KR" dirty="0">
                      <a:solidFill>
                        <a:schemeClr val="tx1"/>
                      </a:solidFill>
                    </a:rPr>
                    <a:t>...</a:t>
                  </a:r>
                </a:p>
              </p:txBody>
            </p: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65D6C9C7-AAF5-C91B-78AE-CB42E20AEF0A}"/>
                    </a:ext>
                  </a:extLst>
                </p:cNvPr>
                <p:cNvSpPr/>
                <p:nvPr/>
              </p:nvSpPr>
              <p:spPr>
                <a:xfrm>
                  <a:off x="4357926" y="3439069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b="1" dirty="0">
                      <a:solidFill>
                        <a:schemeClr val="tx1"/>
                      </a:solidFill>
                    </a:rPr>
                    <a:t>➂</a:t>
                  </a:r>
                  <a:r>
                    <a:rPr lang="en-US" dirty="0">
                      <a:solidFill>
                        <a:schemeClr val="tx1"/>
                      </a:solidFill>
                    </a:rPr>
                    <a:t>Entry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1" name="Rectangle 380">
                  <a:extLst>
                    <a:ext uri="{FF2B5EF4-FFF2-40B4-BE49-F238E27FC236}">
                      <a16:creationId xmlns:a16="http://schemas.microsoft.com/office/drawing/2014/main" id="{79EB3552-00F0-2F05-22CE-ECFE61AE8178}"/>
                    </a:ext>
                  </a:extLst>
                </p:cNvPr>
                <p:cNvSpPr/>
                <p:nvPr/>
              </p:nvSpPr>
              <p:spPr>
                <a:xfrm>
                  <a:off x="4357926" y="3677780"/>
                  <a:ext cx="1403433" cy="242608"/>
                </a:xfrm>
                <a:prstGeom prst="rect">
                  <a:avLst/>
                </a:prstGeom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36000" rIns="0" bIns="0" rtlCol="0" anchor="ctr" anchorCtr="1"/>
                <a:lstStyle/>
                <a:p>
                  <a:pPr algn="ctr">
                    <a:lnSpc>
                      <a:spcPct val="80000"/>
                    </a:lnSpc>
                  </a:pPr>
                  <a:r>
                    <a:rPr lang="en-US" dirty="0">
                      <a:solidFill>
                        <a:schemeClr val="tx1"/>
                      </a:solidFill>
                    </a:rPr>
                    <a:t>...</a:t>
                  </a:r>
                  <a:endParaRPr lang="en-KR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68" name="Rounded Rectangle 367">
              <a:extLst>
                <a:ext uri="{FF2B5EF4-FFF2-40B4-BE49-F238E27FC236}">
                  <a16:creationId xmlns:a16="http://schemas.microsoft.com/office/drawing/2014/main" id="{202CA8DA-8590-9705-12E6-3D187AE86F48}"/>
                </a:ext>
              </a:extLst>
            </p:cNvPr>
            <p:cNvSpPr/>
            <p:nvPr/>
          </p:nvSpPr>
          <p:spPr>
            <a:xfrm>
              <a:off x="7185515" y="4173378"/>
              <a:ext cx="3442727" cy="50229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00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0AF3C6B8-AAAC-95D5-5D09-ABECCEFAC307}"/>
                </a:ext>
              </a:extLst>
            </p:cNvPr>
            <p:cNvSpPr txBox="1"/>
            <p:nvPr/>
          </p:nvSpPr>
          <p:spPr>
            <a:xfrm>
              <a:off x="7414391" y="4015162"/>
              <a:ext cx="2984975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KR" sz="2100" b="1" u="sng" dirty="0"/>
                <a:t>Primitives</a:t>
              </a:r>
              <a:r>
                <a:rPr lang="en-KR" sz="2100" u="sng" dirty="0"/>
                <a:t> for Abstractions</a:t>
              </a: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08F1E874-5EA9-33BF-87BB-061240FB50AB}"/>
                </a:ext>
              </a:extLst>
            </p:cNvPr>
            <p:cNvSpPr txBox="1"/>
            <p:nvPr/>
          </p:nvSpPr>
          <p:spPr>
            <a:xfrm>
              <a:off x="7266923" y="4386826"/>
              <a:ext cx="3279911" cy="23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KR"/>
              </a:defPPr>
              <a:lvl1pPr marL="285750" indent="-177750">
                <a:lnSpc>
                  <a:spcPct val="80000"/>
                </a:lnSpc>
                <a:buFont typeface="Arial" panose="020B0604020202020204" pitchFamily="34" charset="0"/>
                <a:buChar char="•"/>
              </a:lvl1pPr>
            </a:lstStyle>
            <a:p>
              <a:pPr marL="108000" indent="0" algn="ctr">
                <a:buNone/>
              </a:pPr>
              <a:r>
                <a:rPr lang="en-KR" sz="1900" dirty="0"/>
                <a:t>Create / Read / Update / Delete</a:t>
              </a:r>
            </a:p>
          </p:txBody>
        </p:sp>
        <p:sp>
          <p:nvSpPr>
            <p:cNvPr id="363" name="Rounded Rectangle 362">
              <a:extLst>
                <a:ext uri="{FF2B5EF4-FFF2-40B4-BE49-F238E27FC236}">
                  <a16:creationId xmlns:a16="http://schemas.microsoft.com/office/drawing/2014/main" id="{28F36C5D-7A25-C1AC-C1F1-130B01CA0F01}"/>
                </a:ext>
              </a:extLst>
            </p:cNvPr>
            <p:cNvSpPr/>
            <p:nvPr/>
          </p:nvSpPr>
          <p:spPr>
            <a:xfrm>
              <a:off x="7185515" y="4861437"/>
              <a:ext cx="3442727" cy="50229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 sz="2000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81AF7EBB-0E0D-0EA5-D889-304F4D172DAA}"/>
                </a:ext>
              </a:extLst>
            </p:cNvPr>
            <p:cNvSpPr txBox="1"/>
            <p:nvPr/>
          </p:nvSpPr>
          <p:spPr>
            <a:xfrm>
              <a:off x="8090922" y="4697139"/>
              <a:ext cx="1631913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KR" sz="2100" b="1" u="sng" dirty="0"/>
                <a:t>Optimizations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03A5194C-465D-4846-A7F7-F10B5A6299C2}"/>
                </a:ext>
              </a:extLst>
            </p:cNvPr>
            <p:cNvSpPr txBox="1"/>
            <p:nvPr/>
          </p:nvSpPr>
          <p:spPr>
            <a:xfrm>
              <a:off x="7477320" y="5047512"/>
              <a:ext cx="2859116" cy="23974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KR"/>
              </a:defPPr>
              <a:lvl1pPr marL="285750" indent="-177750">
                <a:lnSpc>
                  <a:spcPct val="80000"/>
                </a:lnSpc>
                <a:buFont typeface="Arial" panose="020B0604020202020204" pitchFamily="34" charset="0"/>
                <a:buChar char="•"/>
              </a:lvl1pPr>
            </a:lstStyle>
            <a:p>
              <a:pPr marL="108000" indent="0" algn="ctr">
                <a:buNone/>
              </a:pPr>
              <a:r>
                <a:rPr lang="en-KR" sz="1900" dirty="0"/>
                <a:t>Iteration / Sync. / Count / 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28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DBDBC1D-9235-BBD0-1999-D149640C244C}"/>
              </a:ext>
            </a:extLst>
          </p:cNvPr>
          <p:cNvSpPr txBox="1"/>
          <p:nvPr/>
        </p:nvSpPr>
        <p:spPr>
          <a:xfrm>
            <a:off x="228689" y="208000"/>
            <a:ext cx="231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EMT interface internal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A149DBB-5657-B6CD-ACB1-B4AD20D0A5FE}"/>
              </a:ext>
            </a:extLst>
          </p:cNvPr>
          <p:cNvGrpSpPr/>
          <p:nvPr/>
        </p:nvGrpSpPr>
        <p:grpSpPr>
          <a:xfrm>
            <a:off x="1883753" y="739153"/>
            <a:ext cx="8357616" cy="1572769"/>
            <a:chOff x="1911096" y="1984248"/>
            <a:chExt cx="8357616" cy="157276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6B96541-330F-F706-3D5B-3DD3DB5BDBB9}"/>
                </a:ext>
              </a:extLst>
            </p:cNvPr>
            <p:cNvSpPr/>
            <p:nvPr/>
          </p:nvSpPr>
          <p:spPr>
            <a:xfrm>
              <a:off x="1911096" y="1984248"/>
              <a:ext cx="8357616" cy="15727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b="1" dirty="0">
                  <a:solidFill>
                    <a:sysClr val="windowText" lastClr="000000"/>
                  </a:solidFill>
                </a:rPr>
                <a:t>EMT interface</a:t>
              </a:r>
              <a:endParaRPr lang="en-KR" b="1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FAEB14F-E04E-8FCA-C4E8-9173995B0D15}"/>
                </a:ext>
              </a:extLst>
            </p:cNvPr>
            <p:cNvGrpSpPr/>
            <p:nvPr/>
          </p:nvGrpSpPr>
          <p:grpSpPr>
            <a:xfrm>
              <a:off x="2010836" y="2318520"/>
              <a:ext cx="8158136" cy="1110480"/>
              <a:chOff x="2064194" y="2318520"/>
              <a:chExt cx="8158136" cy="111048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7F47588-4EC8-BEFA-2FE1-BEB8DA12F308}"/>
                  </a:ext>
                </a:extLst>
              </p:cNvPr>
              <p:cNvGrpSpPr/>
              <p:nvPr/>
            </p:nvGrpSpPr>
            <p:grpSpPr>
              <a:xfrm>
                <a:off x="6036728" y="2318520"/>
                <a:ext cx="4185602" cy="1110480"/>
                <a:chOff x="-2734056" y="2318520"/>
                <a:chExt cx="4185602" cy="1110480"/>
              </a:xfrm>
            </p:grpSpPr>
            <p:sp>
              <p:nvSpPr>
                <p:cNvPr id="48" name="Rounded Rectangle 47">
                  <a:extLst>
                    <a:ext uri="{FF2B5EF4-FFF2-40B4-BE49-F238E27FC236}">
                      <a16:creationId xmlns:a16="http://schemas.microsoft.com/office/drawing/2014/main" id="{4A7349CE-C184-9519-6D72-FB3E9A57BBAB}"/>
                    </a:ext>
                  </a:extLst>
                </p:cNvPr>
                <p:cNvSpPr/>
                <p:nvPr/>
              </p:nvSpPr>
              <p:spPr>
                <a:xfrm>
                  <a:off x="-2734056" y="2318520"/>
                  <a:ext cx="4185602" cy="111048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400" dirty="0">
                      <a:solidFill>
                        <a:schemeClr val="tx1"/>
                      </a:solidFill>
                    </a:rPr>
                    <a:t>Optimization groups</a:t>
                  </a:r>
                </a:p>
              </p:txBody>
            </p: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726B06DB-0CB3-C234-D27B-85AA2BCCCF16}"/>
                    </a:ext>
                  </a:extLst>
                </p:cNvPr>
                <p:cNvGrpSpPr/>
                <p:nvPr/>
              </p:nvGrpSpPr>
              <p:grpSpPr>
                <a:xfrm>
                  <a:off x="-2568618" y="2772672"/>
                  <a:ext cx="3971248" cy="505968"/>
                  <a:chOff x="2069846" y="2772672"/>
                  <a:chExt cx="3971248" cy="505968"/>
                </a:xfrm>
              </p:grpSpPr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F378E175-C4A1-092F-674F-16DD23D2CE4B}"/>
                      </a:ext>
                    </a:extLst>
                  </p:cNvPr>
                  <p:cNvSpPr txBox="1"/>
                  <p:nvPr/>
                </p:nvSpPr>
                <p:spPr>
                  <a:xfrm>
                    <a:off x="5683304" y="2772672"/>
                    <a:ext cx="35779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KR" dirty="0"/>
                      <a:t>...</a:t>
                    </a: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D7A6E1EF-58C9-A1F2-0E0F-D43F53AFE28C}"/>
                      </a:ext>
                    </a:extLst>
                  </p:cNvPr>
                  <p:cNvSpPr/>
                  <p:nvPr/>
                </p:nvSpPr>
                <p:spPr>
                  <a:xfrm>
                    <a:off x="2069846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iterator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E9B646EB-1AB9-A32D-D98E-C28163CC8D14}"/>
                      </a:ext>
                    </a:extLst>
                  </p:cNvPr>
                  <p:cNvSpPr/>
                  <p:nvPr/>
                </p:nvSpPr>
                <p:spPr>
                  <a:xfrm>
                    <a:off x="3297174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lock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45204FCF-6CB2-FF94-BEF9-4603DFB606FD}"/>
                      </a:ext>
                    </a:extLst>
                  </p:cNvPr>
                  <p:cNvSpPr/>
                  <p:nvPr/>
                </p:nvSpPr>
                <p:spPr>
                  <a:xfrm>
                    <a:off x="4524502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KR" dirty="0">
                        <a:solidFill>
                          <a:schemeClr val="tx1"/>
                        </a:solidFill>
                      </a:rPr>
                      <a:t>Page table count</a:t>
                    </a:r>
                  </a:p>
                </p:txBody>
              </p:sp>
            </p:grp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55F6B56-152D-FE1C-F1E4-D3CC42C540C0}"/>
                  </a:ext>
                </a:extLst>
              </p:cNvPr>
              <p:cNvGrpSpPr/>
              <p:nvPr/>
            </p:nvGrpSpPr>
            <p:grpSpPr>
              <a:xfrm>
                <a:off x="2064194" y="2318520"/>
                <a:ext cx="3861118" cy="1110480"/>
                <a:chOff x="6279578" y="2318520"/>
                <a:chExt cx="3861118" cy="1110480"/>
              </a:xfrm>
            </p:grpSpPr>
            <p:sp>
              <p:nvSpPr>
                <p:cNvPr id="43" name="Rounded Rectangle 42">
                  <a:extLst>
                    <a:ext uri="{FF2B5EF4-FFF2-40B4-BE49-F238E27FC236}">
                      <a16:creationId xmlns:a16="http://schemas.microsoft.com/office/drawing/2014/main" id="{9EEEB73A-0733-8E9F-F8A1-FF87DE9204FA}"/>
                    </a:ext>
                  </a:extLst>
                </p:cNvPr>
                <p:cNvSpPr/>
                <p:nvPr/>
              </p:nvSpPr>
              <p:spPr>
                <a:xfrm>
                  <a:off x="6279578" y="2318520"/>
                  <a:ext cx="3861118" cy="1110480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36000" rIns="0" bIns="0" rtlCol="0" anchor="t" anchorCtr="1"/>
                <a:lstStyle/>
                <a:p>
                  <a:pPr algn="ctr">
                    <a:lnSpc>
                      <a:spcPct val="75000"/>
                    </a:lnSpc>
                  </a:pPr>
                  <a:r>
                    <a:rPr lang="en-KR" sz="2400" dirty="0">
                      <a:solidFill>
                        <a:schemeClr val="tx1"/>
                      </a:solidFill>
                    </a:rPr>
                    <a:t>Essential groups</a:t>
                  </a:r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9C59D97-0FF7-8DA0-CA11-A5FF8161C87A}"/>
                    </a:ext>
                  </a:extLst>
                </p:cNvPr>
                <p:cNvGrpSpPr/>
                <p:nvPr/>
              </p:nvGrpSpPr>
              <p:grpSpPr>
                <a:xfrm>
                  <a:off x="6433666" y="2772672"/>
                  <a:ext cx="3552943" cy="505968"/>
                  <a:chOff x="6359844" y="2772672"/>
                  <a:chExt cx="3552943" cy="50596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1B37CFAC-5975-0360-AED0-13C15C6DB885}"/>
                      </a:ext>
                    </a:extLst>
                  </p:cNvPr>
                  <p:cNvSpPr/>
                  <p:nvPr/>
                </p:nvSpPr>
                <p:spPr>
                  <a:xfrm>
                    <a:off x="6359844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structure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CE290732-648F-ECE9-A85B-919E5B5F1CAA}"/>
                      </a:ext>
                    </a:extLst>
                  </p:cNvPr>
                  <p:cNvSpPr/>
                  <p:nvPr/>
                </p:nvSpPr>
                <p:spPr>
                  <a:xfrm>
                    <a:off x="7587172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access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2D67ECC2-C5F0-9118-03E9-F19CBA210E0F}"/>
                      </a:ext>
                    </a:extLst>
                  </p:cNvPr>
                  <p:cNvSpPr/>
                  <p:nvPr/>
                </p:nvSpPr>
                <p:spPr>
                  <a:xfrm>
                    <a:off x="8814500" y="2772672"/>
                    <a:ext cx="1098287" cy="50596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Hardware operation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E50F14E-8097-D242-D382-6C8765C8C8C9}"/>
              </a:ext>
            </a:extLst>
          </p:cNvPr>
          <p:cNvGrpSpPr/>
          <p:nvPr/>
        </p:nvGrpSpPr>
        <p:grpSpPr>
          <a:xfrm>
            <a:off x="150721" y="2986509"/>
            <a:ext cx="4013158" cy="2798065"/>
            <a:chOff x="4728506" y="3209543"/>
            <a:chExt cx="4013158" cy="2798065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7CB3867-ADFE-070F-2675-6ADC766340FD}"/>
                </a:ext>
              </a:extLst>
            </p:cNvPr>
            <p:cNvSpPr/>
            <p:nvPr/>
          </p:nvSpPr>
          <p:spPr>
            <a:xfrm>
              <a:off x="4728506" y="3502153"/>
              <a:ext cx="4013158" cy="250545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sz="2000" b="1" dirty="0">
                  <a:solidFill>
                    <a:srgbClr val="C00000"/>
                  </a:solidFill>
                </a:rPr>
                <a:t>EMT interface</a:t>
              </a:r>
              <a:endParaRPr lang="en-KR" sz="2000" b="1" dirty="0">
                <a:solidFill>
                  <a:srgbClr val="C00000"/>
                </a:solidFill>
              </a:endParaRP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81ECB2A-69C8-B367-3138-29F8294BC1DD}"/>
                </a:ext>
              </a:extLst>
            </p:cNvPr>
            <p:cNvSpPr/>
            <p:nvPr/>
          </p:nvSpPr>
          <p:spPr>
            <a:xfrm>
              <a:off x="4809298" y="3874776"/>
              <a:ext cx="3831782" cy="9367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200" dirty="0">
                  <a:solidFill>
                    <a:schemeClr val="tx1"/>
                  </a:solidFill>
                </a:rPr>
                <a:t>Optimization groups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471C36-0AA3-2140-0E47-3469D3665F1B}"/>
                </a:ext>
              </a:extLst>
            </p:cNvPr>
            <p:cNvGrpSpPr/>
            <p:nvPr/>
          </p:nvGrpSpPr>
          <p:grpSpPr>
            <a:xfrm>
              <a:off x="4951295" y="4219729"/>
              <a:ext cx="3547788" cy="505968"/>
              <a:chOff x="4974736" y="4331737"/>
              <a:chExt cx="3547788" cy="505968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A3B8634-CB2F-2F2B-B858-966E4163E11F}"/>
                  </a:ext>
                </a:extLst>
              </p:cNvPr>
              <p:cNvSpPr txBox="1"/>
              <p:nvPr/>
            </p:nvSpPr>
            <p:spPr>
              <a:xfrm>
                <a:off x="8278148" y="4343147"/>
                <a:ext cx="244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dirty="0"/>
                  <a:t>...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C573ECE-A81A-C6DF-283D-97B8DBBC9535}"/>
                  </a:ext>
                </a:extLst>
              </p:cNvPr>
              <p:cNvSpPr/>
              <p:nvPr/>
            </p:nvSpPr>
            <p:spPr>
              <a:xfrm>
                <a:off x="4974736" y="4331737"/>
                <a:ext cx="1015201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Page table iterator</a:t>
                </a:r>
                <a:endParaRPr lang="en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CA5755A-3172-A691-ED4C-D41D1FB47C6C}"/>
                  </a:ext>
                </a:extLst>
              </p:cNvPr>
              <p:cNvSpPr/>
              <p:nvPr/>
            </p:nvSpPr>
            <p:spPr>
              <a:xfrm>
                <a:off x="6121465" y="4331737"/>
                <a:ext cx="1015201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Page table lock</a:t>
                </a:r>
                <a:endParaRPr lang="en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EA807E4-B14C-394F-5BDA-9AE7BB623E7D}"/>
                  </a:ext>
                </a:extLst>
              </p:cNvPr>
              <p:cNvSpPr/>
              <p:nvPr/>
            </p:nvSpPr>
            <p:spPr>
              <a:xfrm>
                <a:off x="7268194" y="4331737"/>
                <a:ext cx="1015202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KR" dirty="0">
                    <a:solidFill>
                      <a:schemeClr val="tx1"/>
                    </a:solidFill>
                  </a:rPr>
                  <a:t>Page table count</a:t>
                </a:r>
              </a:p>
            </p:txBody>
          </p:sp>
        </p:grp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5E647BC6-6D41-7969-AD03-D49AF383CC47}"/>
                </a:ext>
              </a:extLst>
            </p:cNvPr>
            <p:cNvSpPr/>
            <p:nvPr/>
          </p:nvSpPr>
          <p:spPr>
            <a:xfrm>
              <a:off x="4809298" y="4951755"/>
              <a:ext cx="3831782" cy="9367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200" dirty="0">
                  <a:solidFill>
                    <a:schemeClr val="tx1"/>
                  </a:solidFill>
                </a:rPr>
                <a:t>Essential groups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41D80BC-2A9C-E93A-C192-6372C592EE3D}"/>
                </a:ext>
              </a:extLst>
            </p:cNvPr>
            <p:cNvGrpSpPr/>
            <p:nvPr/>
          </p:nvGrpSpPr>
          <p:grpSpPr>
            <a:xfrm>
              <a:off x="4943043" y="5302779"/>
              <a:ext cx="3564293" cy="505968"/>
              <a:chOff x="4963386" y="5555471"/>
              <a:chExt cx="3564293" cy="505968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8681610-13B0-8E60-E447-46045BFCE4A8}"/>
                  </a:ext>
                </a:extLst>
              </p:cNvPr>
              <p:cNvSpPr/>
              <p:nvPr/>
            </p:nvSpPr>
            <p:spPr>
              <a:xfrm>
                <a:off x="4963386" y="5555471"/>
                <a:ext cx="1098287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Page table structure</a:t>
                </a:r>
                <a:endParaRPr lang="en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78390080-FD91-FBE4-EE65-6C572BAD3391}"/>
                  </a:ext>
                </a:extLst>
              </p:cNvPr>
              <p:cNvSpPr/>
              <p:nvPr/>
            </p:nvSpPr>
            <p:spPr>
              <a:xfrm>
                <a:off x="6196389" y="5555471"/>
                <a:ext cx="1098287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PTE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access</a:t>
                </a:r>
                <a:endParaRPr lang="en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9B273A4-799F-94D9-670C-DD0A5C017586}"/>
                  </a:ext>
                </a:extLst>
              </p:cNvPr>
              <p:cNvSpPr/>
              <p:nvPr/>
            </p:nvSpPr>
            <p:spPr>
              <a:xfrm>
                <a:off x="7429392" y="5555471"/>
                <a:ext cx="1098287" cy="50596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0" rtlCol="0" anchor="ctr" anchorCtr="1"/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Hardware operation</a:t>
                </a:r>
                <a:endParaRPr lang="en-KR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81767E8-ED51-2F89-46A0-454EED69B562}"/>
                </a:ext>
              </a:extLst>
            </p:cNvPr>
            <p:cNvSpPr/>
            <p:nvPr/>
          </p:nvSpPr>
          <p:spPr>
            <a:xfrm>
              <a:off x="7091084" y="3209543"/>
              <a:ext cx="1650580" cy="2359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i="1" dirty="0">
                  <a:solidFill>
                    <a:schemeClr val="tx1"/>
                  </a:solidFill>
                </a:rPr>
                <a:t>Functional group</a:t>
              </a:r>
              <a:endParaRPr lang="en-KR" sz="1600" i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E46058-DAEF-7272-2331-7162689BE194}"/>
              </a:ext>
            </a:extLst>
          </p:cNvPr>
          <p:cNvGrpSpPr/>
          <p:nvPr/>
        </p:nvGrpSpPr>
        <p:grpSpPr>
          <a:xfrm>
            <a:off x="4592237" y="3097515"/>
            <a:ext cx="4309778" cy="2687059"/>
            <a:chOff x="6383547" y="3200317"/>
            <a:chExt cx="4309778" cy="26870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E5CC32-B7BD-56BF-2722-A38E10071038}"/>
                </a:ext>
              </a:extLst>
            </p:cNvPr>
            <p:cNvSpPr/>
            <p:nvPr/>
          </p:nvSpPr>
          <p:spPr>
            <a:xfrm>
              <a:off x="6383547" y="3492928"/>
              <a:ext cx="4309778" cy="23944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sz="2000" b="1" dirty="0">
                  <a:solidFill>
                    <a:srgbClr val="C00000"/>
                  </a:solidFill>
                </a:rPr>
                <a:t>EMT interface</a:t>
              </a:r>
              <a:endParaRPr lang="en-KR" sz="2000" b="1" dirty="0">
                <a:solidFill>
                  <a:srgbClr val="C00000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0975EF-5C03-687A-3F79-3760A7899B3D}"/>
                </a:ext>
              </a:extLst>
            </p:cNvPr>
            <p:cNvSpPr/>
            <p:nvPr/>
          </p:nvSpPr>
          <p:spPr>
            <a:xfrm>
              <a:off x="9042745" y="3200317"/>
              <a:ext cx="1650580" cy="2359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i="1" dirty="0">
                  <a:solidFill>
                    <a:schemeClr val="tx1"/>
                  </a:solidFill>
                </a:rPr>
                <a:t>Functional group</a:t>
              </a:r>
              <a:endParaRPr lang="en-KR" sz="1600" i="1" dirty="0">
                <a:solidFill>
                  <a:schemeClr val="tx1"/>
                </a:solidFill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89D43ED5-0600-E1FA-024F-DF83CBE355CD}"/>
                </a:ext>
              </a:extLst>
            </p:cNvPr>
            <p:cNvSpPr/>
            <p:nvPr/>
          </p:nvSpPr>
          <p:spPr>
            <a:xfrm>
              <a:off x="6480897" y="3873655"/>
              <a:ext cx="2131001" cy="1910919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200" dirty="0">
                  <a:solidFill>
                    <a:schemeClr val="tx1"/>
                  </a:solidFill>
                </a:rPr>
                <a:t>Essential</a:t>
              </a:r>
            </a:p>
            <a:p>
              <a:pPr algn="ctr">
                <a:lnSpc>
                  <a:spcPct val="75000"/>
                </a:lnSpc>
              </a:pPr>
              <a:r>
                <a:rPr lang="en-KR" sz="2200" dirty="0">
                  <a:solidFill>
                    <a:schemeClr val="tx1"/>
                  </a:solidFill>
                </a:rPr>
                <a:t>groups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45E907-ECA7-9277-4929-1B1FBACBC747}"/>
                </a:ext>
              </a:extLst>
            </p:cNvPr>
            <p:cNvSpPr/>
            <p:nvPr/>
          </p:nvSpPr>
          <p:spPr>
            <a:xfrm>
              <a:off x="6555567" y="4533028"/>
              <a:ext cx="1952765" cy="29492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structure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FC15CB-AF22-F4B2-77CB-2798828D6FEE}"/>
                </a:ext>
              </a:extLst>
            </p:cNvPr>
            <p:cNvSpPr/>
            <p:nvPr/>
          </p:nvSpPr>
          <p:spPr>
            <a:xfrm>
              <a:off x="6555567" y="4884576"/>
              <a:ext cx="1952765" cy="29465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PTE access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AB274FC-CD39-E5B3-24C5-2BCDE0FB389A}"/>
                </a:ext>
              </a:extLst>
            </p:cNvPr>
            <p:cNvSpPr/>
            <p:nvPr/>
          </p:nvSpPr>
          <p:spPr>
            <a:xfrm>
              <a:off x="6555567" y="5239117"/>
              <a:ext cx="1952765" cy="2911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Hardware operation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F80978C-94E9-6053-0C81-C0A657015D6C}"/>
                </a:ext>
              </a:extLst>
            </p:cNvPr>
            <p:cNvSpPr/>
            <p:nvPr/>
          </p:nvSpPr>
          <p:spPr>
            <a:xfrm>
              <a:off x="8686569" y="3873655"/>
              <a:ext cx="1909406" cy="1910920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KR" sz="2200" dirty="0">
                  <a:solidFill>
                    <a:schemeClr val="tx1"/>
                  </a:solidFill>
                </a:rPr>
                <a:t>Optimization groups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EB8DB38-C316-3DB1-32C1-85461D93C45F}"/>
                </a:ext>
              </a:extLst>
            </p:cNvPr>
            <p:cNvSpPr txBox="1"/>
            <p:nvPr/>
          </p:nvSpPr>
          <p:spPr>
            <a:xfrm>
              <a:off x="9485946" y="5422503"/>
              <a:ext cx="244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dirty="0"/>
                <a:t>...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9CE2B05-FA86-0D51-9899-2E1FBF8D0C1F}"/>
                </a:ext>
              </a:extLst>
            </p:cNvPr>
            <p:cNvSpPr/>
            <p:nvPr/>
          </p:nvSpPr>
          <p:spPr>
            <a:xfrm>
              <a:off x="8755112" y="4533028"/>
              <a:ext cx="1775241" cy="29492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iterator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10E7321-99D1-441C-E92F-2EF021A1A995}"/>
                </a:ext>
              </a:extLst>
            </p:cNvPr>
            <p:cNvSpPr/>
            <p:nvPr/>
          </p:nvSpPr>
          <p:spPr>
            <a:xfrm>
              <a:off x="8755112" y="4884576"/>
              <a:ext cx="1775241" cy="29465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lock</a:t>
              </a:r>
              <a:endParaRPr lang="en-KR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711FD9-D690-D6C7-626B-219AB0D9589D}"/>
                </a:ext>
              </a:extLst>
            </p:cNvPr>
            <p:cNvSpPr/>
            <p:nvPr/>
          </p:nvSpPr>
          <p:spPr>
            <a:xfrm>
              <a:off x="8755112" y="5239117"/>
              <a:ext cx="1775241" cy="29114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/>
                  </a:solidFill>
                </a:rPr>
                <a:t>Page table count</a:t>
              </a:r>
              <a:endParaRPr lang="en-K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F55DA04-F34E-7F97-C549-66DC090B7C0D}"/>
              </a:ext>
            </a:extLst>
          </p:cNvPr>
          <p:cNvGrpSpPr/>
          <p:nvPr/>
        </p:nvGrpSpPr>
        <p:grpSpPr>
          <a:xfrm>
            <a:off x="9535499" y="3097515"/>
            <a:ext cx="3455672" cy="3392495"/>
            <a:chOff x="9535499" y="3097515"/>
            <a:chExt cx="3455672" cy="339249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429189C-5DB5-753A-9EA1-6FE83059FEF8}"/>
                </a:ext>
              </a:extLst>
            </p:cNvPr>
            <p:cNvSpPr/>
            <p:nvPr/>
          </p:nvSpPr>
          <p:spPr>
            <a:xfrm>
              <a:off x="11340591" y="3097515"/>
              <a:ext cx="1650580" cy="23598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sz="1600" i="1" dirty="0">
                  <a:solidFill>
                    <a:schemeClr val="tx1"/>
                  </a:solidFill>
                </a:rPr>
                <a:t>Functional group</a:t>
              </a:r>
              <a:endParaRPr lang="en-KR" sz="1600" i="1" dirty="0">
                <a:solidFill>
                  <a:schemeClr val="tx1"/>
                </a:solidFill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7A1F6A7-1C3B-3B50-B55C-FE2715C3D000}"/>
                </a:ext>
              </a:extLst>
            </p:cNvPr>
            <p:cNvGrpSpPr/>
            <p:nvPr/>
          </p:nvGrpSpPr>
          <p:grpSpPr>
            <a:xfrm>
              <a:off x="9535499" y="3390126"/>
              <a:ext cx="3455672" cy="3099884"/>
              <a:chOff x="9535499" y="3390126"/>
              <a:chExt cx="3455672" cy="309988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E7E0EBA-4DA1-20E7-FFCD-82052775A6FD}"/>
                  </a:ext>
                </a:extLst>
              </p:cNvPr>
              <p:cNvSpPr/>
              <p:nvPr/>
            </p:nvSpPr>
            <p:spPr>
              <a:xfrm>
                <a:off x="9535499" y="3390126"/>
                <a:ext cx="3455672" cy="309988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72000" rIns="0" bIns="0" rtlCol="0" anchor="t" anchorCtr="1"/>
              <a:lstStyle/>
              <a:p>
                <a:pPr algn="ctr">
                  <a:lnSpc>
                    <a:spcPct val="75000"/>
                  </a:lnSpc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EMT interface</a:t>
                </a:r>
                <a:endParaRPr lang="en-KR" sz="2000" b="1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084BD9D4-11B2-B49D-8848-FDC0D877E158}"/>
                  </a:ext>
                </a:extLst>
              </p:cNvPr>
              <p:cNvGrpSpPr/>
              <p:nvPr/>
            </p:nvGrpSpPr>
            <p:grpSpPr>
              <a:xfrm>
                <a:off x="9668022" y="3770852"/>
                <a:ext cx="3190627" cy="2576593"/>
                <a:chOff x="9649797" y="3770852"/>
                <a:chExt cx="3190627" cy="2576593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55946D1B-14CF-3375-594A-8D723D1969A7}"/>
                    </a:ext>
                  </a:extLst>
                </p:cNvPr>
                <p:cNvGrpSpPr/>
                <p:nvPr/>
              </p:nvGrpSpPr>
              <p:grpSpPr>
                <a:xfrm>
                  <a:off x="11286840" y="3770852"/>
                  <a:ext cx="1553584" cy="2576593"/>
                  <a:chOff x="11286840" y="3770852"/>
                  <a:chExt cx="1553584" cy="2576593"/>
                </a:xfrm>
              </p:grpSpPr>
              <p:sp>
                <p:nvSpPr>
                  <p:cNvPr id="33" name="Rounded Rectangle 32">
                    <a:extLst>
                      <a:ext uri="{FF2B5EF4-FFF2-40B4-BE49-F238E27FC236}">
                        <a16:creationId xmlns:a16="http://schemas.microsoft.com/office/drawing/2014/main" id="{168E5D75-A114-B4AE-FE84-802BF569B850}"/>
                      </a:ext>
                    </a:extLst>
                  </p:cNvPr>
                  <p:cNvSpPr/>
                  <p:nvPr/>
                </p:nvSpPr>
                <p:spPr>
                  <a:xfrm>
                    <a:off x="11286840" y="3770852"/>
                    <a:ext cx="1553584" cy="2554291"/>
                  </a:xfrm>
                  <a:prstGeom prst="roundRect">
                    <a:avLst>
                      <a:gd name="adj" fmla="val 8142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t" anchorCtr="1"/>
                  <a:lstStyle/>
                  <a:p>
                    <a:pPr algn="ctr">
                      <a:lnSpc>
                        <a:spcPct val="75000"/>
                      </a:lnSpc>
                    </a:pPr>
                    <a:r>
                      <a:rPr lang="en-KR" sz="2200" dirty="0">
                        <a:solidFill>
                          <a:schemeClr val="tx1"/>
                        </a:solidFill>
                      </a:rPr>
                      <a:t>Optimization groups</a:t>
                    </a: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B63F8A1-ECD5-BFBF-CA4F-AEE7A4032B96}"/>
                      </a:ext>
                    </a:extLst>
                  </p:cNvPr>
                  <p:cNvSpPr txBox="1"/>
                  <p:nvPr/>
                </p:nvSpPr>
                <p:spPr>
                  <a:xfrm>
                    <a:off x="11884737" y="5978113"/>
                    <a:ext cx="3577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KR" dirty="0"/>
                      <a:t>...</a:t>
                    </a:r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95DE9798-0A29-AF2F-9072-F8BD2B8B33A3}"/>
                      </a:ext>
                    </a:extLst>
                  </p:cNvPr>
                  <p:cNvSpPr/>
                  <p:nvPr/>
                </p:nvSpPr>
                <p:spPr>
                  <a:xfrm>
                    <a:off x="11556032" y="4402041"/>
                    <a:ext cx="1015201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iterator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BF5157B4-91B8-FFA7-CE44-B417500D7B8C}"/>
                      </a:ext>
                    </a:extLst>
                  </p:cNvPr>
                  <p:cNvSpPr/>
                  <p:nvPr/>
                </p:nvSpPr>
                <p:spPr>
                  <a:xfrm>
                    <a:off x="11556032" y="4982402"/>
                    <a:ext cx="1015201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lock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AF723595-6F06-AD74-DC30-A3A32AC08E48}"/>
                      </a:ext>
                    </a:extLst>
                  </p:cNvPr>
                  <p:cNvSpPr/>
                  <p:nvPr/>
                </p:nvSpPr>
                <p:spPr>
                  <a:xfrm>
                    <a:off x="11556031" y="5558942"/>
                    <a:ext cx="1015202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KR" dirty="0">
                        <a:solidFill>
                          <a:schemeClr val="tx1"/>
                        </a:solidFill>
                      </a:rPr>
                      <a:t>Page table count</a:t>
                    </a:r>
                  </a:p>
                </p:txBody>
              </p:sp>
            </p:grp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121C87C4-0DD4-E8D4-177F-BFE723837D4A}"/>
                    </a:ext>
                  </a:extLst>
                </p:cNvPr>
                <p:cNvGrpSpPr/>
                <p:nvPr/>
              </p:nvGrpSpPr>
              <p:grpSpPr>
                <a:xfrm>
                  <a:off x="9649797" y="3782003"/>
                  <a:ext cx="1504106" cy="2554290"/>
                  <a:chOff x="9649797" y="3770853"/>
                  <a:chExt cx="1504106" cy="2554290"/>
                </a:xfrm>
              </p:grpSpPr>
              <p:sp>
                <p:nvSpPr>
                  <p:cNvPr id="29" name="Rounded Rectangle 28">
                    <a:extLst>
                      <a:ext uri="{FF2B5EF4-FFF2-40B4-BE49-F238E27FC236}">
                        <a16:creationId xmlns:a16="http://schemas.microsoft.com/office/drawing/2014/main" id="{81D34D66-3BF6-690D-3395-725FF00298FA}"/>
                      </a:ext>
                    </a:extLst>
                  </p:cNvPr>
                  <p:cNvSpPr/>
                  <p:nvPr/>
                </p:nvSpPr>
                <p:spPr>
                  <a:xfrm>
                    <a:off x="9649797" y="3770853"/>
                    <a:ext cx="1504106" cy="2554290"/>
                  </a:xfrm>
                  <a:prstGeom prst="roundRect">
                    <a:avLst>
                      <a:gd name="adj" fmla="val 8142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t" anchorCtr="1"/>
                  <a:lstStyle/>
                  <a:p>
                    <a:pPr algn="ctr">
                      <a:lnSpc>
                        <a:spcPct val="75000"/>
                      </a:lnSpc>
                    </a:pPr>
                    <a:r>
                      <a:rPr lang="en-KR" sz="2200" dirty="0">
                        <a:solidFill>
                          <a:schemeClr val="tx1"/>
                        </a:solidFill>
                      </a:rPr>
                      <a:t>Essential</a:t>
                    </a:r>
                  </a:p>
                  <a:p>
                    <a:pPr algn="ctr">
                      <a:lnSpc>
                        <a:spcPct val="75000"/>
                      </a:lnSpc>
                    </a:pPr>
                    <a:r>
                      <a:rPr lang="en-KR" sz="2200" dirty="0">
                        <a:solidFill>
                          <a:schemeClr val="tx1"/>
                        </a:solidFill>
                      </a:rPr>
                      <a:t>groups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44101745-1A45-AC9A-89D7-E162EE316D49}"/>
                      </a:ext>
                    </a:extLst>
                  </p:cNvPr>
                  <p:cNvSpPr/>
                  <p:nvPr/>
                </p:nvSpPr>
                <p:spPr>
                  <a:xfrm>
                    <a:off x="9852707" y="4402041"/>
                    <a:ext cx="1098287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Page table structure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5" name="Rectangle 64">
                    <a:extLst>
                      <a:ext uri="{FF2B5EF4-FFF2-40B4-BE49-F238E27FC236}">
                        <a16:creationId xmlns:a16="http://schemas.microsoft.com/office/drawing/2014/main" id="{66EA06C4-C70F-3997-E457-02B076E93DD9}"/>
                      </a:ext>
                    </a:extLst>
                  </p:cNvPr>
                  <p:cNvSpPr/>
                  <p:nvPr/>
                </p:nvSpPr>
                <p:spPr>
                  <a:xfrm>
                    <a:off x="9852707" y="4995897"/>
                    <a:ext cx="1098287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PTE</a:t>
                    </a:r>
                  </a:p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access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54CD973C-7793-CEF9-FA8A-896C74A4412A}"/>
                      </a:ext>
                    </a:extLst>
                  </p:cNvPr>
                  <p:cNvSpPr/>
                  <p:nvPr/>
                </p:nvSpPr>
                <p:spPr>
                  <a:xfrm>
                    <a:off x="9852707" y="5558942"/>
                    <a:ext cx="1098287" cy="505968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36000" rIns="0" bIns="0" rtlCol="0" anchor="ctr" anchorCtr="1"/>
                  <a:lstStyle/>
                  <a:p>
                    <a:pPr algn="ctr">
                      <a:lnSpc>
                        <a:spcPct val="80000"/>
                      </a:lnSpc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Hardware operation</a:t>
                    </a:r>
                    <a:endParaRPr lang="en-KR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33847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35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E62BA-019D-FF79-8A38-D3C3332AD514}"/>
              </a:ext>
            </a:extLst>
          </p:cNvPr>
          <p:cNvSpPr txBox="1"/>
          <p:nvPr/>
        </p:nvSpPr>
        <p:spPr>
          <a:xfrm>
            <a:off x="9000542" y="184468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78447-982D-C38B-063A-9DB574B72884}"/>
              </a:ext>
            </a:extLst>
          </p:cNvPr>
          <p:cNvSpPr txBox="1"/>
          <p:nvPr/>
        </p:nvSpPr>
        <p:spPr>
          <a:xfrm>
            <a:off x="10593144" y="264419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vfs_fsync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160D19-C9F8-CC65-8DA7-5B1DC2A32525}"/>
              </a:ext>
            </a:extLst>
          </p:cNvPr>
          <p:cNvSpPr txBox="1"/>
          <p:nvPr/>
        </p:nvSpPr>
        <p:spPr>
          <a:xfrm>
            <a:off x="10552962" y="3241324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ext4_sync_file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29D1AD-1220-20BD-2422-56DE2809DF05}"/>
              </a:ext>
            </a:extLst>
          </p:cNvPr>
          <p:cNvSpPr txBox="1"/>
          <p:nvPr/>
        </p:nvSpPr>
        <p:spPr>
          <a:xfrm>
            <a:off x="9054522" y="264249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pte_iter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2F8B49-40D8-5567-5C95-320BDEB9FBCE}"/>
              </a:ext>
            </a:extLst>
          </p:cNvPr>
          <p:cNvSpPr txBox="1"/>
          <p:nvPr/>
        </p:nvSpPr>
        <p:spPr>
          <a:xfrm>
            <a:off x="8940944" y="3224159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radix_pte_iter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D454DD-2D80-70FB-A503-8867DF22C60F}"/>
              </a:ext>
            </a:extLst>
          </p:cNvPr>
          <p:cNvSpPr txBox="1"/>
          <p:nvPr/>
        </p:nvSpPr>
        <p:spPr>
          <a:xfrm>
            <a:off x="9209679" y="2228022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EMT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B1EB1-D385-3606-22B5-274330F5BD96}"/>
              </a:ext>
            </a:extLst>
          </p:cNvPr>
          <p:cNvSpPr txBox="1"/>
          <p:nvPr/>
        </p:nvSpPr>
        <p:spPr>
          <a:xfrm>
            <a:off x="10789671" y="2200014"/>
            <a:ext cx="52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VFS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9D068A6-6FE3-3BA8-1484-944CD3506C72}"/>
              </a:ext>
            </a:extLst>
          </p:cNvPr>
          <p:cNvCxnSpPr/>
          <p:nvPr/>
        </p:nvCxnSpPr>
        <p:spPr>
          <a:xfrm>
            <a:off x="9054522" y="2597354"/>
            <a:ext cx="254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7BC6821-6303-8F51-6E5E-95E3B29E03C8}"/>
              </a:ext>
            </a:extLst>
          </p:cNvPr>
          <p:cNvGrpSpPr/>
          <p:nvPr/>
        </p:nvGrpSpPr>
        <p:grpSpPr>
          <a:xfrm>
            <a:off x="176011" y="1909617"/>
            <a:ext cx="8596824" cy="2949285"/>
            <a:chOff x="176011" y="1909617"/>
            <a:chExt cx="8596824" cy="2949285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76C9CCB-E0A2-AD30-68AD-889C8A8AADC0}"/>
                </a:ext>
              </a:extLst>
            </p:cNvPr>
            <p:cNvSpPr/>
            <p:nvPr/>
          </p:nvSpPr>
          <p:spPr>
            <a:xfrm>
              <a:off x="1569287" y="1909617"/>
              <a:ext cx="7203548" cy="183678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789048-9C00-10FD-16AF-079659D68728}"/>
                </a:ext>
              </a:extLst>
            </p:cNvPr>
            <p:cNvSpPr/>
            <p:nvPr/>
          </p:nvSpPr>
          <p:spPr>
            <a:xfrm>
              <a:off x="1569286" y="3821432"/>
              <a:ext cx="7203548" cy="76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CEA99E3-2082-7CE1-6726-FAA7562A4CC1}"/>
                </a:ext>
              </a:extLst>
            </p:cNvPr>
            <p:cNvSpPr/>
            <p:nvPr/>
          </p:nvSpPr>
          <p:spPr>
            <a:xfrm>
              <a:off x="3975465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387D655-08BF-2195-1692-27E548B0B540}"/>
                </a:ext>
              </a:extLst>
            </p:cNvPr>
            <p:cNvSpPr/>
            <p:nvPr/>
          </p:nvSpPr>
          <p:spPr>
            <a:xfrm>
              <a:off x="639369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System calls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88CD99E-1083-7D44-AED1-17D795AE1593}"/>
                </a:ext>
              </a:extLst>
            </p:cNvPr>
            <p:cNvSpPr/>
            <p:nvPr/>
          </p:nvSpPr>
          <p:spPr>
            <a:xfrm>
              <a:off x="6498427" y="2685637"/>
              <a:ext cx="2094545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VFS interface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2C91F0D-B654-7DAA-C60B-B6C527E47CE3}"/>
                </a:ext>
              </a:extLst>
            </p:cNvPr>
            <p:cNvSpPr/>
            <p:nvPr/>
          </p:nvSpPr>
          <p:spPr>
            <a:xfrm>
              <a:off x="4080193" y="2685637"/>
              <a:ext cx="2094545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EMT interface</a:t>
              </a:r>
              <a:endParaRPr lang="en-KR" dirty="0">
                <a:solidFill>
                  <a:srgbClr val="C00000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0F15E28-1F30-E021-B1D6-63A026E2D432}"/>
                </a:ext>
              </a:extLst>
            </p:cNvPr>
            <p:cNvSpPr txBox="1"/>
            <p:nvPr/>
          </p:nvSpPr>
          <p:spPr>
            <a:xfrm>
              <a:off x="1603879" y="4459205"/>
              <a:ext cx="854401" cy="1195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Hardware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157EDA6-19F8-54EA-5025-0247AEFB8278}"/>
                </a:ext>
              </a:extLst>
            </p:cNvPr>
            <p:cNvSpPr txBox="1"/>
            <p:nvPr/>
          </p:nvSpPr>
          <p:spPr>
            <a:xfrm>
              <a:off x="323238" y="2167086"/>
              <a:ext cx="1134555" cy="33559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HW-agnostic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782062-297D-859D-043B-AE30CF869BDC}"/>
                </a:ext>
              </a:extLst>
            </p:cNvPr>
            <p:cNvSpPr txBox="1"/>
            <p:nvPr/>
          </p:nvSpPr>
          <p:spPr>
            <a:xfrm>
              <a:off x="1606600" y="1929389"/>
              <a:ext cx="1499513" cy="17510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Operating system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AB9730C-A1BB-1EA5-731D-C6670F6650A7}"/>
                </a:ext>
              </a:extLst>
            </p:cNvPr>
            <p:cNvSpPr txBox="1"/>
            <p:nvPr/>
          </p:nvSpPr>
          <p:spPr>
            <a:xfrm>
              <a:off x="355960" y="3254783"/>
              <a:ext cx="1069111" cy="33559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HW-specific</a:t>
              </a:r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95A3142-C18A-3385-6FD1-472C886CC42B}"/>
                </a:ext>
              </a:extLst>
            </p:cNvPr>
            <p:cNvSpPr txBox="1"/>
            <p:nvPr/>
          </p:nvSpPr>
          <p:spPr>
            <a:xfrm>
              <a:off x="176011" y="3815034"/>
              <a:ext cx="1337566" cy="543345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Data structures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(Logics)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06DAEAF-D8E2-D8A3-4434-4D7F406028CC}"/>
                </a:ext>
              </a:extLst>
            </p:cNvPr>
            <p:cNvSpPr txBox="1"/>
            <p:nvPr/>
          </p:nvSpPr>
          <p:spPr>
            <a:xfrm>
              <a:off x="381947" y="2595941"/>
              <a:ext cx="1017138" cy="567582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KR" dirty="0"/>
                <a:t>Generic</a:t>
              </a:r>
            </a:p>
            <a:p>
              <a:pPr algn="ctr">
                <a:lnSpc>
                  <a:spcPct val="80000"/>
                </a:lnSpc>
              </a:pPr>
              <a:r>
                <a:rPr lang="en-KR" dirty="0"/>
                <a:t>interface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1E21C2-131D-99FC-4813-258AF9A7218E}"/>
                </a:ext>
              </a:extLst>
            </p:cNvPr>
            <p:cNvCxnSpPr>
              <a:cxnSpLocks/>
            </p:cNvCxnSpPr>
            <p:nvPr/>
          </p:nvCxnSpPr>
          <p:spPr>
            <a:xfrm>
              <a:off x="277518" y="2578530"/>
              <a:ext cx="84953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A93C223-DD19-869E-C8BB-5596774BC064}"/>
                </a:ext>
              </a:extLst>
            </p:cNvPr>
            <p:cNvCxnSpPr>
              <a:cxnSpLocks/>
            </p:cNvCxnSpPr>
            <p:nvPr/>
          </p:nvCxnSpPr>
          <p:spPr>
            <a:xfrm>
              <a:off x="277518" y="3151398"/>
              <a:ext cx="84953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A14F9733-F08F-519F-FD4E-3BFCD56AD8CF}"/>
                </a:ext>
              </a:extLst>
            </p:cNvPr>
            <p:cNvSpPr/>
            <p:nvPr/>
          </p:nvSpPr>
          <p:spPr>
            <a:xfrm>
              <a:off x="1720761" y="2140790"/>
              <a:ext cx="2070238" cy="2246993"/>
            </a:xfrm>
            <a:prstGeom prst="roundRect">
              <a:avLst>
                <a:gd name="adj" fmla="val 3604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49FA9B-D235-04FF-0AC1-91839DB10F79}"/>
                </a:ext>
              </a:extLst>
            </p:cNvPr>
            <p:cNvSpPr/>
            <p:nvPr/>
          </p:nvSpPr>
          <p:spPr>
            <a:xfrm>
              <a:off x="1603879" y="2140790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4B5C94C-200E-D521-93C2-FA523ACD6B8B}"/>
                </a:ext>
              </a:extLst>
            </p:cNvPr>
            <p:cNvSpPr/>
            <p:nvPr/>
          </p:nvSpPr>
          <p:spPr>
            <a:xfrm>
              <a:off x="160387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46F449D6-B91E-339D-C319-D29C405B2918}"/>
                </a:ext>
              </a:extLst>
            </p:cNvPr>
            <p:cNvSpPr/>
            <p:nvPr/>
          </p:nvSpPr>
          <p:spPr>
            <a:xfrm>
              <a:off x="160387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F214674-440A-7BE8-D59D-3A18FC8B260B}"/>
                </a:ext>
              </a:extLst>
            </p:cNvPr>
            <p:cNvSpPr/>
            <p:nvPr/>
          </p:nvSpPr>
          <p:spPr>
            <a:xfrm>
              <a:off x="1803813" y="2685637"/>
              <a:ext cx="1904132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endParaRPr lang="en-KR" dirty="0">
                <a:solidFill>
                  <a:srgbClr val="C00000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54F6A1E-F6CF-49AB-174E-3AF91FFB1E0E}"/>
                </a:ext>
              </a:extLst>
            </p:cNvPr>
            <p:cNvSpPr txBox="1"/>
            <p:nvPr/>
          </p:nvSpPr>
          <p:spPr>
            <a:xfrm>
              <a:off x="2434336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963B0FC4-72D0-121B-F3F4-622E451618DF}"/>
                </a:ext>
              </a:extLst>
            </p:cNvPr>
            <p:cNvSpPr/>
            <p:nvPr/>
          </p:nvSpPr>
          <p:spPr>
            <a:xfrm>
              <a:off x="4001043" y="3215406"/>
              <a:ext cx="2252844" cy="1172377"/>
            </a:xfrm>
            <a:prstGeom prst="roundRect">
              <a:avLst>
                <a:gd name="adj" fmla="val 6638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0" name="Rounded Rectangle 99">
              <a:extLst>
                <a:ext uri="{FF2B5EF4-FFF2-40B4-BE49-F238E27FC236}">
                  <a16:creationId xmlns:a16="http://schemas.microsoft.com/office/drawing/2014/main" id="{04EBD8DC-EC62-A705-A352-A880F7CBB9A9}"/>
                </a:ext>
              </a:extLst>
            </p:cNvPr>
            <p:cNvSpPr/>
            <p:nvPr/>
          </p:nvSpPr>
          <p:spPr>
            <a:xfrm>
              <a:off x="6472548" y="3215406"/>
              <a:ext cx="2146302" cy="1172377"/>
            </a:xfrm>
            <a:prstGeom prst="roundRect">
              <a:avLst>
                <a:gd name="adj" fmla="val 5949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560EFB-FA67-3C8C-5B39-3D4A95A45DB7}"/>
                </a:ext>
              </a:extLst>
            </p:cNvPr>
            <p:cNvSpPr/>
            <p:nvPr/>
          </p:nvSpPr>
          <p:spPr>
            <a:xfrm>
              <a:off x="6393699" y="3228487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File system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A50458B-95DB-3D52-BC7A-17E8CF91245D}"/>
                </a:ext>
              </a:extLst>
            </p:cNvPr>
            <p:cNvSpPr/>
            <p:nvPr/>
          </p:nvSpPr>
          <p:spPr>
            <a:xfrm>
              <a:off x="6393699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On-disk data structure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598D6D4-D11B-0227-E164-8AAE4C687395}"/>
                </a:ext>
              </a:extLst>
            </p:cNvPr>
            <p:cNvSpPr/>
            <p:nvPr/>
          </p:nvSpPr>
          <p:spPr>
            <a:xfrm>
              <a:off x="3975465" y="3891161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83B549C-82E5-2EEA-1352-09701D324031}"/>
                </a:ext>
              </a:extLst>
            </p:cNvPr>
            <p:cNvSpPr/>
            <p:nvPr/>
          </p:nvSpPr>
          <p:spPr>
            <a:xfrm>
              <a:off x="4080193" y="3250511"/>
              <a:ext cx="2094545" cy="44046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t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rgbClr val="C00000"/>
                  </a:solidFill>
                </a:rPr>
                <a:t>MMU driver</a:t>
              </a:r>
              <a:endParaRPr lang="en-KR" dirty="0">
                <a:solidFill>
                  <a:srgbClr val="C00000"/>
                </a:solidFill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3820A5F-9E6C-1D18-8289-D65FF150FAB9}"/>
                </a:ext>
              </a:extLst>
            </p:cNvPr>
            <p:cNvSpPr txBox="1"/>
            <p:nvPr/>
          </p:nvSpPr>
          <p:spPr>
            <a:xfrm>
              <a:off x="4121130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3C0851E-22DF-A3CD-8AB6-D292DA6868C2}"/>
                </a:ext>
              </a:extLst>
            </p:cNvPr>
            <p:cNvSpPr txBox="1"/>
            <p:nvPr/>
          </p:nvSpPr>
          <p:spPr>
            <a:xfrm>
              <a:off x="4747989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DMT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EA4687F-A4D5-2580-9CA4-E3C10701B66E}"/>
                </a:ext>
              </a:extLst>
            </p:cNvPr>
            <p:cNvSpPr txBox="1"/>
            <p:nvPr/>
          </p:nvSpPr>
          <p:spPr>
            <a:xfrm>
              <a:off x="5374848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ECPT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519F674-ACD2-F44E-66D9-28E05047C023}"/>
                </a:ext>
              </a:extLst>
            </p:cNvPr>
            <p:cNvSpPr txBox="1"/>
            <p:nvPr/>
          </p:nvSpPr>
          <p:spPr>
            <a:xfrm>
              <a:off x="4358044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AEFE21-36E5-9F15-FC38-BD5290B818C9}"/>
                </a:ext>
              </a:extLst>
            </p:cNvPr>
            <p:cNvSpPr txBox="1"/>
            <p:nvPr/>
          </p:nvSpPr>
          <p:spPr>
            <a:xfrm>
              <a:off x="5048543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Hash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0E508EB-6B63-100A-1016-79C4E6FC3C8F}"/>
                </a:ext>
              </a:extLst>
            </p:cNvPr>
            <p:cNvSpPr txBox="1"/>
            <p:nvPr/>
          </p:nvSpPr>
          <p:spPr>
            <a:xfrm>
              <a:off x="6836239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ext4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F4FBCCD-58EF-0421-ECC5-B70C20732CFE}"/>
                </a:ext>
              </a:extLst>
            </p:cNvPr>
            <p:cNvSpPr txBox="1"/>
            <p:nvPr/>
          </p:nvSpPr>
          <p:spPr>
            <a:xfrm>
              <a:off x="7516268" y="348717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Btrfs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6552A9A-8CD8-D67A-04A5-F83BCAF0ADE4}"/>
                </a:ext>
              </a:extLst>
            </p:cNvPr>
            <p:cNvSpPr txBox="1"/>
            <p:nvPr/>
          </p:nvSpPr>
          <p:spPr>
            <a:xfrm>
              <a:off x="5688406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B8B1506-CFB8-2645-D710-033EE5EF3C1C}"/>
                </a:ext>
              </a:extLst>
            </p:cNvPr>
            <p:cNvSpPr txBox="1"/>
            <p:nvPr/>
          </p:nvSpPr>
          <p:spPr>
            <a:xfrm>
              <a:off x="5923780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1402822A-29B0-7B55-0B20-38A487E5FF0A}"/>
                </a:ext>
              </a:extLst>
            </p:cNvPr>
            <p:cNvSpPr txBox="1"/>
            <p:nvPr/>
          </p:nvSpPr>
          <p:spPr>
            <a:xfrm>
              <a:off x="6853864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Extent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715292E-46D9-9C52-9BDE-AB930DB07459}"/>
                </a:ext>
              </a:extLst>
            </p:cNvPr>
            <p:cNvSpPr txBox="1"/>
            <p:nvPr/>
          </p:nvSpPr>
          <p:spPr>
            <a:xfrm>
              <a:off x="7533893" y="4127301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B-tree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098E40-4A21-01D2-76B5-C828CD717646}"/>
                </a:ext>
              </a:extLst>
            </p:cNvPr>
            <p:cNvSpPr/>
            <p:nvPr/>
          </p:nvSpPr>
          <p:spPr>
            <a:xfrm>
              <a:off x="7965641" y="1932659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i="1" dirty="0">
                  <a:solidFill>
                    <a:schemeClr val="accent5">
                      <a:lumMod val="75000"/>
                    </a:schemeClr>
                  </a:solidFill>
                </a:rPr>
                <a:t>coupled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89A0FB2B-2BC3-2B32-D405-A7CED171FF1F}"/>
                </a:ext>
              </a:extLst>
            </p:cNvPr>
            <p:cNvSpPr txBox="1"/>
            <p:nvPr/>
          </p:nvSpPr>
          <p:spPr>
            <a:xfrm>
              <a:off x="8113183" y="4043451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393BB0F-8CCB-E3C2-A975-78A71CAF0BB5}"/>
                </a:ext>
              </a:extLst>
            </p:cNvPr>
            <p:cNvSpPr txBox="1"/>
            <p:nvPr/>
          </p:nvSpPr>
          <p:spPr>
            <a:xfrm>
              <a:off x="8108768" y="3394630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C127D2-A3CF-E7BD-EBC7-82C2724151D6}"/>
                </a:ext>
              </a:extLst>
            </p:cNvPr>
            <p:cNvSpPr txBox="1"/>
            <p:nvPr/>
          </p:nvSpPr>
          <p:spPr>
            <a:xfrm>
              <a:off x="2502604" y="4642176"/>
              <a:ext cx="506549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Linux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AB4D460-0A3D-4DB6-CFC6-EE0AE305627C}"/>
                </a:ext>
              </a:extLst>
            </p:cNvPr>
            <p:cNvSpPr txBox="1"/>
            <p:nvPr/>
          </p:nvSpPr>
          <p:spPr>
            <a:xfrm>
              <a:off x="4463343" y="4642176"/>
              <a:ext cx="1328249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EMT interface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0580D1B-0C08-A412-2B73-95DECD7FCD77}"/>
                </a:ext>
              </a:extLst>
            </p:cNvPr>
            <p:cNvSpPr txBox="1"/>
            <p:nvPr/>
          </p:nvSpPr>
          <p:spPr>
            <a:xfrm>
              <a:off x="6921554" y="4642176"/>
              <a:ext cx="1248290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VFS interface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48D8541-470F-B744-CC93-4E701F996EF6}"/>
                </a:ext>
              </a:extLst>
            </p:cNvPr>
            <p:cNvSpPr/>
            <p:nvPr/>
          </p:nvSpPr>
          <p:spPr>
            <a:xfrm>
              <a:off x="7042742" y="1946966"/>
              <a:ext cx="847763" cy="19819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sz="1400" i="1" dirty="0">
                  <a:solidFill>
                    <a:srgbClr val="C00000"/>
                  </a:solidFill>
                </a:rPr>
                <a:t>proposed</a:t>
              </a:r>
              <a:endParaRPr lang="en-KR" sz="1400" i="1" dirty="0">
                <a:solidFill>
                  <a:srgbClr val="C00000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C96104-202E-2E66-A1C3-85890994F9BD}"/>
                </a:ext>
              </a:extLst>
            </p:cNvPr>
            <p:cNvCxnSpPr>
              <a:cxnSpLocks/>
            </p:cNvCxnSpPr>
            <p:nvPr/>
          </p:nvCxnSpPr>
          <p:spPr>
            <a:xfrm>
              <a:off x="6367821" y="1909618"/>
              <a:ext cx="0" cy="2912548"/>
            </a:xfrm>
            <a:prstGeom prst="line">
              <a:avLst/>
            </a:prstGeom>
            <a:ln w="25400" cmpd="dbl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288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FB1F28-00A7-8243-557C-CFFB3B1F1C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43782" y="-1621794"/>
            <a:ext cx="7772400" cy="50507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050254-DE51-B201-FC77-AE5C745AFC8D}"/>
              </a:ext>
            </a:extLst>
          </p:cNvPr>
          <p:cNvSpPr/>
          <p:nvPr/>
        </p:nvSpPr>
        <p:spPr>
          <a:xfrm>
            <a:off x="3170170" y="3768286"/>
            <a:ext cx="7446013" cy="19727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9A1356-F83D-6E85-E6DD-2E2672A87C2D}"/>
              </a:ext>
            </a:extLst>
          </p:cNvPr>
          <p:cNvSpPr/>
          <p:nvPr/>
        </p:nvSpPr>
        <p:spPr>
          <a:xfrm>
            <a:off x="3170169" y="5833022"/>
            <a:ext cx="7446013" cy="7263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3233C8-4E91-FA97-8B32-5FDD5835EE7C}"/>
              </a:ext>
            </a:extLst>
          </p:cNvPr>
          <p:cNvSpPr/>
          <p:nvPr/>
        </p:nvSpPr>
        <p:spPr>
          <a:xfrm>
            <a:off x="3277998" y="4061027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 err="1">
                <a:solidFill>
                  <a:sysClr val="windowText" lastClr="000000"/>
                </a:solidFill>
              </a:rPr>
              <a:t>linux</a:t>
            </a:r>
            <a:r>
              <a:rPr lang="en-US" dirty="0">
                <a:solidFill>
                  <a:sysClr val="windowText" lastClr="000000"/>
                </a:solidFill>
              </a:rPr>
              <a:t>/mm/..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BDF3C-1176-FA74-FCB6-9756F5E13EC5}"/>
              </a:ext>
            </a:extLst>
          </p:cNvPr>
          <p:cNvSpPr/>
          <p:nvPr/>
        </p:nvSpPr>
        <p:spPr>
          <a:xfrm>
            <a:off x="5727772" y="4061026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 err="1">
                <a:solidFill>
                  <a:sysClr val="windowText" lastClr="000000"/>
                </a:solidFill>
              </a:rPr>
              <a:t>linux</a:t>
            </a:r>
            <a:r>
              <a:rPr lang="en-US" dirty="0">
                <a:solidFill>
                  <a:sysClr val="windowText" lastClr="000000"/>
                </a:solidFill>
              </a:rPr>
              <a:t>/mm/..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34A5B0-DB7C-DF3E-ADDE-FFDE9E2E4BB0}"/>
              </a:ext>
            </a:extLst>
          </p:cNvPr>
          <p:cNvSpPr/>
          <p:nvPr/>
        </p:nvSpPr>
        <p:spPr>
          <a:xfrm>
            <a:off x="8177546" y="4061026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System calls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FFC5D1-FA72-A871-3716-36E5FB67A341}"/>
              </a:ext>
            </a:extLst>
          </p:cNvPr>
          <p:cNvSpPr/>
          <p:nvPr/>
        </p:nvSpPr>
        <p:spPr>
          <a:xfrm>
            <a:off x="8177546" y="4641138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VFS interface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9761DF-92D7-EB28-7573-3559C5D0602E}"/>
              </a:ext>
            </a:extLst>
          </p:cNvPr>
          <p:cNvSpPr/>
          <p:nvPr/>
        </p:nvSpPr>
        <p:spPr>
          <a:xfrm>
            <a:off x="8177546" y="5246425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File systems</a:t>
            </a:r>
          </a:p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ext4, </a:t>
            </a:r>
            <a:r>
              <a:rPr lang="en-US" dirty="0" err="1">
                <a:solidFill>
                  <a:sysClr val="windowText" lastClr="000000"/>
                </a:solidFill>
              </a:rPr>
              <a:t>btrfs</a:t>
            </a:r>
            <a:r>
              <a:rPr lang="en-US" dirty="0">
                <a:solidFill>
                  <a:sysClr val="windowText" lastClr="000000"/>
                </a:solidFill>
              </a:rPr>
              <a:t>, ...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BEF4F-A648-50A9-92FE-E8C2BFCFE7EA}"/>
              </a:ext>
            </a:extLst>
          </p:cNvPr>
          <p:cNvSpPr/>
          <p:nvPr/>
        </p:nvSpPr>
        <p:spPr>
          <a:xfrm>
            <a:off x="8177546" y="5902751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On-disk data structure</a:t>
            </a:r>
          </a:p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Extents, B-Tree, ... 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DE3C14-9369-6689-165F-5CA276F9ABDE}"/>
              </a:ext>
            </a:extLst>
          </p:cNvPr>
          <p:cNvSpPr/>
          <p:nvPr/>
        </p:nvSpPr>
        <p:spPr>
          <a:xfrm>
            <a:off x="5727772" y="5902751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>
                <a:solidFill>
                  <a:sysClr val="windowText" lastClr="000000"/>
                </a:solidFill>
              </a:rPr>
              <a:t>MMU hardware</a:t>
            </a:r>
          </a:p>
          <a:p>
            <a:pPr algn="ctr">
              <a:lnSpc>
                <a:spcPct val="70000"/>
              </a:lnSpc>
            </a:pPr>
            <a:r>
              <a:rPr lang="en-US">
                <a:solidFill>
                  <a:sysClr val="windowText" lastClr="000000"/>
                </a:solidFill>
              </a:rPr>
              <a:t>Radix tree, Hash, ...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86D13-6382-C048-57F3-E91FCBE54C39}"/>
              </a:ext>
            </a:extLst>
          </p:cNvPr>
          <p:cNvSpPr/>
          <p:nvPr/>
        </p:nvSpPr>
        <p:spPr>
          <a:xfrm>
            <a:off x="3277998" y="5902751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MMU hardware</a:t>
            </a:r>
          </a:p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Radix tree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B4E1FB-31D8-C525-2B2F-2997F89A98DB}"/>
              </a:ext>
            </a:extLst>
          </p:cNvPr>
          <p:cNvSpPr/>
          <p:nvPr/>
        </p:nvSpPr>
        <p:spPr>
          <a:xfrm>
            <a:off x="3277998" y="5217605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 err="1">
                <a:solidFill>
                  <a:sysClr val="windowText" lastClr="000000"/>
                </a:solidFill>
              </a:rPr>
              <a:t>linux</a:t>
            </a:r>
            <a:r>
              <a:rPr lang="en-US" dirty="0">
                <a:solidFill>
                  <a:sysClr val="windowText" lastClr="000000"/>
                </a:solidFill>
              </a:rPr>
              <a:t>/arch/*/mm/..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AB10E7-637F-49C7-B786-A8693198FFD5}"/>
              </a:ext>
            </a:extLst>
          </p:cNvPr>
          <p:cNvSpPr/>
          <p:nvPr/>
        </p:nvSpPr>
        <p:spPr>
          <a:xfrm>
            <a:off x="5727772" y="5204731"/>
            <a:ext cx="2304000" cy="3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MMU driver</a:t>
            </a:r>
          </a:p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Radix, ECPT, DMT, ...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F18C3A-647C-BBB3-1A77-DF49F4863B0C}"/>
              </a:ext>
            </a:extLst>
          </p:cNvPr>
          <p:cNvSpPr/>
          <p:nvPr/>
        </p:nvSpPr>
        <p:spPr>
          <a:xfrm>
            <a:off x="5727772" y="4641138"/>
            <a:ext cx="2304000" cy="388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r>
              <a:rPr lang="en-US" dirty="0">
                <a:solidFill>
                  <a:sysClr val="windowText" lastClr="000000"/>
                </a:solidFill>
              </a:rPr>
              <a:t>EMT interface</a:t>
            </a: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7D67C4-858D-806E-94F1-C06A6F4AF0DB}"/>
              </a:ext>
            </a:extLst>
          </p:cNvPr>
          <p:cNvSpPr/>
          <p:nvPr/>
        </p:nvSpPr>
        <p:spPr>
          <a:xfrm>
            <a:off x="3277998" y="4637494"/>
            <a:ext cx="2304000" cy="388189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72000" rIns="0" bIns="0" rtlCol="0" anchor="ctr" anchorCtr="1"/>
          <a:lstStyle/>
          <a:p>
            <a:pPr algn="ctr">
              <a:lnSpc>
                <a:spcPct val="70000"/>
              </a:lnSpc>
            </a:pPr>
            <a:endParaRPr lang="en-KR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286939-168C-78B9-C707-5C0936855463}"/>
              </a:ext>
            </a:extLst>
          </p:cNvPr>
          <p:cNvSpPr txBox="1"/>
          <p:nvPr/>
        </p:nvSpPr>
        <p:spPr>
          <a:xfrm>
            <a:off x="6341132" y="6258472"/>
            <a:ext cx="1104085" cy="325208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>
            <a:defPPr>
              <a:defRPr lang="en-KR"/>
            </a:defPPr>
            <a:lvl1pPr algn="ctr">
              <a:lnSpc>
                <a:spcPct val="70000"/>
              </a:lnSpc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KR" dirty="0"/>
              <a:t>Hardware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76EB79-202E-3985-3F3E-310486F532A5}"/>
              </a:ext>
            </a:extLst>
          </p:cNvPr>
          <p:cNvSpPr txBox="1"/>
          <p:nvPr/>
        </p:nvSpPr>
        <p:spPr>
          <a:xfrm>
            <a:off x="1731924" y="4047758"/>
            <a:ext cx="1372812" cy="325208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KR" dirty="0"/>
              <a:t>HW-agnostic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E4233B-494C-6E26-B0E7-4D44F68FBD77}"/>
              </a:ext>
            </a:extLst>
          </p:cNvPr>
          <p:cNvSpPr txBox="1"/>
          <p:nvPr/>
        </p:nvSpPr>
        <p:spPr>
          <a:xfrm>
            <a:off x="5969394" y="3768286"/>
            <a:ext cx="1820755" cy="325208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Operating system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B45879-060F-D2EE-63CC-8708E2AC47A0}"/>
              </a:ext>
            </a:extLst>
          </p:cNvPr>
          <p:cNvSpPr txBox="1"/>
          <p:nvPr/>
        </p:nvSpPr>
        <p:spPr>
          <a:xfrm>
            <a:off x="1574510" y="5126245"/>
            <a:ext cx="1687641" cy="519107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KR" dirty="0"/>
              <a:t>HW-specific</a:t>
            </a:r>
            <a:endParaRPr lang="en-US" dirty="0"/>
          </a:p>
          <a:p>
            <a:pPr algn="ctr">
              <a:lnSpc>
                <a:spcPct val="70000"/>
              </a:lnSpc>
            </a:pPr>
            <a:r>
              <a:rPr lang="en-US" dirty="0"/>
              <a:t>implementation</a:t>
            </a:r>
            <a:endParaRPr lang="en-K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7B676-E5C3-41C8-EB02-6C38CA385FFB}"/>
              </a:ext>
            </a:extLst>
          </p:cNvPr>
          <p:cNvSpPr txBox="1"/>
          <p:nvPr/>
        </p:nvSpPr>
        <p:spPr>
          <a:xfrm>
            <a:off x="1609102" y="5902751"/>
            <a:ext cx="1618456" cy="519107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KR" dirty="0"/>
              <a:t>Data structures</a:t>
            </a:r>
          </a:p>
          <a:p>
            <a:pPr algn="ctr">
              <a:lnSpc>
                <a:spcPct val="70000"/>
              </a:lnSpc>
            </a:pPr>
            <a:r>
              <a:rPr lang="en-KR" dirty="0"/>
              <a:t>(Logics)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B04B73-D968-EC4F-EC7F-F67012011A16}"/>
              </a:ext>
            </a:extLst>
          </p:cNvPr>
          <p:cNvSpPr txBox="1"/>
          <p:nvPr/>
        </p:nvSpPr>
        <p:spPr>
          <a:xfrm>
            <a:off x="1909762" y="4576904"/>
            <a:ext cx="1017137" cy="519107"/>
          </a:xfrm>
          <a:prstGeom prst="rect">
            <a:avLst/>
          </a:prstGeom>
          <a:noFill/>
        </p:spPr>
        <p:txBody>
          <a:bodyPr wrap="none" tIns="72000" rtlCol="0" anchor="ctr" anchorCtr="1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KR" dirty="0"/>
              <a:t>Generic</a:t>
            </a:r>
          </a:p>
          <a:p>
            <a:pPr algn="ctr">
              <a:lnSpc>
                <a:spcPct val="70000"/>
              </a:lnSpc>
            </a:pPr>
            <a:r>
              <a:rPr lang="en-KR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336345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2EB58C05-3B5E-9145-0E94-7122F59B8CA7}"/>
              </a:ext>
            </a:extLst>
          </p:cNvPr>
          <p:cNvGrpSpPr/>
          <p:nvPr/>
        </p:nvGrpSpPr>
        <p:grpSpPr>
          <a:xfrm>
            <a:off x="127182" y="612756"/>
            <a:ext cx="8596824" cy="2912708"/>
            <a:chOff x="127182" y="849706"/>
            <a:chExt cx="8596824" cy="291270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53A836-6DF8-AE96-C995-B7AD46EC1471}"/>
                </a:ext>
              </a:extLst>
            </p:cNvPr>
            <p:cNvSpPr/>
            <p:nvPr/>
          </p:nvSpPr>
          <p:spPr>
            <a:xfrm>
              <a:off x="1520458" y="849706"/>
              <a:ext cx="7203548" cy="178322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DEF56E-5619-00FA-F368-B2BD2BC301D5}"/>
                </a:ext>
              </a:extLst>
            </p:cNvPr>
            <p:cNvSpPr/>
            <p:nvPr/>
          </p:nvSpPr>
          <p:spPr>
            <a:xfrm>
              <a:off x="1520457" y="2724944"/>
              <a:ext cx="7203548" cy="7645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5000"/>
                </a:lnSpc>
              </a:pPr>
              <a:endParaRPr lang="en-K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E7FBB4-9884-8E0E-A202-3522448EDD03}"/>
                </a:ext>
              </a:extLst>
            </p:cNvPr>
            <p:cNvSpPr/>
            <p:nvPr/>
          </p:nvSpPr>
          <p:spPr>
            <a:xfrm>
              <a:off x="3926636" y="1080878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0E73EB-8064-394F-65DD-65EC8F7F8764}"/>
                </a:ext>
              </a:extLst>
            </p:cNvPr>
            <p:cNvSpPr/>
            <p:nvPr/>
          </p:nvSpPr>
          <p:spPr>
            <a:xfrm>
              <a:off x="6344870" y="1080878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System calls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F17AF2-056C-9860-018F-26837EACC7F1}"/>
                </a:ext>
              </a:extLst>
            </p:cNvPr>
            <p:cNvSpPr/>
            <p:nvPr/>
          </p:nvSpPr>
          <p:spPr>
            <a:xfrm>
              <a:off x="6544804" y="1625725"/>
              <a:ext cx="1904132" cy="38818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VFS interface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A93E2F-0C67-4682-3FF0-9D1F3F5B82B0}"/>
                </a:ext>
              </a:extLst>
            </p:cNvPr>
            <p:cNvSpPr/>
            <p:nvPr/>
          </p:nvSpPr>
          <p:spPr>
            <a:xfrm>
              <a:off x="4126570" y="1625725"/>
              <a:ext cx="1904132" cy="3881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EMT interface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6D6887-60F7-04E8-6DE9-20F1A88A5C4F}"/>
                </a:ext>
              </a:extLst>
            </p:cNvPr>
            <p:cNvSpPr txBox="1"/>
            <p:nvPr/>
          </p:nvSpPr>
          <p:spPr>
            <a:xfrm>
              <a:off x="1555050" y="3362717"/>
              <a:ext cx="854401" cy="11959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</a:lstStyle>
            <a:p>
              <a:pPr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Hardware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761194-21DF-C08C-77C5-F1D55853DFA3}"/>
                </a:ext>
              </a:extLst>
            </p:cNvPr>
            <p:cNvSpPr txBox="1"/>
            <p:nvPr/>
          </p:nvSpPr>
          <p:spPr>
            <a:xfrm>
              <a:off x="274409" y="1107174"/>
              <a:ext cx="1134555" cy="33559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HW-agnostic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FF9CCBA-80DE-E97A-C4CB-48BF769B696E}"/>
                </a:ext>
              </a:extLst>
            </p:cNvPr>
            <p:cNvSpPr txBox="1"/>
            <p:nvPr/>
          </p:nvSpPr>
          <p:spPr>
            <a:xfrm>
              <a:off x="1557771" y="869477"/>
              <a:ext cx="1499513" cy="17510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sz="1600" b="1" i="1" dirty="0">
                  <a:solidFill>
                    <a:schemeClr val="bg1"/>
                  </a:solidFill>
                </a:rPr>
                <a:t>Operating system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0E7552-BD48-9F60-B934-917DBC7E0B6E}"/>
                </a:ext>
              </a:extLst>
            </p:cNvPr>
            <p:cNvSpPr txBox="1"/>
            <p:nvPr/>
          </p:nvSpPr>
          <p:spPr>
            <a:xfrm>
              <a:off x="307131" y="2158295"/>
              <a:ext cx="1069111" cy="335596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HW-specific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13E086-9112-EE08-8B36-9450BE553C79}"/>
                </a:ext>
              </a:extLst>
            </p:cNvPr>
            <p:cNvSpPr txBox="1"/>
            <p:nvPr/>
          </p:nvSpPr>
          <p:spPr>
            <a:xfrm>
              <a:off x="127182" y="2782554"/>
              <a:ext cx="1337566" cy="543345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Data structures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(Logics)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4C5891-D243-4CD8-D150-1098D716DBE4}"/>
                </a:ext>
              </a:extLst>
            </p:cNvPr>
            <p:cNvSpPr txBox="1"/>
            <p:nvPr/>
          </p:nvSpPr>
          <p:spPr>
            <a:xfrm>
              <a:off x="421382" y="1548147"/>
              <a:ext cx="840610" cy="543345"/>
            </a:xfrm>
            <a:prstGeom prst="rect">
              <a:avLst/>
            </a:prstGeom>
            <a:noFill/>
          </p:spPr>
          <p:txBody>
            <a:bodyPr wrap="none" tIns="7200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dirty="0"/>
                <a:t>Generic</a:t>
              </a:r>
            </a:p>
            <a:p>
              <a:pPr algn="ctr">
                <a:lnSpc>
                  <a:spcPct val="75000"/>
                </a:lnSpc>
              </a:pPr>
              <a:r>
                <a:rPr lang="en-KR" dirty="0"/>
                <a:t>interface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CA2F19-40E1-E53E-8693-FF40BD81265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89" y="1518618"/>
              <a:ext cx="84953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137D1E0-51BA-0759-E92A-E2726AD840E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89" y="2091486"/>
              <a:ext cx="84953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B954046-E22E-E985-3F5D-9F85D7004A42}"/>
                </a:ext>
              </a:extLst>
            </p:cNvPr>
            <p:cNvSpPr/>
            <p:nvPr/>
          </p:nvSpPr>
          <p:spPr>
            <a:xfrm>
              <a:off x="1637581" y="1080878"/>
              <a:ext cx="2138939" cy="2182985"/>
            </a:xfrm>
            <a:prstGeom prst="roundRect">
              <a:avLst>
                <a:gd name="adj" fmla="val 6407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0B758C5-55A2-BA74-221F-138CB2F0730D}"/>
                </a:ext>
              </a:extLst>
            </p:cNvPr>
            <p:cNvSpPr/>
            <p:nvPr/>
          </p:nvSpPr>
          <p:spPr>
            <a:xfrm>
              <a:off x="1555050" y="1080878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Arch-independent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1F37507-63CA-2469-CEB5-803AFEACA879}"/>
                </a:ext>
              </a:extLst>
            </p:cNvPr>
            <p:cNvSpPr/>
            <p:nvPr/>
          </p:nvSpPr>
          <p:spPr>
            <a:xfrm>
              <a:off x="1555050" y="2794673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ko-KR" alt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B872D30-1EBA-EC50-86EA-FA48382E1D73}"/>
                </a:ext>
              </a:extLst>
            </p:cNvPr>
            <p:cNvSpPr/>
            <p:nvPr/>
          </p:nvSpPr>
          <p:spPr>
            <a:xfrm>
              <a:off x="1555050" y="2131999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Arch-dependent</a:t>
              </a:r>
            </a:p>
            <a:p>
              <a:pPr algn="ctr">
                <a:lnSpc>
                  <a:spcPct val="80000"/>
                </a:lnSpc>
              </a:pPr>
              <a:r>
                <a:rPr lang="en-US" sz="1400" dirty="0" err="1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linux</a:t>
              </a:r>
              <a:r>
                <a:rPr lang="en-US" sz="1400" dirty="0">
                  <a:solidFill>
                    <a:sysClr val="windowText" lastClr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/arch/*/mm/..</a:t>
              </a:r>
              <a:endParaRPr lang="en-KR" sz="14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95BF26-4A41-CF4D-B813-6B31D59DFCAD}"/>
                </a:ext>
              </a:extLst>
            </p:cNvPr>
            <p:cNvSpPr/>
            <p:nvPr/>
          </p:nvSpPr>
          <p:spPr>
            <a:xfrm>
              <a:off x="1754984" y="1625725"/>
              <a:ext cx="1904132" cy="388189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endParaRPr lang="en-KR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1D3C63-C6AD-0406-DF45-A058B5D48AC7}"/>
                </a:ext>
              </a:extLst>
            </p:cNvPr>
            <p:cNvSpPr txBox="1"/>
            <p:nvPr/>
          </p:nvSpPr>
          <p:spPr>
            <a:xfrm>
              <a:off x="2385507" y="303081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DF40C29-85F1-CCCC-83E1-6DB7E5483404}"/>
                </a:ext>
              </a:extLst>
            </p:cNvPr>
            <p:cNvSpPr/>
            <p:nvPr/>
          </p:nvSpPr>
          <p:spPr>
            <a:xfrm>
              <a:off x="3897603" y="2118918"/>
              <a:ext cx="2362066" cy="1172377"/>
            </a:xfrm>
            <a:prstGeom prst="roundRect">
              <a:avLst>
                <a:gd name="adj" fmla="val 11113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009C79D-4D9A-C61A-CAB3-5C7D77E5586B}"/>
                </a:ext>
              </a:extLst>
            </p:cNvPr>
            <p:cNvSpPr/>
            <p:nvPr/>
          </p:nvSpPr>
          <p:spPr>
            <a:xfrm>
              <a:off x="6383668" y="2118918"/>
              <a:ext cx="2226404" cy="1172377"/>
            </a:xfrm>
            <a:prstGeom prst="roundRect">
              <a:avLst>
                <a:gd name="adj" fmla="val 11063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DF886B8-F1A1-A61E-06C0-263917103C91}"/>
                </a:ext>
              </a:extLst>
            </p:cNvPr>
            <p:cNvSpPr/>
            <p:nvPr/>
          </p:nvSpPr>
          <p:spPr>
            <a:xfrm>
              <a:off x="6344870" y="2131999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File systems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5A72A64-2522-ED66-C5EC-83C57E61EBB8}"/>
                </a:ext>
              </a:extLst>
            </p:cNvPr>
            <p:cNvSpPr/>
            <p:nvPr/>
          </p:nvSpPr>
          <p:spPr>
            <a:xfrm>
              <a:off x="6344870" y="2794673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On-disk data structure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65E42A9-DBBC-89F0-60F2-7B29D0C51472}"/>
                </a:ext>
              </a:extLst>
            </p:cNvPr>
            <p:cNvSpPr/>
            <p:nvPr/>
          </p:nvSpPr>
          <p:spPr>
            <a:xfrm>
              <a:off x="3926636" y="2794673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hardware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E3CB8D-02B8-A35C-7540-7698BE15D94C}"/>
                </a:ext>
              </a:extLst>
            </p:cNvPr>
            <p:cNvSpPr/>
            <p:nvPr/>
          </p:nvSpPr>
          <p:spPr>
            <a:xfrm>
              <a:off x="3926636" y="2131999"/>
              <a:ext cx="2304000" cy="388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/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MMU driver</a:t>
              </a:r>
            </a:p>
            <a:p>
              <a:pPr algn="ctr">
                <a:lnSpc>
                  <a:spcPct val="75000"/>
                </a:lnSpc>
              </a:pP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endParaRPr lang="en-KR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130A322-F8C1-AE3C-A522-E68246D34825}"/>
                </a:ext>
              </a:extLst>
            </p:cNvPr>
            <p:cNvSpPr txBox="1"/>
            <p:nvPr/>
          </p:nvSpPr>
          <p:spPr>
            <a:xfrm>
              <a:off x="3978356" y="2390685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FF9966-4EEA-0A4C-E92F-ABA2A2313C44}"/>
                </a:ext>
              </a:extLst>
            </p:cNvPr>
            <p:cNvSpPr txBox="1"/>
            <p:nvPr/>
          </p:nvSpPr>
          <p:spPr>
            <a:xfrm>
              <a:off x="4667845" y="2390685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DMT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591BBEC-AF88-8EB9-C192-E564E4197809}"/>
                </a:ext>
              </a:extLst>
            </p:cNvPr>
            <p:cNvSpPr txBox="1"/>
            <p:nvPr/>
          </p:nvSpPr>
          <p:spPr>
            <a:xfrm>
              <a:off x="5357334" y="2390685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ECPT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3E0E1A4-6FAB-CAD9-0194-07DE48C37863}"/>
                </a:ext>
              </a:extLst>
            </p:cNvPr>
            <p:cNvSpPr txBox="1"/>
            <p:nvPr/>
          </p:nvSpPr>
          <p:spPr>
            <a:xfrm>
              <a:off x="4309215" y="303081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Radix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AA0088-777E-F934-31F3-765461E26821}"/>
                </a:ext>
              </a:extLst>
            </p:cNvPr>
            <p:cNvSpPr txBox="1"/>
            <p:nvPr/>
          </p:nvSpPr>
          <p:spPr>
            <a:xfrm>
              <a:off x="4999714" y="303081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Hash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089E9C-57E0-D186-9429-1C50FE09300E}"/>
                </a:ext>
              </a:extLst>
            </p:cNvPr>
            <p:cNvSpPr txBox="1"/>
            <p:nvPr/>
          </p:nvSpPr>
          <p:spPr>
            <a:xfrm>
              <a:off x="6787410" y="2390685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ext4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193253-00D8-F34E-E555-25D0343E8E22}"/>
                </a:ext>
              </a:extLst>
            </p:cNvPr>
            <p:cNvSpPr txBox="1"/>
            <p:nvPr/>
          </p:nvSpPr>
          <p:spPr>
            <a:xfrm>
              <a:off x="7467439" y="2390685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Btrfs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B393A44-52BF-B14F-57F6-FEAA44EEF1CF}"/>
                </a:ext>
              </a:extLst>
            </p:cNvPr>
            <p:cNvSpPr txBox="1"/>
            <p:nvPr/>
          </p:nvSpPr>
          <p:spPr>
            <a:xfrm>
              <a:off x="5639577" y="2946963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1715521-51D9-E31C-DDD6-C87B913FF6B2}"/>
                </a:ext>
              </a:extLst>
            </p:cNvPr>
            <p:cNvSpPr txBox="1"/>
            <p:nvPr/>
          </p:nvSpPr>
          <p:spPr>
            <a:xfrm>
              <a:off x="5964346" y="2298142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B234099-D2F6-A48D-F332-D1404C33B9AD}"/>
                </a:ext>
              </a:extLst>
            </p:cNvPr>
            <p:cNvSpPr txBox="1"/>
            <p:nvPr/>
          </p:nvSpPr>
          <p:spPr>
            <a:xfrm>
              <a:off x="6805035" y="303081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Extent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72EF2AF-CD34-32C2-75B1-0198B0063A8F}"/>
                </a:ext>
              </a:extLst>
            </p:cNvPr>
            <p:cNvSpPr txBox="1"/>
            <p:nvPr/>
          </p:nvSpPr>
          <p:spPr>
            <a:xfrm>
              <a:off x="7485064" y="3030813"/>
              <a:ext cx="573902" cy="1854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36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B-tree</a:t>
              </a:r>
              <a:endParaRPr lang="en-KR" sz="16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DB09843-EA26-D461-9118-3B924A9D23A6}"/>
                </a:ext>
              </a:extLst>
            </p:cNvPr>
            <p:cNvSpPr/>
            <p:nvPr/>
          </p:nvSpPr>
          <p:spPr>
            <a:xfrm>
              <a:off x="7916812" y="881891"/>
              <a:ext cx="769626" cy="220274"/>
            </a:xfrm>
            <a:prstGeom prst="roundRect">
              <a:avLst>
                <a:gd name="adj" fmla="val 31314"/>
              </a:avLst>
            </a:prstGeom>
            <a:solidFill>
              <a:schemeClr val="accent5">
                <a:lumMod val="75000"/>
                <a:alpha val="20000"/>
              </a:schemeClr>
            </a:solidFill>
            <a:ln>
              <a:solidFill>
                <a:schemeClr val="accent5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r>
                <a:rPr lang="en-KR" sz="1400" i="1" dirty="0">
                  <a:solidFill>
                    <a:schemeClr val="accent5">
                      <a:lumMod val="75000"/>
                    </a:schemeClr>
                  </a:solidFill>
                </a:rPr>
                <a:t>coupled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314C47-2EC9-6312-DDB2-E60B6DC0A832}"/>
                </a:ext>
              </a:extLst>
            </p:cNvPr>
            <p:cNvSpPr txBox="1"/>
            <p:nvPr/>
          </p:nvSpPr>
          <p:spPr>
            <a:xfrm>
              <a:off x="8064354" y="2946963"/>
              <a:ext cx="315646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86B5B64-77B8-76B7-4E7F-CEC99626D29B}"/>
                </a:ext>
              </a:extLst>
            </p:cNvPr>
            <p:cNvSpPr txBox="1"/>
            <p:nvPr/>
          </p:nvSpPr>
          <p:spPr>
            <a:xfrm>
              <a:off x="8059939" y="2298142"/>
              <a:ext cx="300037" cy="2243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72000" rIns="0" bIns="0" rtlCol="0" anchor="ctr" anchorCtr="1"/>
            <a:lstStyle>
              <a:defPPr>
                <a:defRPr lang="en-KR"/>
              </a:defPPr>
              <a:lvl1pPr algn="ctr">
                <a:lnSpc>
                  <a:spcPct val="70000"/>
                </a:lnSpc>
                <a:defRPr>
                  <a:solidFill>
                    <a:sysClr val="windowText" lastClr="000000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dirty="0"/>
                <a:t>...</a:t>
              </a:r>
              <a:endParaRPr lang="en-KR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70CE109-00EC-EC8A-7392-84AE5F759F45}"/>
                </a:ext>
              </a:extLst>
            </p:cNvPr>
            <p:cNvSpPr txBox="1"/>
            <p:nvPr/>
          </p:nvSpPr>
          <p:spPr>
            <a:xfrm>
              <a:off x="2453775" y="3545688"/>
              <a:ext cx="506549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Linux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8282A12-4474-02A8-468B-6E0FA2CE6445}"/>
                </a:ext>
              </a:extLst>
            </p:cNvPr>
            <p:cNvSpPr txBox="1"/>
            <p:nvPr/>
          </p:nvSpPr>
          <p:spPr>
            <a:xfrm>
              <a:off x="4414514" y="3545688"/>
              <a:ext cx="1328249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EMT interface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4AAD29C-BF4D-6AF1-23AE-C4D75F55C23C}"/>
                </a:ext>
              </a:extLst>
            </p:cNvPr>
            <p:cNvSpPr txBox="1"/>
            <p:nvPr/>
          </p:nvSpPr>
          <p:spPr>
            <a:xfrm>
              <a:off x="6872725" y="3545688"/>
              <a:ext cx="1248290" cy="21672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1">
              <a:spAutoFit/>
            </a:bodyPr>
            <a:lstStyle/>
            <a:p>
              <a:pPr algn="ctr">
                <a:lnSpc>
                  <a:spcPct val="75000"/>
                </a:lnSpc>
              </a:pPr>
              <a:r>
                <a:rPr lang="en-KR" b="1" dirty="0"/>
                <a:t>VFS interface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230F314-7A0B-9AC2-9C35-941C68E815A6}"/>
              </a:ext>
            </a:extLst>
          </p:cNvPr>
          <p:cNvSpPr txBox="1"/>
          <p:nvPr/>
        </p:nvSpPr>
        <p:spPr>
          <a:xfrm>
            <a:off x="176011" y="108196"/>
            <a:ext cx="35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/>
              <a:t>Interface overview and comparison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E62BA-019D-FF79-8A38-D3C3332AD514}"/>
              </a:ext>
            </a:extLst>
          </p:cNvPr>
          <p:cNvSpPr txBox="1"/>
          <p:nvPr/>
        </p:nvSpPr>
        <p:spPr>
          <a:xfrm>
            <a:off x="9116632" y="530145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178447-982D-C38B-063A-9DB574B72884}"/>
              </a:ext>
            </a:extLst>
          </p:cNvPr>
          <p:cNvSpPr txBox="1"/>
          <p:nvPr/>
        </p:nvSpPr>
        <p:spPr>
          <a:xfrm>
            <a:off x="10709234" y="1329649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vfs_fsync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160D19-C9F8-CC65-8DA7-5B1DC2A32525}"/>
              </a:ext>
            </a:extLst>
          </p:cNvPr>
          <p:cNvSpPr txBox="1"/>
          <p:nvPr/>
        </p:nvSpPr>
        <p:spPr>
          <a:xfrm>
            <a:off x="10669052" y="1926783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ext4_sync_file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29D1AD-1220-20BD-2422-56DE2809DF05}"/>
              </a:ext>
            </a:extLst>
          </p:cNvPr>
          <p:cNvSpPr txBox="1"/>
          <p:nvPr/>
        </p:nvSpPr>
        <p:spPr>
          <a:xfrm>
            <a:off x="9170612" y="13279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pte_iter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2F8B49-40D8-5567-5C95-320BDEB9FBCE}"/>
              </a:ext>
            </a:extLst>
          </p:cNvPr>
          <p:cNvSpPr txBox="1"/>
          <p:nvPr/>
        </p:nvSpPr>
        <p:spPr>
          <a:xfrm>
            <a:off x="9057034" y="1909618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radix_pte_iter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D454DD-2D80-70FB-A503-8867DF22C60F}"/>
              </a:ext>
            </a:extLst>
          </p:cNvPr>
          <p:cNvSpPr txBox="1"/>
          <p:nvPr/>
        </p:nvSpPr>
        <p:spPr>
          <a:xfrm>
            <a:off x="9325769" y="913481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EMT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0B1EB1-D385-3606-22B5-274330F5BD96}"/>
              </a:ext>
            </a:extLst>
          </p:cNvPr>
          <p:cNvSpPr txBox="1"/>
          <p:nvPr/>
        </p:nvSpPr>
        <p:spPr>
          <a:xfrm>
            <a:off x="10905761" y="885473"/>
            <a:ext cx="524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VFS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9D068A6-6FE3-3BA8-1484-944CD3506C72}"/>
              </a:ext>
            </a:extLst>
          </p:cNvPr>
          <p:cNvCxnSpPr/>
          <p:nvPr/>
        </p:nvCxnSpPr>
        <p:spPr>
          <a:xfrm>
            <a:off x="9170612" y="1282813"/>
            <a:ext cx="2544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BC6710F-33EE-F483-F84F-87177D7DAA26}"/>
              </a:ext>
            </a:extLst>
          </p:cNvPr>
          <p:cNvCxnSpPr>
            <a:cxnSpLocks/>
          </p:cNvCxnSpPr>
          <p:nvPr/>
        </p:nvCxnSpPr>
        <p:spPr>
          <a:xfrm>
            <a:off x="6318992" y="612756"/>
            <a:ext cx="0" cy="2804345"/>
          </a:xfrm>
          <a:prstGeom prst="line">
            <a:avLst/>
          </a:prstGeom>
          <a:ln w="25400" cmpd="dbl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618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11436</TotalTime>
  <Words>1132</Words>
  <Application>Microsoft Macintosh PowerPoint</Application>
  <PresentationFormat>Widescreen</PresentationFormat>
  <Paragraphs>601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</vt:lpstr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Jongyul Kim</dc:creator>
  <cp:lastModifiedBy>Jongyul Kim</cp:lastModifiedBy>
  <cp:revision>152</cp:revision>
  <dcterms:created xsi:type="dcterms:W3CDTF">2023-11-29T18:36:36Z</dcterms:created>
  <dcterms:modified xsi:type="dcterms:W3CDTF">2024-12-10T18:51:29Z</dcterms:modified>
</cp:coreProperties>
</file>