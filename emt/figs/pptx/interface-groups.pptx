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3" userDrawn="1">
          <p15:clr>
            <a:srgbClr val="A4A3A4"/>
          </p15:clr>
        </p15:guide>
        <p15:guide id="2" pos="72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72" autoAdjust="0"/>
    <p:restoredTop sz="94660"/>
  </p:normalViewPr>
  <p:slideViewPr>
    <p:cSldViewPr showGuides="1">
      <p:cViewPr varScale="1">
        <p:scale>
          <a:sx n="159" d="100"/>
          <a:sy n="159" d="100"/>
        </p:scale>
        <p:origin x="2940" y="138"/>
      </p:cViewPr>
      <p:guideLst>
        <p:guide orient="horz" pos="1933"/>
        <p:guide pos="72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318E1-07C0-CDB4-27E3-EB934698AB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2F6261-924A-17AC-61FA-EFB2FB0F2C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425EE-0E88-0C4B-3050-B181D0972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52F7D-7167-DB78-6AA9-938F6D50F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771ED-436C-AF78-C4E5-7A35EB39B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56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E7A79-2346-C7E0-AC59-F550E3FFD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8CEEA-F7E2-33E2-C4D7-26C15D797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A5D2F-F84E-9097-0F14-C215AF84A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D8B7A-773D-8808-2235-C280F605A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C37A2-A53F-C98A-AFB6-B03BFA122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076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80F6A-BA4B-BC4B-5C55-EA081185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84F36-E213-CCB9-F902-38C66667E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5CE6A-35E4-AD5E-D4D9-340CB3AAF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16780-7EB8-1AC5-1258-1E328D22C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F541A-6C9F-21FC-7F9F-2148401F8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174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55EA3-3E17-8381-BC63-4DE2564AD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F03B-CD3D-1699-BB5C-BC721D55D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2EFFB8-3A61-1D45-1BED-8659AED9F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32272E-D0E3-3E04-D026-5BF895B62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F8BD3C-F74D-DE0E-927E-DED74A1F0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E7F76-D0AF-7DDC-5488-1E17574EB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344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365B5-7216-418B-3F87-128698E15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CC7B7-A2AC-EA3F-B1DB-A589E5E59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C907F-8CE8-A63C-C79B-4CAE20C8C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5C1AA-DF29-BBCE-E244-91FF2E5553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06D14C-C69D-538F-F0E9-1E0DDC645A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A6BB44-3A9A-83CF-0F8B-6D3EEC249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92385A-C95A-C099-B868-5EF50D53D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3D1C8A-A8AA-E77D-470A-4CCC22739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842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B6510-A827-D78C-FEB5-A3AA8CE95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8645B-8295-0AF5-9A83-D76437B95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49F280-7BD1-15C5-A379-618E53D62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8C8087-EF9B-A1D6-3E80-3A7FC6B81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4FA59E-6E0D-60CA-9E69-A022D38EA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653467-1BC3-1061-EEB3-6DA244581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D933D-E19E-642C-7101-759BA1EF8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8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31A6A-5FD1-BA34-4D1E-F0DB49848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9AB17-99B6-FBE1-8FE5-BBB0C37F5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5B93A0-F101-0EC4-F2C3-33C43DCB0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61DD4-126B-40E3-ADA9-AB31A7243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5A1A9-7E2A-AFC6-17B4-9244D0DF5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EE352-002F-1566-B8BF-1B61E8625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95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09EB3-7673-CFF0-3218-25010F90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0DB44C-80C3-67DC-8F9A-597C73F9EE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34F1CA-6A4D-0F26-55B7-2E80FFCF0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B7076A-ACBD-7E7F-581E-A2830B9D9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C09BC3-D80D-B453-C8A4-75C284AF4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B192F-5CD0-AE92-B9C8-1AC195357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221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9D2BA-4384-6753-1666-24D104B6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5C01CB-FD76-FF44-BC57-3C5AF72354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DD922-78D7-8478-AFCC-466E2A343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01F98-CCC5-E6BF-5090-1086521D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C17D3-102B-2F0D-0FE5-E9BC6677E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37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507B1F-1AFD-7761-83AA-965B831850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4037A2-EF36-6182-AAD4-23DF126A4B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D49AE-A6D7-2030-D499-DCB896799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04500-0A4D-4915-2475-E9FD1F6E2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F4CE2-F9C3-072B-736B-7E84CA2B7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875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E03AEB-B6FE-8D2A-358B-E2FCFE92F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A834F-A48B-FB8F-E969-EFA8B7C2A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7B75F-5C95-22ED-72D7-9B396016BA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A48FF-7479-4FAB-BEA4-7534FDC4E400}" type="datetimeFigureOut">
              <a:rPr lang="en-US" smtClean="0"/>
              <a:t>11/13/2023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6B55C-8982-783C-95F6-E220DDA98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D1872-B954-8038-A321-58EEB3327A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621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A649198-B1E8-9C6A-AFFF-D5E877ED7E8C}"/>
              </a:ext>
            </a:extLst>
          </p:cNvPr>
          <p:cNvSpPr/>
          <p:nvPr/>
        </p:nvSpPr>
        <p:spPr>
          <a:xfrm>
            <a:off x="623392" y="620688"/>
            <a:ext cx="864096" cy="1728192"/>
          </a:xfrm>
          <a:prstGeom prst="rect">
            <a:avLst/>
          </a:prstGeom>
          <a:solidFill>
            <a:schemeClr val="accent5">
              <a:alpha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/>
          <a:lstStyle/>
          <a:p>
            <a:pPr algn="ctr"/>
            <a:r>
              <a:rPr lang="en-US" sz="1000" dirty="0">
                <a:latin typeface="Times" pitchFamily="2" charset="0"/>
              </a:rPr>
              <a:t>Application</a:t>
            </a:r>
          </a:p>
          <a:p>
            <a:pPr algn="ctr"/>
            <a:r>
              <a:rPr lang="en-US" sz="1000" dirty="0">
                <a:latin typeface="Times" pitchFamily="2" charset="0"/>
              </a:rPr>
              <a:t>Layer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91752D-0F69-C3CD-CCF3-AA1333B4E4A5}"/>
              </a:ext>
            </a:extLst>
          </p:cNvPr>
          <p:cNvSpPr/>
          <p:nvPr/>
        </p:nvSpPr>
        <p:spPr>
          <a:xfrm>
            <a:off x="2783632" y="620688"/>
            <a:ext cx="864096" cy="1728192"/>
          </a:xfrm>
          <a:prstGeom prst="rect">
            <a:avLst/>
          </a:prstGeom>
          <a:solidFill>
            <a:schemeClr val="accent6">
              <a:alpha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/>
          <a:lstStyle/>
          <a:p>
            <a:pPr algn="ctr"/>
            <a:r>
              <a:rPr lang="en-US" sz="1000" dirty="0">
                <a:latin typeface="Times" pitchFamily="2" charset="0"/>
              </a:rPr>
              <a:t>Logic</a:t>
            </a:r>
          </a:p>
          <a:p>
            <a:pPr algn="ctr"/>
            <a:r>
              <a:rPr lang="en-US" sz="1000" dirty="0">
                <a:latin typeface="Times" pitchFamily="2" charset="0"/>
              </a:rPr>
              <a:t>Layer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9B39EC-8E49-330F-D4E5-11FED43F4352}"/>
              </a:ext>
            </a:extLst>
          </p:cNvPr>
          <p:cNvSpPr/>
          <p:nvPr/>
        </p:nvSpPr>
        <p:spPr>
          <a:xfrm>
            <a:off x="3863752" y="620688"/>
            <a:ext cx="864096" cy="1728192"/>
          </a:xfrm>
          <a:prstGeom prst="rect">
            <a:avLst/>
          </a:prstGeom>
          <a:solidFill>
            <a:schemeClr val="accent4">
              <a:alpha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/>
          <a:lstStyle/>
          <a:p>
            <a:pPr algn="ctr"/>
            <a:r>
              <a:rPr lang="en-US" sz="1000" dirty="0">
                <a:latin typeface="Times" pitchFamily="2" charset="0"/>
              </a:rPr>
              <a:t>Operation</a:t>
            </a:r>
          </a:p>
          <a:p>
            <a:pPr algn="ctr"/>
            <a:r>
              <a:rPr lang="en-US" sz="1000" dirty="0">
                <a:latin typeface="Times" pitchFamily="2" charset="0"/>
              </a:rPr>
              <a:t>Layer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CCDAF6-EF56-28C7-F40D-3454877D53D0}"/>
              </a:ext>
            </a:extLst>
          </p:cNvPr>
          <p:cNvSpPr/>
          <p:nvPr/>
        </p:nvSpPr>
        <p:spPr>
          <a:xfrm>
            <a:off x="3935760" y="764704"/>
            <a:ext cx="720080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latin typeface="Times" pitchFamily="2" charset="0"/>
              </a:rPr>
              <a:t>Page Table Structuring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6109DA-E5E5-B8C3-AC9C-893882536FE9}"/>
              </a:ext>
            </a:extLst>
          </p:cNvPr>
          <p:cNvSpPr/>
          <p:nvPr/>
        </p:nvSpPr>
        <p:spPr>
          <a:xfrm>
            <a:off x="3935760" y="1268760"/>
            <a:ext cx="720080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latin typeface="Times" pitchFamily="2" charset="0"/>
              </a:rPr>
              <a:t>PTE Read/Writes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ECF697-14E5-A054-4585-2CC9BC69E2B0}"/>
              </a:ext>
            </a:extLst>
          </p:cNvPr>
          <p:cNvSpPr/>
          <p:nvPr/>
        </p:nvSpPr>
        <p:spPr>
          <a:xfrm>
            <a:off x="2855640" y="764704"/>
            <a:ext cx="720080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latin typeface="Times" pitchFamily="2" charset="0"/>
              </a:rPr>
              <a:t>Page Table Iterator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8D35C7-536B-B1F5-ACE6-C2EBE52572E0}"/>
              </a:ext>
            </a:extLst>
          </p:cNvPr>
          <p:cNvSpPr/>
          <p:nvPr/>
        </p:nvSpPr>
        <p:spPr>
          <a:xfrm>
            <a:off x="2855640" y="1268760"/>
            <a:ext cx="720080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latin typeface="Times" pitchFamily="2" charset="0"/>
              </a:rPr>
              <a:t>Page Presence &amp; Counting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3BAA10-AFD2-1F93-58CA-C0648B583EFB}"/>
              </a:ext>
            </a:extLst>
          </p:cNvPr>
          <p:cNvSpPr/>
          <p:nvPr/>
        </p:nvSpPr>
        <p:spPr>
          <a:xfrm>
            <a:off x="695400" y="764704"/>
            <a:ext cx="720080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latin typeface="Times" pitchFamily="2" charset="0"/>
              </a:rPr>
              <a:t>Page Fault Handler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0C53D1-CEB6-9C63-E24D-395A7958D0D1}"/>
              </a:ext>
            </a:extLst>
          </p:cNvPr>
          <p:cNvSpPr/>
          <p:nvPr/>
        </p:nvSpPr>
        <p:spPr>
          <a:xfrm>
            <a:off x="695400" y="1268760"/>
            <a:ext cx="720080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latin typeface="Times" pitchFamily="2" charset="0"/>
              </a:rPr>
              <a:t>NUMA Support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816E41-040F-0EAC-EF43-65CFB1805E5A}"/>
              </a:ext>
            </a:extLst>
          </p:cNvPr>
          <p:cNvSpPr txBox="1"/>
          <p:nvPr/>
        </p:nvSpPr>
        <p:spPr>
          <a:xfrm rot="5400000">
            <a:off x="880356" y="1803884"/>
            <a:ext cx="360040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⋯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34D86C-2D92-7EAD-DAD0-8D6B36B68E2A}"/>
              </a:ext>
            </a:extLst>
          </p:cNvPr>
          <p:cNvSpPr txBox="1"/>
          <p:nvPr/>
        </p:nvSpPr>
        <p:spPr>
          <a:xfrm rot="5400000">
            <a:off x="3040596" y="1803884"/>
            <a:ext cx="360040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⋯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C559DA-D811-5862-A43E-CC649E148105}"/>
              </a:ext>
            </a:extLst>
          </p:cNvPr>
          <p:cNvSpPr txBox="1"/>
          <p:nvPr/>
        </p:nvSpPr>
        <p:spPr>
          <a:xfrm rot="5400000">
            <a:off x="4110844" y="1803884"/>
            <a:ext cx="360040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⋯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98D063-C504-CD8E-1918-9D328C690A08}"/>
              </a:ext>
            </a:extLst>
          </p:cNvPr>
          <p:cNvSpPr/>
          <p:nvPr/>
        </p:nvSpPr>
        <p:spPr>
          <a:xfrm>
            <a:off x="479376" y="404664"/>
            <a:ext cx="4392488" cy="208823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/>
            <a:r>
              <a:rPr lang="en-US" sz="1000" dirty="0">
                <a:latin typeface="Times" pitchFamily="2" charset="0"/>
              </a:rPr>
              <a:t>EMT Interface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68248F-C8D7-D30D-72AF-30AAC3C11241}"/>
              </a:ext>
            </a:extLst>
          </p:cNvPr>
          <p:cNvSpPr/>
          <p:nvPr/>
        </p:nvSpPr>
        <p:spPr>
          <a:xfrm>
            <a:off x="1703512" y="620688"/>
            <a:ext cx="864096" cy="1728192"/>
          </a:xfrm>
          <a:prstGeom prst="rect">
            <a:avLst/>
          </a:prstGeom>
          <a:solidFill>
            <a:schemeClr val="accent2">
              <a:alpha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/>
          <a:lstStyle/>
          <a:p>
            <a:pPr algn="ctr"/>
            <a:r>
              <a:rPr lang="en-US" sz="1000" dirty="0">
                <a:latin typeface="Times" pitchFamily="2" charset="0"/>
              </a:rPr>
              <a:t>Task</a:t>
            </a:r>
          </a:p>
          <a:p>
            <a:pPr algn="ctr"/>
            <a:r>
              <a:rPr lang="en-US" sz="1000" dirty="0">
                <a:latin typeface="Times" pitchFamily="2" charset="0"/>
              </a:rPr>
              <a:t>Layer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E62049-88E1-51F1-607D-7E59F8475300}"/>
              </a:ext>
            </a:extLst>
          </p:cNvPr>
          <p:cNvSpPr/>
          <p:nvPr/>
        </p:nvSpPr>
        <p:spPr>
          <a:xfrm>
            <a:off x="1775520" y="764704"/>
            <a:ext cx="720080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latin typeface="Times" pitchFamily="2" charset="0"/>
              </a:rPr>
              <a:t>Anon Page Major Fault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41B6BF-C3B0-2E5B-D527-F85BC2576AA1}"/>
              </a:ext>
            </a:extLst>
          </p:cNvPr>
          <p:cNvSpPr/>
          <p:nvPr/>
        </p:nvSpPr>
        <p:spPr>
          <a:xfrm>
            <a:off x="1775520" y="1268760"/>
            <a:ext cx="720080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latin typeface="Times" pitchFamily="2" charset="0"/>
              </a:rPr>
              <a:t>Huge Page COW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5FAADD-EEDB-8725-7A7B-78FC245EF0D2}"/>
              </a:ext>
            </a:extLst>
          </p:cNvPr>
          <p:cNvSpPr txBox="1"/>
          <p:nvPr/>
        </p:nvSpPr>
        <p:spPr>
          <a:xfrm rot="5400000">
            <a:off x="1960476" y="1803884"/>
            <a:ext cx="360040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⋯</a:t>
            </a:r>
          </a:p>
        </p:txBody>
      </p:sp>
    </p:spTree>
    <p:extLst>
      <p:ext uri="{BB962C8B-B14F-4D97-AF65-F5344CB8AC3E}">
        <p14:creationId xmlns:p14="http://schemas.microsoft.com/office/powerpoint/2010/main" val="1430249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40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 Zhang</dc:creator>
  <cp:lastModifiedBy>J Zhang</cp:lastModifiedBy>
  <cp:revision>7</cp:revision>
  <dcterms:created xsi:type="dcterms:W3CDTF">2023-05-13T08:26:12Z</dcterms:created>
  <dcterms:modified xsi:type="dcterms:W3CDTF">2023-11-13T06:06:26Z</dcterms:modified>
</cp:coreProperties>
</file>